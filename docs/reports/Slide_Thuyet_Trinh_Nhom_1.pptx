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72" r:id="rId22"/>
    <p:sldId id="273" r:id="rId23"/>
    <p:sldId id="274" r:id="rId24"/>
    <p:sldId id="275" r:id="rId25"/>
    <p:sldId id="269" r:id="rId15"/>
    <p:sldId id="276" r:id="rId26"/>
    <p:sldId id="270" r:id="rId16"/>
    <p:sldId id="271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6" d="100"/>
          <a:sy n="106" d="100"/>
        </p:scale>
        <p:origin x="756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8.xml"/><Relationship Id="rId16" Type="http://schemas.openxmlformats.org/officeDocument/2006/relationships/slide" Target="slides/slide20.xml"/><Relationship Id="rId17" Type="http://schemas.openxmlformats.org/officeDocument/2006/relationships/slide" Target="slides/slide2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21/10/2026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21/10/2026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21/10/2026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21/10/2026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21/10/2026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21/10/2026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21/10/2026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21/10/2026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21/10/2026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21/10/2026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21/10/2026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21/10/2026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7909560" y="0"/>
            <a:ext cx="4282135" cy="68580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7754112" y="0"/>
            <a:ext cx="155448" cy="4389120"/>
          </a:xfrm>
          <a:prstGeom prst="rect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754112" y="4389120"/>
            <a:ext cx="155448" cy="2468880"/>
          </a:xfrm>
          <a:prstGeom prst="rect">
            <a:avLst/>
          </a:prstGeom>
          <a:solidFill>
            <a:srgbClr val="29B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457200"/>
            <a:ext cx="868680" cy="868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609344" y="493776"/>
            <a:ext cx="5897880" cy="804672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>
              <a:spcAft>
                <a:spcPts val="400"/>
              </a:spcAft>
            </a:pPr>
            <a:r>
              <a:rPr sz="1220" b="1" i="0">
                <a:solidFill>
                  <a:srgbClr val="0D47A1"/>
                </a:solidFill>
                <a:latin typeface="Segoe UI"/>
              </a:rPr>
              <a:t>TRƯỜNG ĐẠI HỌC CÔNG NGHỆ THÔNG TIN VÀ TRUYỀN THÔNG</a:t>
            </a:r>
          </a:p>
          <a:p>
            <a:r>
              <a:rPr sz="1050" b="1" i="0">
                <a:solidFill>
                  <a:srgbClr val="607D9F"/>
                </a:solidFill>
                <a:latin typeface="Segoe UI"/>
              </a:rPr>
              <a:t>KHOA KỸ THUẬT VÀ CÔNG NGHỆ   •   ĐẠI HỌC THÁI NGUYÊN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1847088"/>
            <a:ext cx="777240" cy="54864"/>
          </a:xfrm>
          <a:prstGeom prst="rect">
            <a:avLst/>
          </a:prstGeom>
          <a:solidFill>
            <a:srgbClr val="29B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1993392"/>
            <a:ext cx="6903720" cy="260604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>
              <a:spcAft>
                <a:spcPts val="800"/>
              </a:spcAft>
            </a:pPr>
            <a:r>
              <a:rPr sz="1180" b="1" i="0">
                <a:solidFill>
                  <a:srgbClr val="1976D2"/>
                </a:solidFill>
                <a:latin typeface="Segoe UI"/>
              </a:rPr>
              <a:t>BÁO CÁO TIỂU LUẬN HỌC PHẦN: INTERNET VẠN VẬT (IoT)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3100" b="1" i="0">
                <a:solidFill>
                  <a:srgbClr val="0A2540"/>
                </a:solidFill>
                <a:latin typeface="Segoe UI"/>
              </a:rPr>
              <a:t>HỆ THỐNG IoT PHÁT HIỆN
VÀ CẢNH BÁO TÉ NGÃ</a:t>
            </a:r>
          </a:p>
          <a:p>
            <a:pPr>
              <a:lnSpc>
                <a:spcPct val="128000"/>
              </a:lnSpc>
            </a:pPr>
            <a:r>
              <a:rPr sz="1280" b="0" i="0">
                <a:solidFill>
                  <a:srgbClr val="1E3A5F"/>
                </a:solidFill>
                <a:latin typeface="Segoe UI"/>
              </a:rPr>
              <a:t>Giải pháp đa phương thức kết hợp Thiết bị đeo thông minh (ESP32-S3 SuperMini + MPU6050 + TinyML MLP + PCB 2 lớp) và Nhánh Camera AI (CanMV K230 YOLOv5n)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4828032"/>
            <a:ext cx="6720840" cy="13716"/>
          </a:xfrm>
          <a:prstGeom prst="rect">
            <a:avLst/>
          </a:prstGeom>
          <a:solidFill>
            <a:srgbClr val="D2E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94360" y="5010912"/>
            <a:ext cx="3291840" cy="12344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80" b="1" i="0">
                <a:solidFill>
                  <a:srgbClr val="0A2540"/>
                </a:solidFill>
                <a:latin typeface="Segoe UI"/>
              </a:rPr>
              <a:t>NHÓM THỰC HIỆN
Nhóm 1 – Lớp VMBD-K23A
THỜI GIAN
Tháng 10 / 2026 – Thái Nguyên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77639" y="5010912"/>
            <a:ext cx="3474720" cy="1123513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80" b="1" i="0" dirty="0">
                <a:solidFill>
                  <a:srgbClr val="0D47A1"/>
                </a:solidFill>
                <a:latin typeface="Segoe UI"/>
              </a:rPr>
              <a:t>GIẢNG VIÊN HƯỚNG DẪN
TS. Vũ </a:t>
            </a:r>
            <a:r>
              <a:rPr sz="1180" b="1" i="0" dirty="0" err="1">
                <a:solidFill>
                  <a:srgbClr val="0D47A1"/>
                </a:solidFill>
                <a:latin typeface="Segoe UI"/>
              </a:rPr>
              <a:t>Chiến</a:t>
            </a:r>
            <a:r>
              <a:rPr sz="1180" b="1" i="0" dirty="0">
                <a:solidFill>
                  <a:srgbClr val="0D47A1"/>
                </a:solidFill>
                <a:latin typeface="Segoe UI"/>
              </a:rPr>
              <a:t> </a:t>
            </a:r>
            <a:r>
              <a:rPr sz="1180" b="1" i="0" dirty="0" err="1">
                <a:solidFill>
                  <a:srgbClr val="0D47A1"/>
                </a:solidFill>
                <a:latin typeface="Segoe UI"/>
              </a:rPr>
              <a:t>Thắng</a:t>
            </a:r>
            <a:r>
              <a:rPr sz="1180" b="1" i="0" dirty="0">
                <a:solidFill>
                  <a:srgbClr val="0D47A1"/>
                </a:solidFill>
                <a:latin typeface="Segoe UI"/>
              </a:rPr>
              <a:t>
BỘ MÔN
</a:t>
            </a:r>
            <a:r>
              <a:rPr lang="en-US" sz="1180" b="1" i="0" dirty="0">
                <a:solidFill>
                  <a:srgbClr val="0D47A1"/>
                </a:solidFill>
                <a:latin typeface="Segoe UI"/>
              </a:rPr>
              <a:t>Vi </a:t>
            </a:r>
            <a:r>
              <a:rPr lang="en-US" sz="1180" b="1" i="0" dirty="0" err="1">
                <a:solidFill>
                  <a:srgbClr val="0D47A1"/>
                </a:solidFill>
                <a:latin typeface="Segoe UI"/>
              </a:rPr>
              <a:t>mạch</a:t>
            </a:r>
            <a:r>
              <a:rPr lang="en-US" sz="1180" b="1" i="0" dirty="0">
                <a:solidFill>
                  <a:srgbClr val="0D47A1"/>
                </a:solidFill>
                <a:latin typeface="Segoe UI"/>
              </a:rPr>
              <a:t> </a:t>
            </a:r>
            <a:r>
              <a:rPr lang="en-US" sz="1180" b="1" i="0" dirty="0" err="1">
                <a:solidFill>
                  <a:srgbClr val="0D47A1"/>
                </a:solidFill>
                <a:latin typeface="Segoe UI"/>
              </a:rPr>
              <a:t>bán</a:t>
            </a:r>
            <a:r>
              <a:rPr lang="en-US" sz="1180" b="1" i="0" dirty="0">
                <a:solidFill>
                  <a:srgbClr val="0D47A1"/>
                </a:solidFill>
                <a:latin typeface="Segoe UI"/>
              </a:rPr>
              <a:t> </a:t>
            </a:r>
            <a:r>
              <a:rPr lang="en-US" sz="1180" b="1" i="0" dirty="0" err="1">
                <a:solidFill>
                  <a:srgbClr val="0D47A1"/>
                </a:solidFill>
                <a:latin typeface="Segoe UI"/>
              </a:rPr>
              <a:t>dẫn</a:t>
            </a:r>
            <a:endParaRPr sz="1180" b="1" i="0" dirty="0">
              <a:solidFill>
                <a:srgbClr val="0D47A1"/>
              </a:solidFill>
              <a:latin typeface="Segoe UI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8321040" y="621792"/>
            <a:ext cx="3474720" cy="32918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29B6F6"/>
                </a:solidFill>
                <a:latin typeface="Segoe UI"/>
              </a:rPr>
              <a:t>THÔNG SỐ CỐT LÕI HỆ THỐNG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1170432"/>
            <a:ext cx="3474720" cy="73937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>
              <a:spcAft>
                <a:spcPts val="200"/>
              </a:spcAft>
            </a:pPr>
            <a:r>
              <a:rPr sz="1950" b="1" i="0" dirty="0">
                <a:solidFill>
                  <a:srgbClr val="FFFFFF"/>
                </a:solidFill>
                <a:latin typeface="Segoe UI"/>
              </a:rPr>
              <a:t>60 × 50 mm</a:t>
            </a:r>
          </a:p>
          <a:p>
            <a:pPr>
              <a:spcAft>
                <a:spcPts val="200"/>
              </a:spcAft>
            </a:pPr>
            <a:r>
              <a:rPr sz="1150" b="1" i="0" dirty="0" err="1">
                <a:solidFill>
                  <a:srgbClr val="29B6F6"/>
                </a:solidFill>
                <a:latin typeface="Segoe UI"/>
              </a:rPr>
              <a:t>Mạch</a:t>
            </a:r>
            <a:r>
              <a:rPr sz="1150" b="1" i="0" dirty="0">
                <a:solidFill>
                  <a:srgbClr val="29B6F6"/>
                </a:solidFill>
                <a:latin typeface="Segoe UI"/>
              </a:rPr>
              <a:t> in PCB 2 </a:t>
            </a:r>
            <a:r>
              <a:rPr sz="1150" b="1" i="0" dirty="0" err="1">
                <a:solidFill>
                  <a:srgbClr val="29B6F6"/>
                </a:solidFill>
                <a:latin typeface="Segoe UI"/>
              </a:rPr>
              <a:t>lớp</a:t>
            </a:r>
            <a:endParaRPr sz="1150" b="1" i="0" dirty="0">
              <a:solidFill>
                <a:srgbClr val="29B6F6"/>
              </a:solidFill>
              <a:latin typeface="Segoe UI"/>
            </a:endParaRPr>
          </a:p>
          <a:p>
            <a:pPr>
              <a:lnSpc>
                <a:spcPct val="115000"/>
              </a:lnSpc>
            </a:pPr>
            <a:r>
              <a:rPr sz="1019" b="0" i="0" dirty="0">
                <a:solidFill>
                  <a:srgbClr val="EBF4FF"/>
                </a:solidFill>
                <a:latin typeface="Segoe UI"/>
              </a:rPr>
              <a:t>Zero-Via THT, Antenna </a:t>
            </a:r>
            <a:r>
              <a:rPr sz="1019" b="0" i="0" dirty="0" err="1">
                <a:solidFill>
                  <a:srgbClr val="EBF4FF"/>
                </a:solidFill>
                <a:latin typeface="Segoe UI"/>
              </a:rPr>
              <a:t>Keepout</a:t>
            </a:r>
            <a:r>
              <a:rPr sz="1019" b="0" i="0" dirty="0">
                <a:solidFill>
                  <a:srgbClr val="EBF4FF"/>
                </a:solidFill>
                <a:latin typeface="Segoe UI"/>
              </a:rPr>
              <a:t>, DRC/ERC = 0 </a:t>
            </a:r>
            <a:r>
              <a:rPr sz="1019" b="0" i="0" dirty="0" err="1">
                <a:solidFill>
                  <a:srgbClr val="EBF4FF"/>
                </a:solidFill>
                <a:latin typeface="Segoe UI"/>
              </a:rPr>
              <a:t>lỗi</a:t>
            </a:r>
            <a:endParaRPr sz="1019" b="0" i="0" dirty="0">
              <a:solidFill>
                <a:srgbClr val="EBF4FF"/>
              </a:solidFill>
              <a:latin typeface="Segoe UI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321040" y="2368296"/>
            <a:ext cx="3429000" cy="10972"/>
          </a:xfrm>
          <a:prstGeom prst="rect">
            <a:avLst/>
          </a:prstGeom>
          <a:solidFill>
            <a:srgbClr val="234E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21040" y="2496312"/>
            <a:ext cx="3474720" cy="1115568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>
              <a:spcAft>
                <a:spcPts val="200"/>
              </a:spcAft>
            </a:pPr>
            <a:r>
              <a:rPr sz="1950" b="1" i="0">
                <a:solidFill>
                  <a:srgbClr val="FFFFFF"/>
                </a:solidFill>
                <a:latin typeface="Segoe UI"/>
              </a:rPr>
              <a:t>4 Bước + MLP</a:t>
            </a:r>
          </a:p>
          <a:p>
            <a:pPr>
              <a:spcAft>
                <a:spcPts val="200"/>
              </a:spcAft>
            </a:pPr>
            <a:r>
              <a:rPr sz="1150" b="1" i="0">
                <a:solidFill>
                  <a:srgbClr val="29B6F6"/>
                </a:solidFill>
                <a:latin typeface="Segoe UI"/>
              </a:rPr>
              <a:t>Xác nhận ngã &amp; TinyML 677 tham số</a:t>
            </a:r>
          </a:p>
          <a:p>
            <a:pPr>
              <a:lnSpc>
                <a:spcPct val="115000"/>
              </a:lnSpc>
            </a:pPr>
            <a:r>
              <a:rPr sz="1019" b="0" i="0">
                <a:solidFill>
                  <a:srgbClr val="EBF4FF"/>
                </a:solidFill>
                <a:latin typeface="Segoe UI"/>
              </a:rPr>
              <a:t>Hiệu chuẩn tư thế 3D Rodrigues + Giám sát bất động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321040" y="3694176"/>
            <a:ext cx="3429000" cy="10972"/>
          </a:xfrm>
          <a:prstGeom prst="rect">
            <a:avLst/>
          </a:prstGeom>
          <a:solidFill>
            <a:srgbClr val="234E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321040" y="3822191"/>
            <a:ext cx="3474720" cy="73937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>
              <a:spcAft>
                <a:spcPts val="200"/>
              </a:spcAft>
            </a:pPr>
            <a:r>
              <a:rPr sz="1950" b="1" i="0" dirty="0">
                <a:solidFill>
                  <a:srgbClr val="FFFFFF"/>
                </a:solidFill>
                <a:latin typeface="Segoe UI"/>
              </a:rPr>
              <a:t>26 FPS @ K230</a:t>
            </a:r>
          </a:p>
          <a:p>
            <a:pPr>
              <a:spcAft>
                <a:spcPts val="200"/>
              </a:spcAft>
            </a:pPr>
            <a:r>
              <a:rPr sz="1150" b="1" i="0" dirty="0" err="1">
                <a:solidFill>
                  <a:srgbClr val="29B6F6"/>
                </a:solidFill>
                <a:latin typeface="Segoe UI"/>
              </a:rPr>
              <a:t>Thị</a:t>
            </a:r>
            <a:r>
              <a:rPr sz="1150" b="1" i="0" dirty="0">
                <a:solidFill>
                  <a:srgbClr val="29B6F6"/>
                </a:solidFill>
                <a:latin typeface="Segoe UI"/>
              </a:rPr>
              <a:t> </a:t>
            </a:r>
            <a:r>
              <a:rPr sz="1150" b="1" i="0" dirty="0" err="1">
                <a:solidFill>
                  <a:srgbClr val="29B6F6"/>
                </a:solidFill>
                <a:latin typeface="Segoe UI"/>
              </a:rPr>
              <a:t>giác</a:t>
            </a:r>
            <a:r>
              <a:rPr sz="1150" b="1" i="0" dirty="0">
                <a:solidFill>
                  <a:srgbClr val="29B6F6"/>
                </a:solidFill>
                <a:latin typeface="Segoe UI"/>
              </a:rPr>
              <a:t> </a:t>
            </a:r>
            <a:r>
              <a:rPr sz="1150" b="1" i="0" dirty="0" err="1">
                <a:solidFill>
                  <a:srgbClr val="29B6F6"/>
                </a:solidFill>
                <a:latin typeface="Segoe UI"/>
              </a:rPr>
              <a:t>máy</a:t>
            </a:r>
            <a:r>
              <a:rPr sz="1150" b="1" i="0" dirty="0">
                <a:solidFill>
                  <a:srgbClr val="29B6F6"/>
                </a:solidFill>
                <a:latin typeface="Segoe UI"/>
              </a:rPr>
              <a:t> </a:t>
            </a:r>
            <a:r>
              <a:rPr sz="1150" b="1" i="0" dirty="0" err="1">
                <a:solidFill>
                  <a:srgbClr val="29B6F6"/>
                </a:solidFill>
                <a:latin typeface="Segoe UI"/>
              </a:rPr>
              <a:t>tính</a:t>
            </a:r>
            <a:r>
              <a:rPr sz="1150" b="1" i="0" dirty="0">
                <a:solidFill>
                  <a:srgbClr val="29B6F6"/>
                </a:solidFill>
                <a:latin typeface="Segoe UI"/>
              </a:rPr>
              <a:t> </a:t>
            </a:r>
            <a:r>
              <a:rPr sz="1150" b="1" i="0" dirty="0" err="1">
                <a:solidFill>
                  <a:srgbClr val="29B6F6"/>
                </a:solidFill>
                <a:latin typeface="Segoe UI"/>
              </a:rPr>
              <a:t>tại</a:t>
            </a:r>
            <a:r>
              <a:rPr sz="1150" b="1" i="0" dirty="0">
                <a:solidFill>
                  <a:srgbClr val="29B6F6"/>
                </a:solidFill>
                <a:latin typeface="Segoe UI"/>
              </a:rPr>
              <a:t> </a:t>
            </a:r>
            <a:r>
              <a:rPr sz="1150" b="1" i="0" dirty="0" err="1">
                <a:solidFill>
                  <a:srgbClr val="29B6F6"/>
                </a:solidFill>
                <a:latin typeface="Segoe UI"/>
              </a:rPr>
              <a:t>biên</a:t>
            </a:r>
            <a:endParaRPr sz="1150" b="1" i="0" dirty="0">
              <a:solidFill>
                <a:srgbClr val="29B6F6"/>
              </a:solidFill>
              <a:latin typeface="Segoe UI"/>
            </a:endParaRPr>
          </a:p>
          <a:p>
            <a:pPr>
              <a:lnSpc>
                <a:spcPct val="115000"/>
              </a:lnSpc>
            </a:pPr>
            <a:r>
              <a:rPr sz="1019" b="0" i="0" dirty="0">
                <a:solidFill>
                  <a:srgbClr val="EBF4FF"/>
                </a:solidFill>
                <a:latin typeface="Segoe UI"/>
              </a:rPr>
              <a:t>YOLOv5n + </a:t>
            </a:r>
            <a:r>
              <a:rPr sz="1019" b="0" i="0" dirty="0" err="1">
                <a:solidFill>
                  <a:srgbClr val="EBF4FF"/>
                </a:solidFill>
                <a:latin typeface="Segoe UI"/>
              </a:rPr>
              <a:t>IoU</a:t>
            </a:r>
            <a:r>
              <a:rPr sz="1019" b="0" i="0" dirty="0">
                <a:solidFill>
                  <a:srgbClr val="EBF4FF"/>
                </a:solidFill>
                <a:latin typeface="Segoe UI"/>
              </a:rPr>
              <a:t> Tracker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21040" y="5020056"/>
            <a:ext cx="3429000" cy="10972"/>
          </a:xfrm>
          <a:prstGeom prst="rect">
            <a:avLst/>
          </a:prstGeom>
          <a:solidFill>
            <a:srgbClr val="234E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321040" y="5148072"/>
            <a:ext cx="3474720" cy="1115568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>
              <a:spcAft>
                <a:spcPts val="200"/>
              </a:spcAft>
            </a:pPr>
            <a:r>
              <a:rPr sz="1950" b="1" i="0">
                <a:solidFill>
                  <a:srgbClr val="FFFFFF"/>
                </a:solidFill>
                <a:latin typeface="Segoe UI"/>
              </a:rPr>
              <a:t>5 Lớp cảnh báo</a:t>
            </a:r>
          </a:p>
          <a:p>
            <a:pPr>
              <a:spcAft>
                <a:spcPts val="200"/>
              </a:spcAft>
            </a:pPr>
            <a:r>
              <a:rPr sz="1150" b="1" i="0">
                <a:solidFill>
                  <a:srgbClr val="29B6F6"/>
                </a:solidFill>
                <a:latin typeface="Segoe UI"/>
              </a:rPr>
              <a:t>UDP • BLE • TLS dựng sẵn • Fast-Flush • App</a:t>
            </a:r>
          </a:p>
          <a:p>
            <a:pPr>
              <a:lnSpc>
                <a:spcPct val="115000"/>
              </a:lnSpc>
            </a:pPr>
            <a:r>
              <a:rPr sz="1019" b="0" i="0">
                <a:solidFill>
                  <a:srgbClr val="EBF4FF"/>
                </a:solidFill>
                <a:latin typeface="Segoe UI"/>
              </a:rPr>
              <a:t>Còi/LED • Web • Firebase • Telegram/Gmail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5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3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6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9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12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65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18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71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 animBg="1"/>
      <p:bldP spid="9" grpId="0"/>
      <p:bldP spid="10" grpId="0" animBg="1"/>
      <p:bldP spid="11" grpId="0"/>
      <p:bldP spid="12" grpId="0"/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4754880"/>
          </a:xfrm>
          <a:prstGeom prst="rect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4754880"/>
            <a:ext cx="91440" cy="2103120"/>
          </a:xfrm>
          <a:prstGeom prst="rect">
            <a:avLst/>
          </a:prstGeom>
          <a:solidFill>
            <a:srgbClr val="29B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310896"/>
            <a:ext cx="256032" cy="45720"/>
          </a:xfrm>
          <a:prstGeom prst="rect">
            <a:avLst/>
          </a:prstGeom>
          <a:solidFill>
            <a:srgbClr val="29B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41248" y="219456"/>
            <a:ext cx="7772400" cy="2377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dirty="0">
                <a:solidFill>
                  <a:srgbClr val="1976D2"/>
                </a:solidFill>
                <a:latin typeface="Segoe UI"/>
              </a:rPr>
              <a:t>CẤU TRÚC BÀI THUYẾT TRÌNH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57200"/>
            <a:ext cx="9006840" cy="713232"/>
          </a:xfrm>
          <a:prstGeom prst="rect">
            <a:avLst/>
          </a:prstGeom>
          <a:noFill/>
        </p:spPr>
        <p:txBody>
          <a:bodyPr wrap="square" lIns="18288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2000" b="1" i="0">
                <a:solidFill>
                  <a:srgbClr val="0A2540"/>
                </a:solidFill>
                <a:latin typeface="Segoe UI"/>
              </a:rPr>
              <a:t>LỘ TRÌNH NỘI DUNG BÁO CÁO (AGENDA)</a:t>
            </a:r>
          </a:p>
          <a:p>
            <a:pPr>
              <a:lnSpc>
                <a:spcPct val="115000"/>
              </a:lnSpc>
            </a:pPr>
            <a:r>
              <a:rPr sz="1100" b="0" i="0">
                <a:solidFill>
                  <a:srgbClr val="607D9F"/>
                </a:solidFill>
                <a:latin typeface="Segoe UI"/>
              </a:rPr>
              <a:t>4 trụ cột nghiên cứu từ đặt vấn đề, thiết kế mạch in PCB, thuật toán Edge AI đến kiểm thử thực tế</a:t>
            </a:r>
          </a:p>
        </p:txBody>
      </p:sp>
      <p:pic>
        <p:nvPicPr>
          <p:cNvPr id="8" name="Picture 7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82528" y="219456"/>
            <a:ext cx="694944" cy="6949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555480" y="347472"/>
            <a:ext cx="1463040" cy="4389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950" b="1" i="0">
                <a:solidFill>
                  <a:srgbClr val="0D47A1"/>
                </a:solidFill>
                <a:latin typeface="Segoe UI"/>
              </a:rPr>
              <a:t>ICTU • K23A
NHÓM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25296"/>
            <a:ext cx="11274552" cy="13716"/>
          </a:xfrm>
          <a:prstGeom prst="rect">
            <a:avLst/>
          </a:prstGeom>
          <a:solidFill>
            <a:srgbClr val="D2E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02920" y="6510528"/>
            <a:ext cx="11274552" cy="13716"/>
          </a:xfrm>
          <a:prstGeom prst="rect">
            <a:avLst/>
          </a:prstGeom>
          <a:solidFill>
            <a:srgbClr val="D2E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02920" y="6501384"/>
            <a:ext cx="1073766" cy="32004"/>
          </a:xfrm>
          <a:prstGeom prst="rect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2920" y="6567936"/>
            <a:ext cx="7772400" cy="196079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>
              <a:lnSpc>
                <a:spcPct val="120000"/>
              </a:lnSpc>
            </a:pPr>
            <a:r>
              <a:rPr sz="950" b="0" i="0" dirty="0" err="1">
                <a:solidFill>
                  <a:srgbClr val="607D9F"/>
                </a:solidFill>
                <a:latin typeface="Segoe UI"/>
              </a:rPr>
              <a:t>Đề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tài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: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Hệ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thống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IoT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Phát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hiện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và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Cảnh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báo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Té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ngã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lang="en-US" sz="950" dirty="0">
                <a:solidFill>
                  <a:srgbClr val="607D9F"/>
                </a:solidFill>
                <a:latin typeface="Segoe UI"/>
              </a:rPr>
              <a:t>• Marine </a:t>
            </a:r>
            <a:r>
              <a:rPr lang="en-US" sz="950" dirty="0" err="1">
                <a:solidFill>
                  <a:srgbClr val="607D9F"/>
                </a:solidFill>
                <a:latin typeface="Segoe UI"/>
              </a:rPr>
              <a:t>Fullstack</a:t>
            </a:r>
            <a:r>
              <a:rPr lang="en-US" sz="950" dirty="0">
                <a:solidFill>
                  <a:srgbClr val="607D9F"/>
                </a:solidFill>
                <a:latin typeface="Segoe UI"/>
              </a:rPr>
              <a:t> System</a:t>
            </a:r>
            <a:endParaRPr sz="950" b="0" i="0" dirty="0">
              <a:solidFill>
                <a:srgbClr val="607D9F"/>
              </a:solidFill>
              <a:latin typeface="Segoe U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241280" y="6547104"/>
            <a:ext cx="1536192" cy="2377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50" b="1" i="0">
                <a:solidFill>
                  <a:srgbClr val="0D47A1"/>
                </a:solidFill>
                <a:latin typeface="Segoe UI"/>
              </a:rPr>
              <a:t>02 / 21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97280" y="3063240"/>
            <a:ext cx="9966960" cy="36576"/>
          </a:xfrm>
          <a:prstGeom prst="rect">
            <a:avLst/>
          </a:prstGeom>
          <a:solidFill>
            <a:srgbClr val="D2E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1097280" y="3063240"/>
            <a:ext cx="7498079" cy="36576"/>
          </a:xfrm>
          <a:prstGeom prst="rect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94360" y="2176272"/>
            <a:ext cx="2514600" cy="274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1976D2"/>
                </a:solidFill>
                <a:latin typeface="Segoe UI"/>
              </a:rPr>
              <a:t>CHƯƠNG 1</a:t>
            </a:r>
          </a:p>
        </p:txBody>
      </p:sp>
      <p:sp>
        <p:nvSpPr>
          <p:cNvPr id="18" name="Oval 17"/>
          <p:cNvSpPr/>
          <p:nvPr/>
        </p:nvSpPr>
        <p:spPr>
          <a:xfrm>
            <a:off x="594360" y="2697480"/>
            <a:ext cx="749808" cy="749808"/>
          </a:xfrm>
          <a:prstGeom prst="ellipse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Segoe UI"/>
              </a:rPr>
              <a:t>01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4360" y="3584448"/>
            <a:ext cx="411480" cy="36576"/>
          </a:xfrm>
          <a:prstGeom prst="rect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94360" y="3694176"/>
            <a:ext cx="2542032" cy="260604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300" b="1" i="0">
                <a:solidFill>
                  <a:srgbClr val="0A2540"/>
                </a:solidFill>
                <a:latin typeface="Segoe UI"/>
              </a:rPr>
              <a:t>TỔNG QUAN &amp; KIẾN TRÚC</a:t>
            </a:r>
          </a:p>
          <a:p>
            <a:pPr>
              <a:lnSpc>
                <a:spcPct val="128000"/>
              </a:lnSpc>
            </a:pPr>
            <a:r>
              <a:rPr sz="1120" b="0" i="0">
                <a:solidFill>
                  <a:srgbClr val="1E3A5F"/>
                </a:solidFill>
                <a:latin typeface="Segoe UI"/>
              </a:rPr>
              <a:t>• Bài toán té ngã &amp; nguy cơ nằm bất động kéo dài (long-lie) ở người cao tuổi.
• Phân tích hạn chế của các giải pháp đơn lẻ.
• Kiến trúc 4 tầng IoT &amp; Ngăn xếp bảo mật TLS / TlsGate.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47288" y="2176272"/>
            <a:ext cx="2514600" cy="274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1976D2"/>
                </a:solidFill>
                <a:latin typeface="Segoe UI"/>
              </a:rPr>
              <a:t>CHƯƠNG 2 (MỤC 2.1 – 2.3)</a:t>
            </a:r>
          </a:p>
        </p:txBody>
      </p:sp>
      <p:sp>
        <p:nvSpPr>
          <p:cNvPr id="22" name="Oval 21"/>
          <p:cNvSpPr/>
          <p:nvPr/>
        </p:nvSpPr>
        <p:spPr>
          <a:xfrm>
            <a:off x="3447288" y="2697480"/>
            <a:ext cx="749808" cy="749808"/>
          </a:xfrm>
          <a:prstGeom prst="ellipse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Segoe UI"/>
              </a:rPr>
              <a:t>02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47288" y="3584448"/>
            <a:ext cx="411480" cy="36576"/>
          </a:xfrm>
          <a:prstGeom prst="rect">
            <a:avLst/>
          </a:prstGeom>
          <a:solidFill>
            <a:srgbClr val="29B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447288" y="3694176"/>
            <a:ext cx="2542032" cy="260604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300" b="1" i="0">
                <a:solidFill>
                  <a:srgbClr val="0A2540"/>
                </a:solidFill>
                <a:latin typeface="Segoe UI"/>
              </a:rPr>
              <a:t>PHẦN CỨNG &amp; MẠCH PCB</a:t>
            </a:r>
          </a:p>
          <a:p>
            <a:pPr>
              <a:lnSpc>
                <a:spcPct val="128000"/>
              </a:lnSpc>
            </a:pPr>
            <a:r>
              <a:rPr sz="1120" b="0" i="0">
                <a:solidFill>
                  <a:srgbClr val="1E3A5F"/>
                </a:solidFill>
                <a:latin typeface="Segoe UI"/>
              </a:rPr>
              <a:t>• Sơ đồ khối đa phương thức (Đeo + Camera).
• Lựa chọn ESP32-S3 SuperMini, MPU6050, TTP223, S8050, 1N5817.
• Thiết kế sơ đồ nguyên lý &amp; PCB 2 lớp 60×50 mm trên KiCad 10.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0216" y="2176272"/>
            <a:ext cx="2514600" cy="274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1976D2"/>
                </a:solidFill>
                <a:latin typeface="Segoe UI"/>
              </a:rPr>
              <a:t>CHƯƠNG 3 (MỤC 3.1 – 3.4)</a:t>
            </a:r>
          </a:p>
        </p:txBody>
      </p:sp>
      <p:sp>
        <p:nvSpPr>
          <p:cNvPr id="26" name="Oval 25"/>
          <p:cNvSpPr/>
          <p:nvPr/>
        </p:nvSpPr>
        <p:spPr>
          <a:xfrm>
            <a:off x="6300216" y="2697480"/>
            <a:ext cx="749808" cy="749808"/>
          </a:xfrm>
          <a:prstGeom prst="ellipse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Segoe UI"/>
              </a:rPr>
              <a:t>03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00216" y="3584448"/>
            <a:ext cx="411480" cy="36576"/>
          </a:xfrm>
          <a:prstGeom prst="rect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300216" y="3694176"/>
            <a:ext cx="2542032" cy="260604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300" b="1" i="0">
                <a:solidFill>
                  <a:srgbClr val="0A2540"/>
                </a:solidFill>
                <a:latin typeface="Segoe UI"/>
              </a:rPr>
              <a:t>THUẬT TOÁN TINYML &amp; K230</a:t>
            </a:r>
          </a:p>
          <a:p>
            <a:pPr>
              <a:lnSpc>
                <a:spcPct val="128000"/>
              </a:lnSpc>
            </a:pPr>
            <a:r>
              <a:rPr sz="1120" b="0" i="0">
                <a:solidFill>
                  <a:srgbClr val="1E3A5F"/>
                </a:solidFill>
                <a:latin typeface="Segoe UI"/>
              </a:rPr>
              <a:t>• Lọc trung vị Median3 &amp; Hiệu chuẩn 3D Rodrigues (alignToZ).
• Máy trạng thái 4 bước FallDetector + Mạng MLP 677 tham số.
• Giám sát bất động &amp; Camera K230 YOLOv5n.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53144" y="2176272"/>
            <a:ext cx="2514600" cy="274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1976D2"/>
                </a:solidFill>
                <a:latin typeface="Segoe UI"/>
              </a:rPr>
              <a:t>CHƯƠNG 3 (MỤC 3.5 – 3.9)</a:t>
            </a:r>
          </a:p>
        </p:txBody>
      </p:sp>
      <p:sp>
        <p:nvSpPr>
          <p:cNvPr id="30" name="Oval 29"/>
          <p:cNvSpPr/>
          <p:nvPr/>
        </p:nvSpPr>
        <p:spPr>
          <a:xfrm>
            <a:off x="9153144" y="2697480"/>
            <a:ext cx="749808" cy="749808"/>
          </a:xfrm>
          <a:prstGeom prst="ellipse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Segoe UI"/>
              </a:rPr>
              <a:t>04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153144" y="3584448"/>
            <a:ext cx="411480" cy="36576"/>
          </a:xfrm>
          <a:prstGeom prst="rect">
            <a:avLst/>
          </a:prstGeom>
          <a:solidFill>
            <a:srgbClr val="29B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153144" y="3694176"/>
            <a:ext cx="2542032" cy="2606040"/>
          </a:xfrm>
          <a:prstGeom prst="rect">
            <a:avLst/>
          </a:prstGeom>
          <a:noFill/>
        </p:spPr>
        <p:txBody>
          <a:bodyPr wrap="square" tIns="0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300" b="1" i="0">
                <a:solidFill>
                  <a:srgbClr val="0A2540"/>
                </a:solidFill>
                <a:latin typeface="Segoe UI"/>
              </a:rPr>
              <a:t>CLOUD, APP &amp; KIỂM THỬ</a:t>
            </a:r>
          </a:p>
          <a:p>
            <a:pPr>
              <a:lnSpc>
                <a:spcPct val="128000"/>
              </a:lnSpc>
            </a:pPr>
            <a:r>
              <a:rPr sz="1120" b="0" i="0">
                <a:solidFill>
                  <a:srgbClr val="1E3A5F"/>
                </a:solidFill>
                <a:latin typeface="Segoe UI"/>
              </a:rPr>
              <a:t>• Web baonga.local, Firebase, Telegram &amp; Gmail.
• Thời gian vàng 5 lớp &amp; App Báo Ngã IoT.
• Unit Test C++17, 82 kiểm thử app, 12 kịch bản T01–T12.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50">
        <p:fade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3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6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9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12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65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18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71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0" grpId="0" animBg="1"/>
      <p:bldP spid="11" grpId="0" animBg="1"/>
      <p:bldP spid="12" grpId="0" animBg="1"/>
      <p:bldP spid="13" grpId="0"/>
      <p:bldP spid="1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4754880"/>
          </a:xfrm>
          <a:prstGeom prst="rect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4754880"/>
            <a:ext cx="91440" cy="2103120"/>
          </a:xfrm>
          <a:prstGeom prst="rect">
            <a:avLst/>
          </a:prstGeom>
          <a:solidFill>
            <a:srgbClr val="29B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310896"/>
            <a:ext cx="256032" cy="45720"/>
          </a:xfrm>
          <a:prstGeom prst="rect">
            <a:avLst/>
          </a:prstGeom>
          <a:solidFill>
            <a:srgbClr val="29B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41248" y="219456"/>
            <a:ext cx="7772400" cy="2377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>
                <a:solidFill>
                  <a:srgbClr val="1976D2"/>
                </a:solidFill>
                <a:latin typeface="Segoe UI"/>
              </a:rPr>
              <a:t>CHƯƠNG 1 • ĐẶT VẤN ĐỀ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57200"/>
            <a:ext cx="9006840" cy="713232"/>
          </a:xfrm>
          <a:prstGeom prst="rect">
            <a:avLst/>
          </a:prstGeom>
          <a:noFill/>
        </p:spPr>
        <p:txBody>
          <a:bodyPr wrap="square" lIns="18288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2000" b="1" i="0">
                <a:solidFill>
                  <a:srgbClr val="0A2540"/>
                </a:solidFill>
                <a:latin typeface="Segoe UI"/>
              </a:rPr>
              <a:t>BÀI TOÁN THỰC TIỄN &amp; ĐỘNG LỰC NGHIÊN CỨU</a:t>
            </a:r>
          </a:p>
          <a:p>
            <a:pPr>
              <a:lnSpc>
                <a:spcPct val="115000"/>
              </a:lnSpc>
            </a:pPr>
            <a:r>
              <a:rPr sz="1100" b="0" i="0">
                <a:solidFill>
                  <a:srgbClr val="607D9F"/>
                </a:solidFill>
                <a:latin typeface="Segoe UI"/>
              </a:rPr>
              <a:t>Giải quyết triệt để nguy cơ nằm bất động kéo dài (long-lie) và bài toán báo động giả trong sinh hoạt thường ngày</a:t>
            </a:r>
          </a:p>
        </p:txBody>
      </p:sp>
      <p:pic>
        <p:nvPicPr>
          <p:cNvPr id="8" name="Picture 7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82528" y="219456"/>
            <a:ext cx="694944" cy="6949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555480" y="347472"/>
            <a:ext cx="1463040" cy="4389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950" b="1" i="0">
                <a:solidFill>
                  <a:srgbClr val="0D47A1"/>
                </a:solidFill>
                <a:latin typeface="Segoe UI"/>
              </a:rPr>
              <a:t>ICTU • K23A
NHÓM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25296"/>
            <a:ext cx="11274552" cy="13716"/>
          </a:xfrm>
          <a:prstGeom prst="rect">
            <a:avLst/>
          </a:prstGeom>
          <a:solidFill>
            <a:srgbClr val="D2E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02920" y="6510528"/>
            <a:ext cx="11274552" cy="13716"/>
          </a:xfrm>
          <a:prstGeom prst="rect">
            <a:avLst/>
          </a:prstGeom>
          <a:solidFill>
            <a:srgbClr val="D2E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02920" y="6501384"/>
            <a:ext cx="1610650" cy="32004"/>
          </a:xfrm>
          <a:prstGeom prst="rect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2920" y="6567936"/>
            <a:ext cx="7772400" cy="196079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>
              <a:lnSpc>
                <a:spcPct val="120000"/>
              </a:lnSpc>
            </a:pPr>
            <a:r>
              <a:rPr sz="950" b="0" i="0" dirty="0" err="1">
                <a:solidFill>
                  <a:srgbClr val="607D9F"/>
                </a:solidFill>
                <a:latin typeface="Segoe UI"/>
              </a:rPr>
              <a:t>Đề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tài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: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Hệ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thống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IoT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Phát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hiện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và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Cảnh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báo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Té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ngã</a:t>
            </a:r>
            <a:r>
              <a:rPr lang="en-US"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lang="en-US" sz="950" dirty="0">
                <a:solidFill>
                  <a:srgbClr val="607D9F"/>
                </a:solidFill>
                <a:latin typeface="Segoe UI"/>
              </a:rPr>
              <a:t>•  Marine </a:t>
            </a:r>
            <a:r>
              <a:rPr lang="en-US" sz="950" dirty="0" err="1">
                <a:solidFill>
                  <a:srgbClr val="607D9F"/>
                </a:solidFill>
                <a:latin typeface="Segoe UI"/>
              </a:rPr>
              <a:t>Fullstack</a:t>
            </a:r>
            <a:r>
              <a:rPr lang="en-US" sz="950" dirty="0">
                <a:solidFill>
                  <a:srgbClr val="607D9F"/>
                </a:solidFill>
                <a:latin typeface="Segoe UI"/>
              </a:rPr>
              <a:t> System</a:t>
            </a:r>
            <a:endParaRPr sz="950" b="0" i="0" dirty="0">
              <a:solidFill>
                <a:srgbClr val="607D9F"/>
              </a:solidFill>
              <a:latin typeface="Segoe U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241280" y="6547104"/>
            <a:ext cx="1536192" cy="2377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50" b="1" i="0">
                <a:solidFill>
                  <a:srgbClr val="0D47A1"/>
                </a:solidFill>
                <a:latin typeface="Segoe UI"/>
              </a:rPr>
              <a:t>03 / 21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360" y="1417320"/>
            <a:ext cx="594360" cy="45720"/>
          </a:xfrm>
          <a:prstGeom prst="rect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94360" y="1490472"/>
            <a:ext cx="2606040" cy="943272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2050" b="1" i="0" dirty="0" err="1">
                <a:solidFill>
                  <a:srgbClr val="0D47A1"/>
                </a:solidFill>
                <a:latin typeface="Segoe UI"/>
              </a:rPr>
              <a:t>Đứng</a:t>
            </a:r>
            <a:r>
              <a:rPr sz="2050" b="1" i="0" dirty="0">
                <a:solidFill>
                  <a:srgbClr val="0D47A1"/>
                </a:solidFill>
                <a:latin typeface="Segoe UI"/>
              </a:rPr>
              <a:t> </a:t>
            </a:r>
            <a:r>
              <a:rPr sz="2050" b="1" i="0" dirty="0" err="1">
                <a:solidFill>
                  <a:srgbClr val="0D47A1"/>
                </a:solidFill>
                <a:latin typeface="Segoe UI"/>
              </a:rPr>
              <a:t>thứ</a:t>
            </a:r>
            <a:r>
              <a:rPr sz="2050" b="1" i="0" dirty="0">
                <a:solidFill>
                  <a:srgbClr val="0D47A1"/>
                </a:solidFill>
                <a:latin typeface="Segoe UI"/>
              </a:rPr>
              <a:t> 2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140" b="1" i="0" dirty="0" err="1">
                <a:solidFill>
                  <a:srgbClr val="0A2540"/>
                </a:solidFill>
                <a:latin typeface="Segoe UI"/>
              </a:rPr>
              <a:t>Nguyên</a:t>
            </a:r>
            <a:r>
              <a:rPr sz="1140" b="1" i="0" dirty="0">
                <a:solidFill>
                  <a:srgbClr val="0A2540"/>
                </a:solidFill>
                <a:latin typeface="Segoe UI"/>
              </a:rPr>
              <a:t> </a:t>
            </a:r>
            <a:r>
              <a:rPr sz="1140" b="1" i="0" dirty="0" err="1">
                <a:solidFill>
                  <a:srgbClr val="0A2540"/>
                </a:solidFill>
                <a:latin typeface="Segoe UI"/>
              </a:rPr>
              <a:t>nhân</a:t>
            </a:r>
            <a:r>
              <a:rPr sz="1140" b="1" i="0" dirty="0">
                <a:solidFill>
                  <a:srgbClr val="0A2540"/>
                </a:solidFill>
                <a:latin typeface="Segoe UI"/>
              </a:rPr>
              <a:t> </a:t>
            </a:r>
            <a:r>
              <a:rPr sz="1140" b="1" i="0" dirty="0" err="1">
                <a:solidFill>
                  <a:srgbClr val="0A2540"/>
                </a:solidFill>
                <a:latin typeface="Segoe UI"/>
              </a:rPr>
              <a:t>tử</a:t>
            </a:r>
            <a:r>
              <a:rPr sz="1140" b="1" i="0" dirty="0">
                <a:solidFill>
                  <a:srgbClr val="0A2540"/>
                </a:solidFill>
                <a:latin typeface="Segoe UI"/>
              </a:rPr>
              <a:t> </a:t>
            </a:r>
            <a:r>
              <a:rPr sz="1140" b="1" i="0" dirty="0" err="1">
                <a:solidFill>
                  <a:srgbClr val="0A2540"/>
                </a:solidFill>
                <a:latin typeface="Segoe UI"/>
              </a:rPr>
              <a:t>vong</a:t>
            </a:r>
            <a:r>
              <a:rPr sz="1140" b="1" i="0" dirty="0">
                <a:solidFill>
                  <a:srgbClr val="0A2540"/>
                </a:solidFill>
                <a:latin typeface="Segoe UI"/>
              </a:rPr>
              <a:t> </a:t>
            </a:r>
            <a:r>
              <a:rPr lang="en-US" sz="1140" b="1" i="0" dirty="0" err="1">
                <a:solidFill>
                  <a:srgbClr val="0A2540"/>
                </a:solidFill>
                <a:latin typeface="Segoe UI"/>
              </a:rPr>
              <a:t>chỉ</a:t>
            </a:r>
            <a:r>
              <a:rPr lang="en-US" sz="1140" b="1" i="0" dirty="0">
                <a:solidFill>
                  <a:srgbClr val="0A2540"/>
                </a:solidFill>
                <a:latin typeface="Segoe UI"/>
              </a:rPr>
              <a:t> </a:t>
            </a:r>
            <a:r>
              <a:rPr lang="en-US" sz="1140" b="1" i="0" dirty="0" err="1">
                <a:solidFill>
                  <a:srgbClr val="0A2540"/>
                </a:solidFill>
                <a:latin typeface="Segoe UI"/>
              </a:rPr>
              <a:t>sau</a:t>
            </a:r>
            <a:r>
              <a:rPr lang="en-US" sz="1140" b="1" i="0" dirty="0">
                <a:solidFill>
                  <a:srgbClr val="0A2540"/>
                </a:solidFill>
                <a:latin typeface="Segoe UI"/>
              </a:rPr>
              <a:t> tai </a:t>
            </a:r>
            <a:r>
              <a:rPr lang="en-US" sz="1140" b="1" i="0" dirty="0" err="1">
                <a:solidFill>
                  <a:srgbClr val="0A2540"/>
                </a:solidFill>
                <a:latin typeface="Segoe UI"/>
              </a:rPr>
              <a:t>nạn</a:t>
            </a:r>
            <a:r>
              <a:rPr lang="en-US" sz="1140" b="1" i="0" dirty="0">
                <a:solidFill>
                  <a:srgbClr val="0A2540"/>
                </a:solidFill>
                <a:latin typeface="Segoe UI"/>
              </a:rPr>
              <a:t> </a:t>
            </a:r>
            <a:r>
              <a:rPr lang="en-US" sz="1140" b="1" i="0" dirty="0" err="1">
                <a:solidFill>
                  <a:srgbClr val="0A2540"/>
                </a:solidFill>
                <a:latin typeface="Segoe UI"/>
              </a:rPr>
              <a:t>giao</a:t>
            </a:r>
            <a:r>
              <a:rPr lang="en-US" sz="1140" b="1" i="0" dirty="0">
                <a:solidFill>
                  <a:srgbClr val="0A2540"/>
                </a:solidFill>
                <a:latin typeface="Segoe UI"/>
              </a:rPr>
              <a:t> </a:t>
            </a:r>
            <a:r>
              <a:rPr lang="en-US" sz="1140" b="1" i="0" dirty="0" err="1">
                <a:solidFill>
                  <a:srgbClr val="0A2540"/>
                </a:solidFill>
                <a:latin typeface="Segoe UI"/>
              </a:rPr>
              <a:t>thông</a:t>
            </a:r>
            <a:r>
              <a:rPr lang="en-US" sz="1140" b="1" i="0" dirty="0">
                <a:solidFill>
                  <a:srgbClr val="0A2540"/>
                </a:solidFill>
                <a:latin typeface="Segoe UI"/>
              </a:rPr>
              <a:t> </a:t>
            </a:r>
            <a:r>
              <a:rPr lang="en-US" sz="1140" b="1" i="0" dirty="0" err="1">
                <a:solidFill>
                  <a:srgbClr val="0A2540"/>
                </a:solidFill>
                <a:latin typeface="Segoe UI"/>
              </a:rPr>
              <a:t>đường</a:t>
            </a:r>
            <a:r>
              <a:rPr lang="en-US" sz="1140" b="1" i="0" dirty="0">
                <a:solidFill>
                  <a:srgbClr val="0A2540"/>
                </a:solidFill>
                <a:latin typeface="Segoe UI"/>
              </a:rPr>
              <a:t> </a:t>
            </a:r>
            <a:r>
              <a:rPr lang="en-US" sz="1140" b="1" i="0" dirty="0" err="1">
                <a:solidFill>
                  <a:srgbClr val="0A2540"/>
                </a:solidFill>
                <a:latin typeface="Segoe UI"/>
              </a:rPr>
              <a:t>bộ</a:t>
            </a:r>
            <a:r>
              <a:rPr lang="en-US" sz="1140" b="1" i="0" dirty="0">
                <a:solidFill>
                  <a:srgbClr val="0A2540"/>
                </a:solidFill>
                <a:latin typeface="Segoe UI"/>
              </a:rPr>
              <a:t>.</a:t>
            </a:r>
            <a:endParaRPr sz="1140" b="1" i="0" dirty="0">
              <a:solidFill>
                <a:srgbClr val="0A2540"/>
              </a:solidFill>
              <a:latin typeface="Segoe UI"/>
            </a:endParaRPr>
          </a:p>
          <a:p>
            <a:pPr>
              <a:lnSpc>
                <a:spcPct val="112000"/>
              </a:lnSpc>
            </a:pPr>
            <a:r>
              <a:rPr sz="1000" b="0" i="0" dirty="0">
                <a:solidFill>
                  <a:srgbClr val="607D9F"/>
                </a:solidFill>
                <a:latin typeface="Segoe UI"/>
              </a:rPr>
              <a:t>Theo </a:t>
            </a:r>
            <a:r>
              <a:rPr sz="1000" b="0" i="0" dirty="0" err="1">
                <a:solidFill>
                  <a:srgbClr val="607D9F"/>
                </a:solidFill>
                <a:latin typeface="Segoe UI"/>
              </a:rPr>
              <a:t>thống</a:t>
            </a:r>
            <a:r>
              <a:rPr sz="100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607D9F"/>
                </a:solidFill>
                <a:latin typeface="Segoe UI"/>
              </a:rPr>
              <a:t>kê</a:t>
            </a:r>
            <a:r>
              <a:rPr sz="100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607D9F"/>
                </a:solidFill>
                <a:latin typeface="Segoe UI"/>
              </a:rPr>
              <a:t>của</a:t>
            </a:r>
            <a:r>
              <a:rPr sz="1000" b="0" i="0" dirty="0">
                <a:solidFill>
                  <a:srgbClr val="607D9F"/>
                </a:solidFill>
                <a:latin typeface="Segoe UI"/>
              </a:rPr>
              <a:t> WHO ở </a:t>
            </a:r>
            <a:r>
              <a:rPr sz="1000" b="0" i="0" dirty="0" err="1">
                <a:solidFill>
                  <a:srgbClr val="607D9F"/>
                </a:solidFill>
                <a:latin typeface="Segoe UI"/>
              </a:rPr>
              <a:t>người</a:t>
            </a:r>
            <a:r>
              <a:rPr sz="100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607D9F"/>
                </a:solidFill>
                <a:latin typeface="Segoe UI"/>
              </a:rPr>
              <a:t>cao</a:t>
            </a:r>
            <a:r>
              <a:rPr sz="100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1000" b="0" i="0" dirty="0" err="1">
                <a:solidFill>
                  <a:srgbClr val="607D9F"/>
                </a:solidFill>
                <a:latin typeface="Segoe UI"/>
              </a:rPr>
              <a:t>tuổi</a:t>
            </a:r>
            <a:r>
              <a:rPr lang="en-US" sz="1000" b="0" i="0" dirty="0">
                <a:solidFill>
                  <a:srgbClr val="607D9F"/>
                </a:solidFill>
                <a:latin typeface="Segoe UI"/>
              </a:rPr>
              <a:t> </a:t>
            </a:r>
            <a:endParaRPr sz="1000" b="0" i="0" dirty="0">
              <a:solidFill>
                <a:srgbClr val="607D9F"/>
              </a:solidFill>
              <a:latin typeface="Segoe UI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3474720" y="1417320"/>
            <a:ext cx="594360" cy="45720"/>
          </a:xfrm>
          <a:prstGeom prst="rect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474720" y="1490472"/>
            <a:ext cx="2606040" cy="1069848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2050" b="1" i="0">
                <a:solidFill>
                  <a:srgbClr val="1976D2"/>
                </a:solidFill>
                <a:latin typeface="Segoe UI"/>
              </a:rPr>
              <a:t>&gt; 30 – 60 phút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140" b="1" i="0">
                <a:solidFill>
                  <a:srgbClr val="0A2540"/>
                </a:solidFill>
                <a:latin typeface="Segoe UI"/>
              </a:rPr>
              <a:t>Nguy cơ nằm bất động (Long-lie)</a:t>
            </a:r>
          </a:p>
          <a:p>
            <a:pPr>
              <a:lnSpc>
                <a:spcPct val="112000"/>
              </a:lnSpc>
            </a:pPr>
            <a:r>
              <a:rPr sz="1000" b="0" i="0">
                <a:solidFill>
                  <a:srgbClr val="607D9F"/>
                </a:solidFill>
                <a:latin typeface="Segoe UI"/>
              </a:rPr>
              <a:t>Gây hạ thân nhiệt, tiêu cơ vân, suy thận cấp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55080" y="1417320"/>
            <a:ext cx="594360" cy="45720"/>
          </a:xfrm>
          <a:prstGeom prst="rect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355080" y="1490472"/>
            <a:ext cx="2606040" cy="1069848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2050" b="1" i="0">
                <a:solidFill>
                  <a:srgbClr val="0D47A1"/>
                </a:solidFill>
                <a:latin typeface="Segoe UI"/>
              </a:rPr>
              <a:t>02 Phân hệ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140" b="1" i="0">
                <a:solidFill>
                  <a:srgbClr val="0A2540"/>
                </a:solidFill>
                <a:latin typeface="Segoe UI"/>
              </a:rPr>
              <a:t>Thiết bị đeo + Camera AI K230</a:t>
            </a:r>
          </a:p>
          <a:p>
            <a:pPr>
              <a:lnSpc>
                <a:spcPct val="112000"/>
              </a:lnSpc>
            </a:pPr>
            <a:r>
              <a:rPr sz="1000" b="0" i="0">
                <a:solidFill>
                  <a:srgbClr val="607D9F"/>
                </a:solidFill>
                <a:latin typeface="Segoe UI"/>
              </a:rPr>
              <a:t>Khắc phục hoàn toàn điểm mù &amp; báo động giả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235440" y="1417320"/>
            <a:ext cx="594360" cy="45720"/>
          </a:xfrm>
          <a:prstGeom prst="rect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235440" y="1490472"/>
            <a:ext cx="2514600" cy="1069848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2050" b="1" i="0">
                <a:solidFill>
                  <a:srgbClr val="1976D2"/>
                </a:solidFill>
                <a:latin typeface="Segoe UI"/>
              </a:rPr>
              <a:t>&lt; 1,0 ms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140" b="1" i="0">
                <a:solidFill>
                  <a:srgbClr val="0A2540"/>
                </a:solidFill>
                <a:latin typeface="Segoe UI"/>
              </a:rPr>
              <a:t>Suy luận AI trực tiếp tại biên</a:t>
            </a:r>
          </a:p>
          <a:p>
            <a:pPr>
              <a:lnSpc>
                <a:spcPct val="112000"/>
              </a:lnSpc>
            </a:pPr>
            <a:r>
              <a:rPr sz="1000" b="0" i="0">
                <a:solidFill>
                  <a:srgbClr val="607D9F"/>
                </a:solidFill>
                <a:latin typeface="Segoe UI"/>
              </a:rPr>
              <a:t>Báo động tại chỗ độc lập hoàn toàn với Internet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4360" y="2743200"/>
            <a:ext cx="11155680" cy="13716"/>
          </a:xfrm>
          <a:prstGeom prst="rect">
            <a:avLst/>
          </a:prstGeom>
          <a:solidFill>
            <a:srgbClr val="D2E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594360" y="2980944"/>
            <a:ext cx="45720" cy="3264408"/>
          </a:xfrm>
          <a:prstGeom prst="rect">
            <a:avLst/>
          </a:prstGeom>
          <a:solidFill>
            <a:srgbClr val="607D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58952" y="2944368"/>
            <a:ext cx="5166359" cy="333756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1320" b="1" i="0">
                <a:solidFill>
                  <a:srgbClr val="607D9F"/>
                </a:solidFill>
                <a:latin typeface="Segoe UI"/>
              </a:rPr>
              <a:t>HẠN CHẾ CỦA CÁC GIẢI PHÁP ĐƠN LẺ HIỆN NAY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>
                <a:solidFill>
                  <a:srgbClr val="0A2540"/>
                </a:solidFill>
                <a:latin typeface="Segoe UI"/>
              </a:rPr>
              <a:t>▸  Chỉ dùng ngưỡng gia tốc đơn giản: </a:t>
            </a:r>
            <a:r>
              <a:rPr sz="1140" b="0" i="0">
                <a:solidFill>
                  <a:srgbClr val="1E3A5F"/>
                </a:solidFill>
                <a:latin typeface="Segoe UI"/>
              </a:rPr>
              <a:t>Dễ báo giả khi vỗ tay, bước xuống cầu thang, đặt thiết bị lên bàn hoặc ngồi phịch xuống ghế.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>
                <a:solidFill>
                  <a:srgbClr val="0A2540"/>
                </a:solidFill>
                <a:latin typeface="Segoe UI"/>
              </a:rPr>
              <a:t>▸  Thiếu chuẩn hóa tư thế đeo 3 chiều: </a:t>
            </a:r>
            <a:r>
              <a:rPr sz="1140" b="0" i="0">
                <a:solidFill>
                  <a:srgbClr val="1E3A5F"/>
                </a:solidFill>
                <a:latin typeface="Segoe UI"/>
              </a:rPr>
              <a:t>Khi đeo nghiêng ở thắt lưng hoặc túi áo, trục tọa độ bị lệch làm sai phép kiểm tra tư thế nằm.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>
                <a:solidFill>
                  <a:srgbClr val="0A2540"/>
                </a:solidFill>
                <a:latin typeface="Segoe UI"/>
              </a:rPr>
              <a:t>▸  Bỏ sót bất động êm (Ngất xỉu / Đột quỵ): </a:t>
            </a:r>
            <a:r>
              <a:rPr sz="1140" b="0" i="0">
                <a:solidFill>
                  <a:srgbClr val="1E3A5F"/>
                </a:solidFill>
                <a:latin typeface="Segoe UI"/>
              </a:rPr>
              <a:t>Các thiết bị chỉ bắt va đập ≥2g sẽ bỏ sót trường hợp người già ngất từ từ trên giường/ghế.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>
                <a:solidFill>
                  <a:srgbClr val="0A2540"/>
                </a:solidFill>
                <a:latin typeface="Segoe UI"/>
              </a:rPr>
              <a:t>▸  Chỉ dùng Camera cố định: </a:t>
            </a:r>
            <a:r>
              <a:rPr sz="1140" b="0" i="0">
                <a:solidFill>
                  <a:srgbClr val="1E3A5F"/>
                </a:solidFill>
                <a:latin typeface="Segoe UI"/>
              </a:rPr>
              <a:t>Bị giới hạn bởi góc khuất đồ đạc và vấn đề riêng tư tại phòng ngủ, phòng tắm.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17920" y="2980944"/>
            <a:ext cx="45720" cy="3264408"/>
          </a:xfrm>
          <a:prstGeom prst="rect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382512" y="2944368"/>
            <a:ext cx="5349240" cy="2389565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1320" b="1" i="0" dirty="0">
                <a:solidFill>
                  <a:srgbClr val="0D47A1"/>
                </a:solidFill>
                <a:latin typeface="Segoe UI"/>
              </a:rPr>
              <a:t>GIẢI PHÁP IoT ĐA PHƯƠNG THỨC </a:t>
            </a:r>
            <a:endParaRPr lang="en-US" sz="1320" b="1" i="0" dirty="0">
              <a:solidFill>
                <a:srgbClr val="0D47A1"/>
              </a:solidFill>
              <a:latin typeface="Segoe UI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1160" b="1" i="0" dirty="0">
                <a:solidFill>
                  <a:srgbClr val="0A2540"/>
                </a:solidFill>
                <a:latin typeface="Segoe UI"/>
              </a:rPr>
              <a:t>▸  </a:t>
            </a:r>
            <a:r>
              <a:rPr sz="1160" b="1" i="0" dirty="0" err="1">
                <a:solidFill>
                  <a:srgbClr val="0A2540"/>
                </a:solidFill>
                <a:latin typeface="Segoe UI"/>
              </a:rPr>
              <a:t>Hiệu</a:t>
            </a:r>
            <a:r>
              <a:rPr sz="1160" b="1" i="0" dirty="0">
                <a:solidFill>
                  <a:srgbClr val="0A2540"/>
                </a:solidFill>
                <a:latin typeface="Segoe UI"/>
              </a:rPr>
              <a:t> </a:t>
            </a:r>
            <a:r>
              <a:rPr sz="1160" b="1" i="0" dirty="0" err="1">
                <a:solidFill>
                  <a:srgbClr val="0A2540"/>
                </a:solidFill>
                <a:latin typeface="Segoe UI"/>
              </a:rPr>
              <a:t>chuẩn</a:t>
            </a:r>
            <a:r>
              <a:rPr sz="1160" b="1" i="0" dirty="0">
                <a:solidFill>
                  <a:srgbClr val="0A2540"/>
                </a:solidFill>
                <a:latin typeface="Segoe UI"/>
              </a:rPr>
              <a:t> 3D Rodrigues + </a:t>
            </a:r>
            <a:r>
              <a:rPr sz="1160" b="1" i="0" dirty="0" err="1">
                <a:solidFill>
                  <a:srgbClr val="0A2540"/>
                </a:solidFill>
                <a:latin typeface="Segoe UI"/>
              </a:rPr>
              <a:t>Lọc</a:t>
            </a:r>
            <a:r>
              <a:rPr sz="1160" b="1" i="0" dirty="0">
                <a:solidFill>
                  <a:srgbClr val="0A2540"/>
                </a:solidFill>
                <a:latin typeface="Segoe UI"/>
              </a:rPr>
              <a:t> Median3: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Xoay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vector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trọng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lực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chuẩn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về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trục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+Z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chỉ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bằng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3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lần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chạm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TTP223,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bất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biến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với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góc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đeo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 dirty="0">
                <a:solidFill>
                  <a:srgbClr val="0A2540"/>
                </a:solidFill>
                <a:latin typeface="Segoe UI"/>
              </a:rPr>
              <a:t>▸  </a:t>
            </a:r>
            <a:r>
              <a:rPr sz="1160" b="1" i="0" dirty="0" err="1">
                <a:solidFill>
                  <a:srgbClr val="0A2540"/>
                </a:solidFill>
                <a:latin typeface="Segoe UI"/>
              </a:rPr>
              <a:t>Máy</a:t>
            </a:r>
            <a:r>
              <a:rPr sz="1160" b="1" i="0" dirty="0">
                <a:solidFill>
                  <a:srgbClr val="0A2540"/>
                </a:solidFill>
                <a:latin typeface="Segoe UI"/>
              </a:rPr>
              <a:t> </a:t>
            </a:r>
            <a:r>
              <a:rPr sz="1160" b="1" i="0" dirty="0" err="1">
                <a:solidFill>
                  <a:srgbClr val="0A2540"/>
                </a:solidFill>
                <a:latin typeface="Segoe UI"/>
              </a:rPr>
              <a:t>trạng</a:t>
            </a:r>
            <a:r>
              <a:rPr sz="1160" b="1" i="0" dirty="0">
                <a:solidFill>
                  <a:srgbClr val="0A2540"/>
                </a:solidFill>
                <a:latin typeface="Segoe UI"/>
              </a:rPr>
              <a:t> </a:t>
            </a:r>
            <a:r>
              <a:rPr sz="1160" b="1" i="0" dirty="0" err="1">
                <a:solidFill>
                  <a:srgbClr val="0A2540"/>
                </a:solidFill>
                <a:latin typeface="Segoe UI"/>
              </a:rPr>
              <a:t>thái</a:t>
            </a:r>
            <a:r>
              <a:rPr sz="1160" b="1" i="0" dirty="0">
                <a:solidFill>
                  <a:srgbClr val="0A2540"/>
                </a:solidFill>
                <a:latin typeface="Segoe UI"/>
              </a:rPr>
              <a:t> 4 </a:t>
            </a:r>
            <a:r>
              <a:rPr sz="1160" b="1" i="0" dirty="0" err="1">
                <a:solidFill>
                  <a:srgbClr val="0A2540"/>
                </a:solidFill>
                <a:latin typeface="Segoe UI"/>
              </a:rPr>
              <a:t>bước</a:t>
            </a:r>
            <a:r>
              <a:rPr sz="1160" b="1" i="0" dirty="0">
                <a:solidFill>
                  <a:srgbClr val="0A2540"/>
                </a:solidFill>
                <a:latin typeface="Segoe UI"/>
              </a:rPr>
              <a:t> + </a:t>
            </a:r>
            <a:r>
              <a:rPr sz="1160" b="1" i="0" dirty="0" err="1">
                <a:solidFill>
                  <a:srgbClr val="0A2540"/>
                </a:solidFill>
                <a:latin typeface="Segoe UI"/>
              </a:rPr>
              <a:t>Mạng</a:t>
            </a:r>
            <a:r>
              <a:rPr sz="1160" b="1" i="0" dirty="0">
                <a:solidFill>
                  <a:srgbClr val="0A2540"/>
                </a:solidFill>
                <a:latin typeface="Segoe UI"/>
              </a:rPr>
              <a:t> </a:t>
            </a:r>
            <a:r>
              <a:rPr sz="1160" b="1" i="0" dirty="0" err="1">
                <a:solidFill>
                  <a:srgbClr val="0A2540"/>
                </a:solidFill>
                <a:latin typeface="Segoe UI"/>
              </a:rPr>
              <a:t>TinyML</a:t>
            </a:r>
            <a:r>
              <a:rPr sz="1160" b="1" i="0" dirty="0">
                <a:solidFill>
                  <a:srgbClr val="0A2540"/>
                </a:solidFill>
                <a:latin typeface="Segoe UI"/>
              </a:rPr>
              <a:t> MLP: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Kết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hợp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va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chạm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≥2g,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bằng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chứng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rơi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tự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do/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xoay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người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/MLP 677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tham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số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,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pha ổn định 1s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/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/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và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tĩnh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≥80% &amp;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lệch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≥45°.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 dirty="0">
                <a:solidFill>
                  <a:srgbClr val="0A2540"/>
                </a:solidFill>
                <a:latin typeface="Segoe UI"/>
              </a:rPr>
              <a:t>▸  </a:t>
            </a:r>
            <a:r>
              <a:rPr sz="1160" b="1" i="0" dirty="0" err="1">
                <a:solidFill>
                  <a:srgbClr val="0A2540"/>
                </a:solidFill>
                <a:latin typeface="Segoe UI"/>
              </a:rPr>
              <a:t>Giám</a:t>
            </a:r>
            <a:r>
              <a:rPr sz="1160" b="1" i="0" dirty="0">
                <a:solidFill>
                  <a:srgbClr val="0A2540"/>
                </a:solidFill>
                <a:latin typeface="Segoe UI"/>
              </a:rPr>
              <a:t> </a:t>
            </a:r>
            <a:r>
              <a:rPr sz="1160" b="1" i="0" dirty="0" err="1">
                <a:solidFill>
                  <a:srgbClr val="0A2540"/>
                </a:solidFill>
                <a:latin typeface="Segoe UI"/>
              </a:rPr>
              <a:t>sát</a:t>
            </a:r>
            <a:r>
              <a:rPr sz="1160" b="1" i="0" dirty="0">
                <a:solidFill>
                  <a:srgbClr val="0A2540"/>
                </a:solidFill>
                <a:latin typeface="Segoe UI"/>
              </a:rPr>
              <a:t> </a:t>
            </a:r>
            <a:r>
              <a:rPr sz="1160" b="1" i="0" dirty="0" err="1">
                <a:solidFill>
                  <a:srgbClr val="0A2540"/>
                </a:solidFill>
                <a:latin typeface="Segoe UI"/>
              </a:rPr>
              <a:t>bất</a:t>
            </a:r>
            <a:r>
              <a:rPr sz="1160" b="1" i="0" dirty="0">
                <a:solidFill>
                  <a:srgbClr val="0A2540"/>
                </a:solidFill>
                <a:latin typeface="Segoe UI"/>
              </a:rPr>
              <a:t> </a:t>
            </a:r>
            <a:r>
              <a:rPr sz="1160" b="1" i="0" dirty="0" err="1">
                <a:solidFill>
                  <a:srgbClr val="0A2540"/>
                </a:solidFill>
                <a:latin typeface="Segoe UI"/>
              </a:rPr>
              <a:t>động</a:t>
            </a:r>
            <a:r>
              <a:rPr sz="1160" b="1" i="0" dirty="0">
                <a:solidFill>
                  <a:srgbClr val="0A2540"/>
                </a:solidFill>
                <a:latin typeface="Segoe UI"/>
              </a:rPr>
              <a:t> </a:t>
            </a:r>
            <a:r>
              <a:rPr sz="1160" b="1" i="0" dirty="0" err="1">
                <a:solidFill>
                  <a:srgbClr val="0A2540"/>
                </a:solidFill>
                <a:latin typeface="Segoe UI"/>
              </a:rPr>
              <a:t>kéo</a:t>
            </a:r>
            <a:r>
              <a:rPr sz="1160" b="1" i="0" dirty="0">
                <a:solidFill>
                  <a:srgbClr val="0A2540"/>
                </a:solidFill>
                <a:latin typeface="Segoe UI"/>
              </a:rPr>
              <a:t> </a:t>
            </a:r>
            <a:r>
              <a:rPr sz="1160" b="1" i="0" dirty="0" err="1">
                <a:solidFill>
                  <a:srgbClr val="0A2540"/>
                </a:solidFill>
                <a:latin typeface="Segoe UI"/>
              </a:rPr>
              <a:t>dài</a:t>
            </a:r>
            <a:r>
              <a:rPr sz="1160" b="1" i="0" dirty="0">
                <a:solidFill>
                  <a:srgbClr val="0A2540"/>
                </a:solidFill>
                <a:latin typeface="Segoe UI"/>
              </a:rPr>
              <a:t> (</a:t>
            </a:r>
            <a:r>
              <a:rPr sz="1160" b="1" i="0" dirty="0" err="1">
                <a:solidFill>
                  <a:srgbClr val="0A2540"/>
                </a:solidFill>
                <a:latin typeface="Segoe UI"/>
              </a:rPr>
              <a:t>InactivityMonitor</a:t>
            </a:r>
            <a:r>
              <a:rPr sz="1160" b="1" i="0" dirty="0">
                <a:solidFill>
                  <a:srgbClr val="0A2540"/>
                </a:solidFill>
                <a:latin typeface="Segoe UI"/>
              </a:rPr>
              <a:t>): 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Theo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dõi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đường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cơ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sở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thích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nghi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,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lọc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nhiễu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nhịp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thở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và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phát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cảnh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báo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vàng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khi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bất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động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quá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hạn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 dirty="0">
                <a:solidFill>
                  <a:srgbClr val="0A2540"/>
                </a:solidFill>
                <a:latin typeface="Segoe UI"/>
              </a:rPr>
              <a:t>▸  </a:t>
            </a:r>
            <a:r>
              <a:rPr sz="1160" b="1" i="0" dirty="0" err="1">
                <a:solidFill>
                  <a:srgbClr val="0A2540"/>
                </a:solidFill>
                <a:latin typeface="Segoe UI"/>
              </a:rPr>
              <a:t>Kết</a:t>
            </a:r>
            <a:r>
              <a:rPr sz="1160" b="1" i="0" dirty="0">
                <a:solidFill>
                  <a:srgbClr val="0A2540"/>
                </a:solidFill>
                <a:latin typeface="Segoe UI"/>
              </a:rPr>
              <a:t> </a:t>
            </a:r>
            <a:r>
              <a:rPr sz="1160" b="1" i="0" dirty="0" err="1">
                <a:solidFill>
                  <a:srgbClr val="0A2540"/>
                </a:solidFill>
                <a:latin typeface="Segoe UI"/>
              </a:rPr>
              <a:t>hợp</a:t>
            </a:r>
            <a:r>
              <a:rPr sz="1160" b="1" i="0" dirty="0">
                <a:solidFill>
                  <a:srgbClr val="0A2540"/>
                </a:solidFill>
                <a:latin typeface="Segoe UI"/>
              </a:rPr>
              <a:t> Camera AI </a:t>
            </a:r>
            <a:r>
              <a:rPr sz="1160" b="1" i="0" dirty="0" err="1">
                <a:solidFill>
                  <a:srgbClr val="0A2540"/>
                </a:solidFill>
                <a:latin typeface="Segoe UI"/>
              </a:rPr>
              <a:t>CanMV</a:t>
            </a:r>
            <a:r>
              <a:rPr sz="1160" b="1" i="0" dirty="0">
                <a:solidFill>
                  <a:srgbClr val="0A2540"/>
                </a:solidFill>
                <a:latin typeface="Segoe UI"/>
              </a:rPr>
              <a:t> K230 + </a:t>
            </a:r>
            <a:r>
              <a:rPr sz="1160" b="1" i="0" dirty="0" err="1">
                <a:solidFill>
                  <a:srgbClr val="0A2540"/>
                </a:solidFill>
                <a:latin typeface="Segoe UI"/>
              </a:rPr>
              <a:t>Đa</a:t>
            </a:r>
            <a:r>
              <a:rPr sz="1160" b="1" i="0" dirty="0">
                <a:solidFill>
                  <a:srgbClr val="0A2540"/>
                </a:solidFill>
                <a:latin typeface="Segoe UI"/>
              </a:rPr>
              <a:t> </a:t>
            </a:r>
            <a:r>
              <a:rPr sz="1160" b="1" i="0" dirty="0" err="1">
                <a:solidFill>
                  <a:srgbClr val="0A2540"/>
                </a:solidFill>
                <a:latin typeface="Segoe UI"/>
              </a:rPr>
              <a:t>kênh</a:t>
            </a:r>
            <a:r>
              <a:rPr sz="1160" b="1" i="0" dirty="0">
                <a:solidFill>
                  <a:srgbClr val="0A2540"/>
                </a:solidFill>
                <a:latin typeface="Segoe UI"/>
              </a:rPr>
              <a:t>: 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YOLOv5n +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IoU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Tracker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gửi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kèm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ảnh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JPEG;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đồng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bộ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Web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baonga.local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, Firebase, Telegram &amp; Gmail.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50">
        <p:push/>
      </p:transition>
    </mc:Choice>
    <mc:Fallback xmlns="">
      <p:transition spd="slow">
        <p:push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3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6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9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12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65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18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71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0" grpId="0" animBg="1"/>
      <p:bldP spid="11" grpId="0" animBg="1"/>
      <p:bldP spid="12" grpId="0" animBg="1"/>
      <p:bldP spid="13" grpId="0"/>
      <p:bldP spid="1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4754880"/>
          </a:xfrm>
          <a:prstGeom prst="rect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4754880"/>
            <a:ext cx="91440" cy="2103120"/>
          </a:xfrm>
          <a:prstGeom prst="rect">
            <a:avLst/>
          </a:prstGeom>
          <a:solidFill>
            <a:srgbClr val="29B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310896"/>
            <a:ext cx="256032" cy="45720"/>
          </a:xfrm>
          <a:prstGeom prst="rect">
            <a:avLst/>
          </a:prstGeom>
          <a:solidFill>
            <a:srgbClr val="29B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41248" y="219456"/>
            <a:ext cx="7772400" cy="2377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>
                <a:solidFill>
                  <a:srgbClr val="1976D2"/>
                </a:solidFill>
                <a:latin typeface="Segoe UI"/>
              </a:rPr>
              <a:t>CHƯƠNG 1 • CƠ SỞ LÝ THUYẾT &amp; KIẾN TRÚC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57200"/>
            <a:ext cx="9006840" cy="713232"/>
          </a:xfrm>
          <a:prstGeom prst="rect">
            <a:avLst/>
          </a:prstGeom>
          <a:noFill/>
        </p:spPr>
        <p:txBody>
          <a:bodyPr wrap="square" lIns="18288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2000" b="1" i="0">
                <a:solidFill>
                  <a:srgbClr val="0A2540"/>
                </a:solidFill>
                <a:latin typeface="Segoe UI"/>
              </a:rPr>
              <a:t>KIẾN TRÚC TỔNG THỂ 4 TẦNG CỦA HỆ THỐNG IoT</a:t>
            </a:r>
          </a:p>
          <a:p>
            <a:pPr>
              <a:lnSpc>
                <a:spcPct val="115000"/>
              </a:lnSpc>
            </a:pPr>
            <a:r>
              <a:rPr sz="1100" b="0" i="0">
                <a:solidFill>
                  <a:srgbClr val="607D9F"/>
                </a:solidFill>
                <a:latin typeface="Segoe UI"/>
              </a:rPr>
              <a:t>Xử lý thông minh ngay tại thiết bị biên (Edge AI) kết hợp đồng bộ đám mây thời gian thực</a:t>
            </a:r>
          </a:p>
        </p:txBody>
      </p:sp>
      <p:pic>
        <p:nvPicPr>
          <p:cNvPr id="8" name="Picture 7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82528" y="219456"/>
            <a:ext cx="694944" cy="6949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555480" y="347472"/>
            <a:ext cx="1463040" cy="4389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950" b="1" i="0">
                <a:solidFill>
                  <a:srgbClr val="0D47A1"/>
                </a:solidFill>
                <a:latin typeface="Segoe UI"/>
              </a:rPr>
              <a:t>ICTU • K23A
NHÓM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25296"/>
            <a:ext cx="11274552" cy="13716"/>
          </a:xfrm>
          <a:prstGeom prst="rect">
            <a:avLst/>
          </a:prstGeom>
          <a:solidFill>
            <a:srgbClr val="D2E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02920" y="6510528"/>
            <a:ext cx="11274552" cy="13716"/>
          </a:xfrm>
          <a:prstGeom prst="rect">
            <a:avLst/>
          </a:prstGeom>
          <a:solidFill>
            <a:srgbClr val="D2E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02920" y="6501384"/>
            <a:ext cx="2147533" cy="32004"/>
          </a:xfrm>
          <a:prstGeom prst="rect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2920" y="6567936"/>
            <a:ext cx="7772400" cy="196079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>
              <a:lnSpc>
                <a:spcPct val="120000"/>
              </a:lnSpc>
            </a:pPr>
            <a:r>
              <a:rPr sz="950" b="0" i="0" dirty="0" err="1">
                <a:solidFill>
                  <a:srgbClr val="607D9F"/>
                </a:solidFill>
                <a:latin typeface="Segoe UI"/>
              </a:rPr>
              <a:t>Đề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tài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: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Hệ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thống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IoT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Phát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hiện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và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Cảnh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báo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Té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ngã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lang="en-US" sz="950" dirty="0">
                <a:solidFill>
                  <a:srgbClr val="607D9F"/>
                </a:solidFill>
                <a:latin typeface="Segoe UI"/>
              </a:rPr>
              <a:t>•  Marine </a:t>
            </a:r>
            <a:r>
              <a:rPr lang="en-US" sz="950" dirty="0" err="1">
                <a:solidFill>
                  <a:srgbClr val="607D9F"/>
                </a:solidFill>
                <a:latin typeface="Segoe UI"/>
              </a:rPr>
              <a:t>Fullstack</a:t>
            </a:r>
            <a:r>
              <a:rPr lang="en-US" sz="950" dirty="0">
                <a:solidFill>
                  <a:srgbClr val="607D9F"/>
                </a:solidFill>
                <a:latin typeface="Segoe UI"/>
              </a:rPr>
              <a:t> System</a:t>
            </a:r>
            <a:endParaRPr sz="950" b="0" i="0" dirty="0">
              <a:solidFill>
                <a:srgbClr val="607D9F"/>
              </a:solidFill>
              <a:latin typeface="Segoe U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241280" y="6547104"/>
            <a:ext cx="1536192" cy="2377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50" b="1" i="0">
                <a:solidFill>
                  <a:srgbClr val="0D47A1"/>
                </a:solidFill>
                <a:latin typeface="Segoe UI"/>
              </a:rPr>
              <a:t>04 / 21</a:t>
            </a:r>
          </a:p>
        </p:txBody>
      </p:sp>
      <p:pic>
        <p:nvPicPr>
          <p:cNvPr id="15" name="Picture 14" descr="fig_1_1_aiot_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85261"/>
            <a:ext cx="6903720" cy="386354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02920" y="6080759"/>
            <a:ext cx="6903720" cy="25603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1">
                <a:solidFill>
                  <a:srgbClr val="607D9F"/>
                </a:solidFill>
                <a:latin typeface="Segoe UI"/>
              </a:rPr>
              <a:t>Hình 1.1. Kiến trúc 4 tầng của hệ thống IoT phát hiện và cảnh báo té ngã</a:t>
            </a:r>
          </a:p>
        </p:txBody>
      </p:sp>
      <p:sp>
        <p:nvSpPr>
          <p:cNvPr id="17" name="Oval 16"/>
          <p:cNvSpPr/>
          <p:nvPr/>
        </p:nvSpPr>
        <p:spPr>
          <a:xfrm>
            <a:off x="7635240" y="1463040"/>
            <a:ext cx="329184" cy="329184"/>
          </a:xfrm>
          <a:prstGeom prst="ellipse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74152" y="1444752"/>
            <a:ext cx="3675887" cy="1115568"/>
          </a:xfrm>
          <a:prstGeom prst="rect">
            <a:avLst/>
          </a:prstGeom>
          <a:noFill/>
        </p:spPr>
        <p:txBody>
          <a:bodyPr wrap="square" lIns="0" tIns="0" rIns="18288" bIns="0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80" b="1" i="0">
                <a:solidFill>
                  <a:srgbClr val="0A2540"/>
                </a:solidFill>
                <a:latin typeface="Segoe UI"/>
              </a:rPr>
              <a:t>Tầng Cảm nhận Vật lý (Perception)</a:t>
            </a:r>
          </a:p>
          <a:p>
            <a:pPr>
              <a:lnSpc>
                <a:spcPct val="118000"/>
              </a:lnSpc>
            </a:pPr>
            <a:r>
              <a:rPr sz="1120" b="0" i="0">
                <a:solidFill>
                  <a:srgbClr val="1E3A5F"/>
                </a:solidFill>
                <a:latin typeface="Segoe UI"/>
              </a:rPr>
              <a:t>MPU6050 thu thập 6 trục quán tính ở 50 Hz (I2C 400 kHz); cảm biến chạm TTP223; ADC đo pin Li-Po; Camera GC2093 MIPI-CSI.</a:t>
            </a:r>
          </a:p>
        </p:txBody>
      </p:sp>
      <p:sp>
        <p:nvSpPr>
          <p:cNvPr id="19" name="Oval 18"/>
          <p:cNvSpPr/>
          <p:nvPr/>
        </p:nvSpPr>
        <p:spPr>
          <a:xfrm>
            <a:off x="7635240" y="2670048"/>
            <a:ext cx="329184" cy="329184"/>
          </a:xfrm>
          <a:prstGeom prst="ellipse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74152" y="2651760"/>
            <a:ext cx="3675887" cy="1115568"/>
          </a:xfrm>
          <a:prstGeom prst="rect">
            <a:avLst/>
          </a:prstGeom>
          <a:noFill/>
        </p:spPr>
        <p:txBody>
          <a:bodyPr wrap="square" lIns="0" tIns="0" rIns="18288" bIns="0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80" b="1" i="0" dirty="0" err="1">
                <a:solidFill>
                  <a:srgbClr val="0A2540"/>
                </a:solidFill>
                <a:latin typeface="Segoe UI"/>
              </a:rPr>
              <a:t>Tầng</a:t>
            </a:r>
            <a:r>
              <a:rPr sz="1280" b="1" i="0" dirty="0">
                <a:solidFill>
                  <a:srgbClr val="0A2540"/>
                </a:solidFill>
                <a:latin typeface="Segoe UI"/>
              </a:rPr>
              <a:t> </a:t>
            </a:r>
            <a:r>
              <a:rPr sz="1280" b="1" i="0" dirty="0" err="1">
                <a:solidFill>
                  <a:srgbClr val="0A2540"/>
                </a:solidFill>
                <a:latin typeface="Segoe UI"/>
              </a:rPr>
              <a:t>Xử</a:t>
            </a:r>
            <a:r>
              <a:rPr sz="1280" b="1" i="0" dirty="0">
                <a:solidFill>
                  <a:srgbClr val="0A2540"/>
                </a:solidFill>
                <a:latin typeface="Segoe UI"/>
              </a:rPr>
              <a:t> </a:t>
            </a:r>
            <a:r>
              <a:rPr sz="1280" b="1" i="0" dirty="0" err="1">
                <a:solidFill>
                  <a:srgbClr val="0A2540"/>
                </a:solidFill>
                <a:latin typeface="Segoe UI"/>
              </a:rPr>
              <a:t>lý</a:t>
            </a:r>
            <a:r>
              <a:rPr sz="1280" b="1" i="0" dirty="0">
                <a:solidFill>
                  <a:srgbClr val="0A2540"/>
                </a:solidFill>
                <a:latin typeface="Segoe UI"/>
              </a:rPr>
              <a:t> Edge AI </a:t>
            </a:r>
            <a:r>
              <a:rPr sz="1280" b="1" i="0" dirty="0" err="1">
                <a:solidFill>
                  <a:srgbClr val="0A2540"/>
                </a:solidFill>
                <a:latin typeface="Segoe UI"/>
              </a:rPr>
              <a:t>tại</a:t>
            </a:r>
            <a:r>
              <a:rPr sz="1280" b="1" i="0" dirty="0">
                <a:solidFill>
                  <a:srgbClr val="0A2540"/>
                </a:solidFill>
                <a:latin typeface="Segoe UI"/>
              </a:rPr>
              <a:t> </a:t>
            </a:r>
            <a:r>
              <a:rPr sz="1280" b="1" i="0" dirty="0" err="1">
                <a:solidFill>
                  <a:srgbClr val="0A2540"/>
                </a:solidFill>
                <a:latin typeface="Segoe UI"/>
              </a:rPr>
              <a:t>biên</a:t>
            </a:r>
            <a:endParaRPr sz="1280" b="1" i="0" dirty="0">
              <a:solidFill>
                <a:srgbClr val="0A2540"/>
              </a:solidFill>
              <a:latin typeface="Segoe UI"/>
            </a:endParaRPr>
          </a:p>
          <a:p>
            <a:pPr>
              <a:lnSpc>
                <a:spcPct val="118000"/>
              </a:lnSpc>
            </a:pPr>
            <a:r>
              <a:rPr sz="1120" b="0" i="0" dirty="0" err="1">
                <a:solidFill>
                  <a:srgbClr val="1E3A5F"/>
                </a:solidFill>
                <a:latin typeface="Segoe UI"/>
              </a:rPr>
              <a:t>Lọc</a:t>
            </a:r>
            <a:r>
              <a:rPr sz="1120" b="0" i="0" dirty="0">
                <a:solidFill>
                  <a:srgbClr val="1E3A5F"/>
                </a:solidFill>
                <a:latin typeface="Segoe UI"/>
              </a:rPr>
              <a:t> Median3, </a:t>
            </a:r>
            <a:r>
              <a:rPr sz="1120" b="0" i="0" dirty="0" err="1">
                <a:solidFill>
                  <a:srgbClr val="1E3A5F"/>
                </a:solidFill>
                <a:latin typeface="Segoe UI"/>
              </a:rPr>
              <a:t>phép</a:t>
            </a:r>
            <a:r>
              <a:rPr sz="1120" b="0" i="0" dirty="0">
                <a:solidFill>
                  <a:srgbClr val="1E3A5F"/>
                </a:solidFill>
                <a:latin typeface="Segoe UI"/>
              </a:rPr>
              <a:t> quay Rodrigues 3D, </a:t>
            </a:r>
            <a:r>
              <a:rPr sz="1120" b="0" i="0" dirty="0" err="1">
                <a:solidFill>
                  <a:srgbClr val="1E3A5F"/>
                </a:solidFill>
                <a:latin typeface="Segoe UI"/>
              </a:rPr>
              <a:t>trích</a:t>
            </a:r>
            <a:r>
              <a:rPr sz="1120" b="0" i="0" dirty="0">
                <a:solidFill>
                  <a:srgbClr val="1E3A5F"/>
                </a:solidFill>
                <a:latin typeface="Segoe UI"/>
              </a:rPr>
              <a:t> 30 </a:t>
            </a:r>
            <a:r>
              <a:rPr sz="1120" b="0" i="0" dirty="0" err="1">
                <a:solidFill>
                  <a:srgbClr val="1E3A5F"/>
                </a:solidFill>
                <a:latin typeface="Segoe UI"/>
              </a:rPr>
              <a:t>đặc</a:t>
            </a:r>
            <a:r>
              <a:rPr sz="112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20" b="0" i="0" dirty="0" err="1">
                <a:solidFill>
                  <a:srgbClr val="1E3A5F"/>
                </a:solidFill>
                <a:latin typeface="Segoe UI"/>
              </a:rPr>
              <a:t>trưng</a:t>
            </a:r>
            <a:r>
              <a:rPr sz="1120" b="0" i="0" dirty="0">
                <a:solidFill>
                  <a:srgbClr val="1E3A5F"/>
                </a:solidFill>
                <a:latin typeface="Segoe UI"/>
              </a:rPr>
              <a:t>, </a:t>
            </a:r>
            <a:r>
              <a:rPr sz="1120" b="0" i="0" dirty="0" err="1">
                <a:solidFill>
                  <a:srgbClr val="1E3A5F"/>
                </a:solidFill>
                <a:latin typeface="Segoe UI"/>
              </a:rPr>
              <a:t>suy</a:t>
            </a:r>
            <a:r>
              <a:rPr sz="112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20" b="0" i="0" dirty="0" err="1">
                <a:solidFill>
                  <a:srgbClr val="1E3A5F"/>
                </a:solidFill>
                <a:latin typeface="Segoe UI"/>
              </a:rPr>
              <a:t>luận</a:t>
            </a:r>
            <a:r>
              <a:rPr sz="1120" b="0" i="0" dirty="0">
                <a:solidFill>
                  <a:srgbClr val="1E3A5F"/>
                </a:solidFill>
                <a:latin typeface="Segoe UI"/>
              </a:rPr>
              <a:t> MLP (&lt; 1 </a:t>
            </a:r>
            <a:r>
              <a:rPr sz="1120" b="0" i="0" dirty="0" err="1">
                <a:solidFill>
                  <a:srgbClr val="1E3A5F"/>
                </a:solidFill>
                <a:latin typeface="Segoe UI"/>
              </a:rPr>
              <a:t>ms</a:t>
            </a:r>
            <a:r>
              <a:rPr sz="1120" b="0" i="0" dirty="0">
                <a:solidFill>
                  <a:srgbClr val="1E3A5F"/>
                </a:solidFill>
                <a:latin typeface="Segoe UI"/>
              </a:rPr>
              <a:t>) </a:t>
            </a:r>
            <a:r>
              <a:rPr sz="1120" b="0" i="0" dirty="0" err="1">
                <a:solidFill>
                  <a:srgbClr val="1E3A5F"/>
                </a:solidFill>
                <a:latin typeface="Segoe UI"/>
              </a:rPr>
              <a:t>trên</a:t>
            </a:r>
            <a:r>
              <a:rPr sz="1120" b="0" i="0" dirty="0">
                <a:solidFill>
                  <a:srgbClr val="1E3A5F"/>
                </a:solidFill>
                <a:latin typeface="Segoe UI"/>
              </a:rPr>
              <a:t> ESP32-S3; YOLOv5n </a:t>
            </a:r>
            <a:r>
              <a:rPr sz="1120" b="0" i="0" dirty="0" err="1">
                <a:solidFill>
                  <a:srgbClr val="1E3A5F"/>
                </a:solidFill>
                <a:latin typeface="Segoe UI"/>
              </a:rPr>
              <a:t>trên</a:t>
            </a:r>
            <a:r>
              <a:rPr sz="112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20" b="0" i="0" dirty="0" err="1">
                <a:solidFill>
                  <a:srgbClr val="1E3A5F"/>
                </a:solidFill>
                <a:latin typeface="Segoe UI"/>
              </a:rPr>
              <a:t>nhân</a:t>
            </a:r>
            <a:r>
              <a:rPr sz="1120" b="0" i="0" dirty="0">
                <a:solidFill>
                  <a:srgbClr val="1E3A5F"/>
                </a:solidFill>
                <a:latin typeface="Segoe UI"/>
              </a:rPr>
              <a:t> KPU K230.</a:t>
            </a:r>
          </a:p>
        </p:txBody>
      </p:sp>
      <p:sp>
        <p:nvSpPr>
          <p:cNvPr id="21" name="Oval 20"/>
          <p:cNvSpPr/>
          <p:nvPr/>
        </p:nvSpPr>
        <p:spPr>
          <a:xfrm>
            <a:off x="7635240" y="3877055"/>
            <a:ext cx="329184" cy="329184"/>
          </a:xfrm>
          <a:prstGeom prst="ellipse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74152" y="3858768"/>
            <a:ext cx="3675887" cy="1115568"/>
          </a:xfrm>
          <a:prstGeom prst="rect">
            <a:avLst/>
          </a:prstGeom>
          <a:noFill/>
        </p:spPr>
        <p:txBody>
          <a:bodyPr wrap="square" lIns="0" tIns="0" rIns="18288" bIns="0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80" b="1" i="0">
                <a:solidFill>
                  <a:srgbClr val="0A2540"/>
                </a:solidFill>
                <a:latin typeface="Segoe UI"/>
              </a:rPr>
              <a:t>Tầng Truyền thông &amp; Đám mây</a:t>
            </a:r>
          </a:p>
          <a:p>
            <a:pPr>
              <a:lnSpc>
                <a:spcPct val="118000"/>
              </a:lnSpc>
            </a:pPr>
            <a:r>
              <a:rPr sz="1120" b="0" i="0">
                <a:solidFill>
                  <a:srgbClr val="1E3A5F"/>
                </a:solidFill>
                <a:latin typeface="Segoe UI"/>
              </a:rPr>
              <a:t>Wi-Fi đa mạng NVS, SoftAP, mDNS baonga.local, BLE 5.0, Firebase Realtime DB và cổng khóa nguyên tử TlsGate.</a:t>
            </a:r>
          </a:p>
        </p:txBody>
      </p:sp>
      <p:sp>
        <p:nvSpPr>
          <p:cNvPr id="23" name="Oval 22"/>
          <p:cNvSpPr/>
          <p:nvPr/>
        </p:nvSpPr>
        <p:spPr>
          <a:xfrm>
            <a:off x="7635240" y="5084064"/>
            <a:ext cx="329184" cy="329184"/>
          </a:xfrm>
          <a:prstGeom prst="ellipse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74152" y="5065776"/>
            <a:ext cx="3675887" cy="1115568"/>
          </a:xfrm>
          <a:prstGeom prst="rect">
            <a:avLst/>
          </a:prstGeom>
          <a:noFill/>
        </p:spPr>
        <p:txBody>
          <a:bodyPr wrap="square" lIns="0" tIns="0" rIns="18288" bIns="0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80" b="1" i="0">
                <a:solidFill>
                  <a:srgbClr val="0A2540"/>
                </a:solidFill>
                <a:latin typeface="Segoe UI"/>
              </a:rPr>
              <a:t>Tầng Ứng dụng &amp; Cảnh báo Đa kênh</a:t>
            </a:r>
          </a:p>
          <a:p>
            <a:pPr>
              <a:lnSpc>
                <a:spcPct val="118000"/>
              </a:lnSpc>
            </a:pPr>
            <a:r>
              <a:rPr sz="1120" b="0" i="0">
                <a:solidFill>
                  <a:srgbClr val="1E3A5F"/>
                </a:solidFill>
                <a:latin typeface="Segoe UI"/>
              </a:rPr>
              <a:t>Còi 3V + LED đỏ tại chỗ độc lập mạng; Web Portal nội bộ; Firebase Web App; tin nhắn Telegram Bot &amp; Email HTML Gmail.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50">
        <p:wheel spokes="1"/>
      </p:transition>
    </mc:Choice>
    <mc:Fallback xmlns="">
      <p:transition spd="slow">
        <p:wheel spokes="1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3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6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9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12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65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18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71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0" grpId="0" animBg="1"/>
      <p:bldP spid="11" grpId="0" animBg="1"/>
      <p:bldP spid="12" grpId="0" animBg="1"/>
      <p:bldP spid="13" grpId="0"/>
      <p:bldP spid="1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4754880"/>
          </a:xfrm>
          <a:prstGeom prst="rect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4754880"/>
            <a:ext cx="91440" cy="2103120"/>
          </a:xfrm>
          <a:prstGeom prst="rect">
            <a:avLst/>
          </a:prstGeom>
          <a:solidFill>
            <a:srgbClr val="29B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310896"/>
            <a:ext cx="256032" cy="45720"/>
          </a:xfrm>
          <a:prstGeom prst="rect">
            <a:avLst/>
          </a:prstGeom>
          <a:solidFill>
            <a:srgbClr val="29B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41248" y="219456"/>
            <a:ext cx="7772400" cy="2377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>
                <a:solidFill>
                  <a:srgbClr val="1976D2"/>
                </a:solidFill>
                <a:latin typeface="Segoe UI"/>
              </a:rPr>
              <a:t>CHƯƠNG 2 • GIẢI PHÁP THIẾT KẾ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57200"/>
            <a:ext cx="9006840" cy="713232"/>
          </a:xfrm>
          <a:prstGeom prst="rect">
            <a:avLst/>
          </a:prstGeom>
          <a:noFill/>
        </p:spPr>
        <p:txBody>
          <a:bodyPr wrap="square" lIns="18288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2000" b="1" i="0">
                <a:solidFill>
                  <a:srgbClr val="0A2540"/>
                </a:solidFill>
                <a:latin typeface="Segoe UI"/>
              </a:rPr>
              <a:t>SƠ ĐỒ KHỐI TỔNG THỂ HỆ THỐNG ĐA PHƯƠNG THỨC</a:t>
            </a:r>
          </a:p>
          <a:p>
            <a:pPr>
              <a:lnSpc>
                <a:spcPct val="115000"/>
              </a:lnSpc>
            </a:pPr>
            <a:r>
              <a:rPr sz="1100" b="0" i="0">
                <a:solidFill>
                  <a:srgbClr val="607D9F"/>
                </a:solidFill>
                <a:latin typeface="Segoe UI"/>
              </a:rPr>
              <a:t>Phối hợp chặt chẽ giữa Phân hệ Thiết bị đeo thông minh và Phân hệ Camera AI giám sát phòng</a:t>
            </a:r>
          </a:p>
        </p:txBody>
      </p:sp>
      <p:pic>
        <p:nvPicPr>
          <p:cNvPr id="8" name="Picture 7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82528" y="219456"/>
            <a:ext cx="694944" cy="6949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555480" y="347472"/>
            <a:ext cx="1463040" cy="4389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950" b="1" i="0">
                <a:solidFill>
                  <a:srgbClr val="0D47A1"/>
                </a:solidFill>
                <a:latin typeface="Segoe UI"/>
              </a:rPr>
              <a:t>ICTU • K23A
NHÓM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25296"/>
            <a:ext cx="11274552" cy="13716"/>
          </a:xfrm>
          <a:prstGeom prst="rect">
            <a:avLst/>
          </a:prstGeom>
          <a:solidFill>
            <a:srgbClr val="D2E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02920" y="6510528"/>
            <a:ext cx="11274552" cy="13716"/>
          </a:xfrm>
          <a:prstGeom prst="rect">
            <a:avLst/>
          </a:prstGeom>
          <a:solidFill>
            <a:srgbClr val="D2E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02920" y="6501384"/>
            <a:ext cx="2684417" cy="32004"/>
          </a:xfrm>
          <a:prstGeom prst="rect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2920" y="6567936"/>
            <a:ext cx="7772400" cy="196079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>
              <a:lnSpc>
                <a:spcPct val="120000"/>
              </a:lnSpc>
            </a:pPr>
            <a:r>
              <a:rPr sz="950" b="0" i="0" dirty="0" err="1">
                <a:solidFill>
                  <a:srgbClr val="607D9F"/>
                </a:solidFill>
                <a:latin typeface="Segoe UI"/>
              </a:rPr>
              <a:t>Đề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tài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: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Hệ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thống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IoT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Phát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hiện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và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Cảnh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báo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Té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ngã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lang="en-US" sz="950" dirty="0">
                <a:solidFill>
                  <a:srgbClr val="607D9F"/>
                </a:solidFill>
                <a:latin typeface="Segoe UI"/>
              </a:rPr>
              <a:t>•  Marine </a:t>
            </a:r>
            <a:r>
              <a:rPr lang="en-US" sz="950" dirty="0" err="1">
                <a:solidFill>
                  <a:srgbClr val="607D9F"/>
                </a:solidFill>
                <a:latin typeface="Segoe UI"/>
              </a:rPr>
              <a:t>Fullstack</a:t>
            </a:r>
            <a:r>
              <a:rPr lang="en-US" sz="950" dirty="0">
                <a:solidFill>
                  <a:srgbClr val="607D9F"/>
                </a:solidFill>
                <a:latin typeface="Segoe UI"/>
              </a:rPr>
              <a:t> System</a:t>
            </a:r>
            <a:endParaRPr sz="950" b="0" i="0" dirty="0">
              <a:solidFill>
                <a:srgbClr val="607D9F"/>
              </a:solidFill>
              <a:latin typeface="Segoe U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241280" y="6547104"/>
            <a:ext cx="1536192" cy="2377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50" b="1" i="0">
                <a:solidFill>
                  <a:srgbClr val="0D47A1"/>
                </a:solidFill>
                <a:latin typeface="Segoe UI"/>
              </a:rPr>
              <a:t>05 / 21</a:t>
            </a:r>
          </a:p>
        </p:txBody>
      </p:sp>
      <p:pic>
        <p:nvPicPr>
          <p:cNvPr id="15" name="Picture 14" descr="fig_2_1_block_dia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661440"/>
            <a:ext cx="6995160" cy="411119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02920" y="6080759"/>
            <a:ext cx="6995160" cy="25603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1">
                <a:solidFill>
                  <a:srgbClr val="607D9F"/>
                </a:solidFill>
                <a:latin typeface="Segoe UI"/>
              </a:rPr>
              <a:t>Hình 2.1. Sơ đồ khối tổng thể hệ thống IoT phát hiện té ngã đa phương thức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80960" y="1453896"/>
            <a:ext cx="45720" cy="2258568"/>
          </a:xfrm>
          <a:prstGeom prst="rect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845552" y="1417320"/>
            <a:ext cx="3886200" cy="233172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1320" b="1" i="0">
                <a:solidFill>
                  <a:srgbClr val="0D47A1"/>
                </a:solidFill>
                <a:latin typeface="Segoe UI"/>
              </a:rPr>
              <a:t>PHÂN HỆ 1: THIẾT BỊ ĐEO (WEARABLE NODE)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>
                <a:solidFill>
                  <a:srgbClr val="0A2540"/>
                </a:solidFill>
                <a:latin typeface="Segoe UI"/>
              </a:rPr>
              <a:t>▸  Vi điều khiển: </a:t>
            </a:r>
            <a:r>
              <a:rPr sz="1140" b="0" i="0">
                <a:solidFill>
                  <a:srgbClr val="1E3A5F"/>
                </a:solidFill>
                <a:latin typeface="Segoe UI"/>
              </a:rPr>
              <a:t>ESP32-S3 SuperMini (Xtensa LX7 80MHz, 4MB Flash, 2MB QSPI PSRAM).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>
                <a:solidFill>
                  <a:srgbClr val="0A2540"/>
                </a:solidFill>
                <a:latin typeface="Segoe UI"/>
              </a:rPr>
              <a:t>▸  Cảm biến: </a:t>
            </a:r>
            <a:r>
              <a:rPr sz="1140" b="0" i="0">
                <a:solidFill>
                  <a:srgbClr val="1E3A5F"/>
                </a:solidFill>
                <a:latin typeface="Segoe UI"/>
              </a:rPr>
              <a:t>MPU6050 6 trục (GPIO8/9/7) + Chạm điện dung TTP223 (GPIO4).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>
                <a:solidFill>
                  <a:srgbClr val="0A2540"/>
                </a:solidFill>
                <a:latin typeface="Segoe UI"/>
              </a:rPr>
              <a:t>▸  Cảnh báo &amp; Nguồn: </a:t>
            </a:r>
            <a:r>
              <a:rPr sz="1140" b="0" i="0">
                <a:solidFill>
                  <a:srgbClr val="1E3A5F"/>
                </a:solidFill>
                <a:latin typeface="Segoe UI"/>
              </a:rPr>
              <a:t>Còi BZ1 qua S8050 (GPIO5), LED D3 (GPIO6), đo pin VSW (GPIO1).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80960" y="3968496"/>
            <a:ext cx="45720" cy="2258568"/>
          </a:xfrm>
          <a:prstGeom prst="rect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845552" y="3931920"/>
            <a:ext cx="3886200" cy="233172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1320" b="1" i="0">
                <a:solidFill>
                  <a:srgbClr val="1976D2"/>
                </a:solidFill>
                <a:latin typeface="Segoe UI"/>
              </a:rPr>
              <a:t>PHÂN HỆ 2: NHÁNH CAMERA AI (K230 + BRIDGE)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>
                <a:solidFill>
                  <a:srgbClr val="0A2540"/>
                </a:solidFill>
                <a:latin typeface="Segoe UI"/>
              </a:rPr>
              <a:t>▸  Thị giác AI: </a:t>
            </a:r>
            <a:r>
              <a:rPr sz="1140" b="0" i="0">
                <a:solidFill>
                  <a:srgbClr val="1E3A5F"/>
                </a:solidFill>
                <a:latin typeface="Segoe UI"/>
              </a:rPr>
              <a:t>01Studio CanMV K230 chạy mô hình YOLOv5n + IoU Tracker (26 FPS).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>
                <a:solidFill>
                  <a:srgbClr val="0A2540"/>
                </a:solidFill>
                <a:latin typeface="Segoe UI"/>
              </a:rPr>
              <a:t>▸  Cầu nối mạng: </a:t>
            </a:r>
            <a:r>
              <a:rPr sz="1140" b="0" i="0">
                <a:solidFill>
                  <a:srgbClr val="1E3A5F"/>
                </a:solidFill>
                <a:latin typeface="Segoe UI"/>
              </a:rPr>
              <a:t>ESP32-S3 DevKitC-1 N16R8 giao tiếp qua UART1 tốc độ 921600 baud.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>
                <a:solidFill>
                  <a:srgbClr val="0A2540"/>
                </a:solidFill>
                <a:latin typeface="Segoe UI"/>
              </a:rPr>
              <a:t>▸  Luồng ảnh JPEG: </a:t>
            </a:r>
            <a:r>
              <a:rPr sz="1140" b="0" i="0">
                <a:solidFill>
                  <a:srgbClr val="1E3A5F"/>
                </a:solidFill>
                <a:latin typeface="Segoe UI"/>
              </a:rPr>
              <a:t>Báo sự kiện qua UART (&lt;5 ms), tải ảnh qua vé một lần SNAP Ticket.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5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3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6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9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12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65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18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71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0" grpId="0" animBg="1"/>
      <p:bldP spid="11" grpId="0" animBg="1"/>
      <p:bldP spid="12" grpId="0" animBg="1"/>
      <p:bldP spid="13" grpId="0"/>
      <p:bldP spid="1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4754880"/>
          </a:xfrm>
          <a:prstGeom prst="rect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4754880"/>
            <a:ext cx="91440" cy="2103120"/>
          </a:xfrm>
          <a:prstGeom prst="rect">
            <a:avLst/>
          </a:prstGeom>
          <a:solidFill>
            <a:srgbClr val="29B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310896"/>
            <a:ext cx="256032" cy="45720"/>
          </a:xfrm>
          <a:prstGeom prst="rect">
            <a:avLst/>
          </a:prstGeom>
          <a:solidFill>
            <a:srgbClr val="29B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41248" y="219456"/>
            <a:ext cx="7772400" cy="2377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>
                <a:solidFill>
                  <a:srgbClr val="1976D2"/>
                </a:solidFill>
                <a:latin typeface="Segoe UI"/>
              </a:rPr>
              <a:t>CHƯƠNG 2 • LỰA CHỌN LINH KIỆN &amp; PINOUT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57200"/>
            <a:ext cx="9006840" cy="713232"/>
          </a:xfrm>
          <a:prstGeom prst="rect">
            <a:avLst/>
          </a:prstGeom>
          <a:noFill/>
        </p:spPr>
        <p:txBody>
          <a:bodyPr wrap="square" lIns="18288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2000" b="1" i="0">
                <a:solidFill>
                  <a:srgbClr val="0A2540"/>
                </a:solidFill>
                <a:latin typeface="Segoe UI"/>
              </a:rPr>
              <a:t>LINH KIỆN CỐT LÕI &amp; BẢNG PHÂN BỔ CHÂN TÍN HIỆU</a:t>
            </a:r>
          </a:p>
          <a:p>
            <a:pPr>
              <a:lnSpc>
                <a:spcPct val="115000"/>
              </a:lnSpc>
            </a:pPr>
            <a:r>
              <a:rPr sz="1100" b="0" i="0">
                <a:solidFill>
                  <a:srgbClr val="607D9F"/>
                </a:solidFill>
                <a:latin typeface="Segoe UI"/>
              </a:rPr>
              <a:t>Tối ưu hóa phần cứng cho thiết bị đeo nhỏ gọn, tránh chân Strapping và hỗ trợ đánh thức Deep Sleep</a:t>
            </a:r>
          </a:p>
        </p:txBody>
      </p:sp>
      <p:pic>
        <p:nvPicPr>
          <p:cNvPr id="8" name="Picture 7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82528" y="219456"/>
            <a:ext cx="694944" cy="6949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555480" y="347472"/>
            <a:ext cx="1463040" cy="4389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950" b="1" i="0">
                <a:solidFill>
                  <a:srgbClr val="0D47A1"/>
                </a:solidFill>
                <a:latin typeface="Segoe UI"/>
              </a:rPr>
              <a:t>ICTU • K23A
NHÓM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25296"/>
            <a:ext cx="11274552" cy="13716"/>
          </a:xfrm>
          <a:prstGeom prst="rect">
            <a:avLst/>
          </a:prstGeom>
          <a:solidFill>
            <a:srgbClr val="D2E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02920" y="6510528"/>
            <a:ext cx="11274552" cy="13716"/>
          </a:xfrm>
          <a:prstGeom prst="rect">
            <a:avLst/>
          </a:prstGeom>
          <a:solidFill>
            <a:srgbClr val="D2E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02920" y="6501384"/>
            <a:ext cx="3221300" cy="32004"/>
          </a:xfrm>
          <a:prstGeom prst="rect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2920" y="6567936"/>
            <a:ext cx="7772400" cy="196079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>
              <a:lnSpc>
                <a:spcPct val="120000"/>
              </a:lnSpc>
            </a:pPr>
            <a:r>
              <a:rPr sz="950" b="0" i="0" dirty="0" err="1">
                <a:solidFill>
                  <a:srgbClr val="607D9F"/>
                </a:solidFill>
                <a:latin typeface="Segoe UI"/>
              </a:rPr>
              <a:t>Đề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tài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: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Hệ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thống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IoT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Phát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hiện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và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Cảnh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báo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Té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ngã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lang="en-US" sz="950" dirty="0">
                <a:solidFill>
                  <a:srgbClr val="607D9F"/>
                </a:solidFill>
                <a:latin typeface="Segoe UI"/>
              </a:rPr>
              <a:t>•  Marine </a:t>
            </a:r>
            <a:r>
              <a:rPr lang="en-US" sz="950" dirty="0" err="1">
                <a:solidFill>
                  <a:srgbClr val="607D9F"/>
                </a:solidFill>
                <a:latin typeface="Segoe UI"/>
              </a:rPr>
              <a:t>Fullstack</a:t>
            </a:r>
            <a:r>
              <a:rPr lang="en-US" sz="950" dirty="0">
                <a:solidFill>
                  <a:srgbClr val="607D9F"/>
                </a:solidFill>
                <a:latin typeface="Segoe UI"/>
              </a:rPr>
              <a:t> System</a:t>
            </a:r>
            <a:endParaRPr sz="950" b="0" i="0" dirty="0">
              <a:solidFill>
                <a:srgbClr val="607D9F"/>
              </a:solidFill>
              <a:latin typeface="Segoe U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241280" y="6547104"/>
            <a:ext cx="1536192" cy="2377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50" b="1" i="0">
                <a:solidFill>
                  <a:srgbClr val="0D47A1"/>
                </a:solidFill>
                <a:latin typeface="Segoe UI"/>
              </a:rPr>
              <a:t>06 / 21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1426464"/>
            <a:ext cx="45720" cy="4818888"/>
          </a:xfrm>
          <a:prstGeom prst="rect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67512" y="1389888"/>
            <a:ext cx="4800600" cy="489204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1320" b="1" i="0" dirty="0">
                <a:solidFill>
                  <a:srgbClr val="0D47A1"/>
                </a:solidFill>
                <a:latin typeface="Segoe UI"/>
              </a:rPr>
              <a:t>LÝ DO LỰA CHỌN LINH KIỆN TRÊN PCB REV 1.1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 dirty="0">
                <a:solidFill>
                  <a:srgbClr val="0A2540"/>
                </a:solidFill>
                <a:latin typeface="Segoe UI"/>
              </a:rPr>
              <a:t>▸  ESP32-S3 </a:t>
            </a:r>
            <a:r>
              <a:rPr sz="1160" b="1" i="0" dirty="0" err="1">
                <a:solidFill>
                  <a:srgbClr val="0A2540"/>
                </a:solidFill>
                <a:latin typeface="Segoe UI"/>
              </a:rPr>
              <a:t>SuperMini</a:t>
            </a:r>
            <a:r>
              <a:rPr sz="1160" b="1" i="0" dirty="0">
                <a:solidFill>
                  <a:srgbClr val="0A2540"/>
                </a:solidFill>
                <a:latin typeface="Segoe UI"/>
              </a:rPr>
              <a:t> (U1):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Kích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thước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chỉ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22,5×18 mm;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tích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hợp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sẵn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2 MB PSRAM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giúp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chạy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mượt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TLS;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dòng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ngủ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sâu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Deep Sleep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chỉ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~8 µA.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 dirty="0">
                <a:solidFill>
                  <a:srgbClr val="0A2540"/>
                </a:solidFill>
                <a:latin typeface="Segoe UI"/>
              </a:rPr>
              <a:t>▸  GY-521 MPU6050 (U2):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Thang đo ±4g (8192 LSB/g) đúng với dữ liệu huấn luyện mô hình; Gyro ±500°/s; bộ lọc số DLPF ~21 Hz.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 dirty="0">
                <a:solidFill>
                  <a:srgbClr val="0A2540"/>
                </a:solidFill>
                <a:latin typeface="Segoe UI"/>
              </a:rPr>
              <a:t>▸  </a:t>
            </a:r>
            <a:r>
              <a:rPr sz="1160" b="1" i="0" dirty="0" err="1">
                <a:solidFill>
                  <a:srgbClr val="0A2540"/>
                </a:solidFill>
                <a:latin typeface="Segoe UI"/>
              </a:rPr>
              <a:t>Cảm</a:t>
            </a:r>
            <a:r>
              <a:rPr sz="1160" b="1" i="0" dirty="0">
                <a:solidFill>
                  <a:srgbClr val="0A2540"/>
                </a:solidFill>
                <a:latin typeface="Segoe UI"/>
              </a:rPr>
              <a:t> </a:t>
            </a:r>
            <a:r>
              <a:rPr sz="1160" b="1" i="0" dirty="0" err="1">
                <a:solidFill>
                  <a:srgbClr val="0A2540"/>
                </a:solidFill>
                <a:latin typeface="Segoe UI"/>
              </a:rPr>
              <a:t>biến</a:t>
            </a:r>
            <a:r>
              <a:rPr sz="1160" b="1" i="0" dirty="0">
                <a:solidFill>
                  <a:srgbClr val="0A2540"/>
                </a:solidFill>
                <a:latin typeface="Segoe UI"/>
              </a:rPr>
              <a:t> </a:t>
            </a:r>
            <a:r>
              <a:rPr sz="1160" b="1" i="0" dirty="0" err="1">
                <a:solidFill>
                  <a:srgbClr val="0A2540"/>
                </a:solidFill>
                <a:latin typeface="Segoe UI"/>
              </a:rPr>
              <a:t>chạm</a:t>
            </a:r>
            <a:r>
              <a:rPr sz="1160" b="1" i="0" dirty="0">
                <a:solidFill>
                  <a:srgbClr val="0A2540"/>
                </a:solidFill>
                <a:latin typeface="Segoe UI"/>
              </a:rPr>
              <a:t> TTP223 (U3):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Triệt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tiêu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hoàn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toàn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hiện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tượng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dội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phím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cơ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học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;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hỗ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trợ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1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chạm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tắt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còi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, 3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chạm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hiệu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chuẩn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3D,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giữ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3s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ngủ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sâu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 dirty="0">
                <a:solidFill>
                  <a:srgbClr val="0A2540"/>
                </a:solidFill>
                <a:latin typeface="Segoe UI"/>
              </a:rPr>
              <a:t>▸  Transistor S8050 (Q1) + Diode 1N4148 (D1):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Đệm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dòng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kích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còi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3V BZ1 an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toàn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,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có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trở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kéo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xuống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R2=10kΩ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chống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kêu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lúc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khởi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động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 dirty="0">
                <a:solidFill>
                  <a:srgbClr val="0A2540"/>
                </a:solidFill>
                <a:latin typeface="Segoe UI"/>
              </a:rPr>
              <a:t>▸  Diode Schottky 1N5817 (D2) + </a:t>
            </a:r>
            <a:r>
              <a:rPr sz="1160" b="1" i="0" dirty="0" err="1">
                <a:solidFill>
                  <a:srgbClr val="0A2540"/>
                </a:solidFill>
                <a:latin typeface="Segoe UI"/>
              </a:rPr>
              <a:t>Cầu</a:t>
            </a:r>
            <a:r>
              <a:rPr sz="1160" b="1" i="0" dirty="0">
                <a:solidFill>
                  <a:srgbClr val="0A2540"/>
                </a:solidFill>
                <a:latin typeface="Segoe UI"/>
              </a:rPr>
              <a:t> R4/R5: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Chống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lắp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ngược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cực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pin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với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sụt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áp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thấp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(~0,25V);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cầu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phân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áp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100kΩ/100kΩ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đo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áp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VSW.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15000" y="1389888"/>
            <a:ext cx="6035040" cy="32918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 i="0">
                <a:solidFill>
                  <a:srgbClr val="0A2540"/>
                </a:solidFill>
                <a:latin typeface="Segoe UI"/>
              </a:rPr>
              <a:t>BẢNG PHÂN BỔ CHÂN TÍN HIỆU (ESP32-S3 SUPERMINI PINOUT)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5715000" y="1792224"/>
          <a:ext cx="6035040" cy="4434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83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54355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Segoe UI"/>
                        </a:rPr>
                        <a:t>Chân GPIO</a:t>
                      </a:r>
                    </a:p>
                  </a:txBody>
                  <a:tcPr anchor="ctr"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Segoe UI"/>
                        </a:rPr>
                        <a:t>Mạng (Net)</a:t>
                      </a:r>
                    </a:p>
                  </a:txBody>
                  <a:tcPr anchor="ctr"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Segoe UI"/>
                        </a:rPr>
                        <a:t>Chức năng &amp; Lưu ý thiết kế phần cứng</a:t>
                      </a:r>
                    </a:p>
                  </a:txBody>
                  <a:tcPr anchor="ctr">
                    <a:solidFill>
                      <a:srgbClr val="0D47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4355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0D47A1"/>
                          </a:solidFill>
                          <a:latin typeface="Segoe UI"/>
                        </a:rPr>
                        <a:t>GPIO8 / GPIO9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3A5F"/>
                          </a:solidFill>
                          <a:latin typeface="Segoe UI"/>
                        </a:rPr>
                        <a:t>I2C_SDA / SCL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E3A5F"/>
                          </a:solidFill>
                          <a:latin typeface="Segoe UI"/>
                        </a:rPr>
                        <a:t>Giao tiếp I2C Fast Mode 400 kHz đọc cụm 14 byte MPU6050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4355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0D47A1"/>
                          </a:solidFill>
                          <a:latin typeface="Segoe UI"/>
                        </a:rPr>
                        <a:t>GPIO7 (RTC)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3A5F"/>
                          </a:solidFill>
                          <a:latin typeface="Segoe UI"/>
                        </a:rPr>
                        <a:t>MPU_INT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E3A5F"/>
                          </a:solidFill>
                          <a:latin typeface="Segoe UI"/>
                        </a:rPr>
                        <a:t>Ngắt mẫu mới DATA_READY 50 Hz &amp; Đánh thức Deep Sleep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4355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0D47A1"/>
                          </a:solidFill>
                          <a:latin typeface="Segoe UI"/>
                        </a:rPr>
                        <a:t>GPIO4 (RTC)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3A5F"/>
                          </a:solidFill>
                          <a:latin typeface="Segoe UI"/>
                        </a:rPr>
                        <a:t>TOUCH_OUT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E3A5F"/>
                          </a:solidFill>
                          <a:latin typeface="Segoe UI"/>
                        </a:rPr>
                        <a:t>Tín hiệu chạm TTP223 (Active HIGH, miền nguồn RTC IO)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54355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0D47A1"/>
                          </a:solidFill>
                          <a:latin typeface="Segoe UI"/>
                        </a:rPr>
                        <a:t>GPIO5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3A5F"/>
                          </a:solidFill>
                          <a:latin typeface="Segoe UI"/>
                        </a:rPr>
                        <a:t>BUZZ_CTRL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E3A5F"/>
                          </a:solidFill>
                          <a:latin typeface="Segoe UI"/>
                        </a:rPr>
                        <a:t>Kích dẫn NPN S8050 bật còi 3V BZ1 (có R2=10kΩ kéo xuống)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54355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0D47A1"/>
                          </a:solidFill>
                          <a:latin typeface="Segoe UI"/>
                        </a:rPr>
                        <a:t>GPIO6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3A5F"/>
                          </a:solidFill>
                          <a:latin typeface="Segoe UI"/>
                        </a:rPr>
                        <a:t>LED_CTRL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E3A5F"/>
                          </a:solidFill>
                          <a:latin typeface="Segoe UI"/>
                        </a:rPr>
                        <a:t>Điều khiển LED đỏ cảnh báo 5mm D3 qua trở hạn dòng 330 Ω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54355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0D47A1"/>
                          </a:solidFill>
                          <a:latin typeface="Segoe UI"/>
                        </a:rPr>
                        <a:t>GPIO48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3A5F"/>
                          </a:solidFill>
                          <a:latin typeface="Segoe UI"/>
                        </a:rPr>
                        <a:t>RGB_STATUS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E3A5F"/>
                          </a:solidFill>
                          <a:latin typeface="Segoe UI"/>
                        </a:rPr>
                        <a:t>LED RGB WS2812 báo trạng thái Wi-Fi / Cloud / SoftAP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54355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0D47A1"/>
                          </a:solidFill>
                          <a:latin typeface="Segoe UI"/>
                        </a:rPr>
                        <a:t>GPIO1 (ADC1)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3A5F"/>
                          </a:solidFill>
                          <a:latin typeface="Segoe UI"/>
                        </a:rPr>
                        <a:t>VBAT_ADC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E3A5F"/>
                          </a:solidFill>
                          <a:latin typeface="Segoe UI"/>
                        </a:rPr>
                        <a:t>Đo điện áp pin VSW qua cầu phân áp 100kΩ/100kΩ (nhân 2,0)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50">
        <p:fade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3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6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9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12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65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18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71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0" grpId="0" animBg="1"/>
      <p:bldP spid="11" grpId="0" animBg="1"/>
      <p:bldP spid="12" grpId="0" animBg="1"/>
      <p:bldP spid="13" grpId="0"/>
      <p:bldP spid="1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4754880"/>
          </a:xfrm>
          <a:prstGeom prst="rect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4754880"/>
            <a:ext cx="91440" cy="2103120"/>
          </a:xfrm>
          <a:prstGeom prst="rect">
            <a:avLst/>
          </a:prstGeom>
          <a:solidFill>
            <a:srgbClr val="29B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310896"/>
            <a:ext cx="256032" cy="45720"/>
          </a:xfrm>
          <a:prstGeom prst="rect">
            <a:avLst/>
          </a:prstGeom>
          <a:solidFill>
            <a:srgbClr val="29B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41248" y="219456"/>
            <a:ext cx="7772400" cy="2377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>
                <a:solidFill>
                  <a:srgbClr val="1976D2"/>
                </a:solidFill>
                <a:latin typeface="Segoe UI"/>
              </a:rPr>
              <a:t>CHƯƠNG 2 • THIẾT KẾ SƠ ĐỒ NGUYÊN LÝ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57200"/>
            <a:ext cx="9006840" cy="594458"/>
          </a:xfrm>
          <a:prstGeom prst="rect">
            <a:avLst/>
          </a:prstGeom>
          <a:noFill/>
        </p:spPr>
        <p:txBody>
          <a:bodyPr wrap="square" lIns="18288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2000" b="1" i="0" dirty="0">
                <a:solidFill>
                  <a:srgbClr val="0A2540"/>
                </a:solidFill>
                <a:latin typeface="Segoe UI"/>
              </a:rPr>
              <a:t>SƠ ĐỒ NGUYÊN LÝ MẠCH THIẾT BỊ ĐEO</a:t>
            </a:r>
          </a:p>
          <a:p>
            <a:pPr>
              <a:lnSpc>
                <a:spcPct val="115000"/>
              </a:lnSpc>
            </a:pPr>
            <a:r>
              <a:rPr sz="1100" b="0" i="0" dirty="0" err="1">
                <a:solidFill>
                  <a:srgbClr val="607D9F"/>
                </a:solidFill>
                <a:latin typeface="Segoe UI"/>
              </a:rPr>
              <a:t>Thiết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kế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chuẩn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hóa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trên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KiCad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 10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đạt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kiểm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tra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quy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tắc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điện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học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 ERC = 0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lỗi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, 0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cảnh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báo</a:t>
            </a:r>
            <a:endParaRPr sz="1100" b="0" i="0" dirty="0">
              <a:solidFill>
                <a:srgbClr val="607D9F"/>
              </a:solidFill>
              <a:latin typeface="Segoe UI"/>
            </a:endParaRPr>
          </a:p>
        </p:txBody>
      </p:sp>
      <p:pic>
        <p:nvPicPr>
          <p:cNvPr id="8" name="Picture 7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82528" y="219456"/>
            <a:ext cx="694944" cy="6949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555480" y="347472"/>
            <a:ext cx="1463040" cy="4389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950" b="1" i="0">
                <a:solidFill>
                  <a:srgbClr val="0D47A1"/>
                </a:solidFill>
                <a:latin typeface="Segoe UI"/>
              </a:rPr>
              <a:t>ICTU • K23A
NHÓM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25296"/>
            <a:ext cx="11274552" cy="13716"/>
          </a:xfrm>
          <a:prstGeom prst="rect">
            <a:avLst/>
          </a:prstGeom>
          <a:solidFill>
            <a:srgbClr val="D2E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02920" y="6510528"/>
            <a:ext cx="11274552" cy="13716"/>
          </a:xfrm>
          <a:prstGeom prst="rect">
            <a:avLst/>
          </a:prstGeom>
          <a:solidFill>
            <a:srgbClr val="D2E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02920" y="6501384"/>
            <a:ext cx="3758184" cy="32004"/>
          </a:xfrm>
          <a:prstGeom prst="rect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2920" y="6567936"/>
            <a:ext cx="7772400" cy="196079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>
              <a:lnSpc>
                <a:spcPct val="120000"/>
              </a:lnSpc>
            </a:pPr>
            <a:r>
              <a:rPr sz="950" b="0" i="0" dirty="0" err="1">
                <a:solidFill>
                  <a:srgbClr val="607D9F"/>
                </a:solidFill>
                <a:latin typeface="Segoe UI"/>
              </a:rPr>
              <a:t>Đề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tài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: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Hệ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thống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IoT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Phát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hiện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và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Cảnh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báo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Té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ngã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lang="en-US" sz="950" dirty="0">
                <a:solidFill>
                  <a:srgbClr val="607D9F"/>
                </a:solidFill>
                <a:latin typeface="Segoe UI"/>
              </a:rPr>
              <a:t>•  Marine </a:t>
            </a:r>
            <a:r>
              <a:rPr lang="en-US" sz="950" dirty="0" err="1">
                <a:solidFill>
                  <a:srgbClr val="607D9F"/>
                </a:solidFill>
                <a:latin typeface="Segoe UI"/>
              </a:rPr>
              <a:t>Fullstack</a:t>
            </a:r>
            <a:r>
              <a:rPr lang="en-US" sz="950" dirty="0">
                <a:solidFill>
                  <a:srgbClr val="607D9F"/>
                </a:solidFill>
                <a:latin typeface="Segoe UI"/>
              </a:rPr>
              <a:t> System</a:t>
            </a:r>
            <a:endParaRPr sz="950" b="0" i="0" dirty="0">
              <a:solidFill>
                <a:srgbClr val="607D9F"/>
              </a:solidFill>
              <a:latin typeface="Segoe U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241280" y="6547104"/>
            <a:ext cx="1536192" cy="2377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50" b="1" i="0">
                <a:solidFill>
                  <a:srgbClr val="0D47A1"/>
                </a:solidFill>
                <a:latin typeface="Segoe UI"/>
              </a:rPr>
              <a:t>07 / 21</a:t>
            </a:r>
          </a:p>
        </p:txBody>
      </p:sp>
      <p:pic>
        <p:nvPicPr>
          <p:cNvPr id="15" name="Picture 14" descr="fig_2_2_schemati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5873" y="1325880"/>
            <a:ext cx="6752173" cy="477316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02920" y="6099048"/>
            <a:ext cx="7498079" cy="25603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1">
                <a:solidFill>
                  <a:srgbClr val="607D9F"/>
                </a:solidFill>
                <a:latin typeface="Segoe UI"/>
              </a:rPr>
              <a:t>Hình 2.2. Sơ đồ nguyên lý mạch thiết bị đeo phát hiện té ngã (fall_detector.kicad_sch)</a:t>
            </a:r>
          </a:p>
        </p:txBody>
      </p:sp>
      <p:sp>
        <p:nvSpPr>
          <p:cNvPr id="17" name="Oval 16"/>
          <p:cNvSpPr/>
          <p:nvPr/>
        </p:nvSpPr>
        <p:spPr>
          <a:xfrm>
            <a:off x="8183879" y="1527048"/>
            <a:ext cx="329184" cy="329184"/>
          </a:xfrm>
          <a:prstGeom prst="ellipse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22792" y="1508760"/>
            <a:ext cx="3127248" cy="1417320"/>
          </a:xfrm>
          <a:prstGeom prst="rect">
            <a:avLst/>
          </a:prstGeom>
          <a:noFill/>
        </p:spPr>
        <p:txBody>
          <a:bodyPr wrap="square" lIns="0" tIns="0" rIns="18288" bIns="0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80" b="1" i="0">
                <a:solidFill>
                  <a:srgbClr val="0A2540"/>
                </a:solidFill>
                <a:latin typeface="Segoe UI"/>
              </a:rPr>
              <a:t>Đo điện áp pin tại nút VSW trước Diode D2</a:t>
            </a:r>
          </a:p>
          <a:p>
            <a:pPr>
              <a:lnSpc>
                <a:spcPct val="118000"/>
              </a:lnSpc>
            </a:pPr>
            <a:r>
              <a:rPr sz="1120" b="0" i="0">
                <a:solidFill>
                  <a:srgbClr val="1E3A5F"/>
                </a:solidFill>
                <a:latin typeface="Segoe UI"/>
              </a:rPr>
              <a:t>Cầu phân áp R4/R5 (100kΩ/100kΩ) lấy mẫu trước diode Schottky 1N5817 giúp đo đúng điện áp thực của pin Li-Po (3,3–4,2V) và ngắt hoàn toàn dòng rò khi tắt SW1.</a:t>
            </a:r>
          </a:p>
        </p:txBody>
      </p:sp>
      <p:sp>
        <p:nvSpPr>
          <p:cNvPr id="19" name="Oval 18"/>
          <p:cNvSpPr/>
          <p:nvPr/>
        </p:nvSpPr>
        <p:spPr>
          <a:xfrm>
            <a:off x="8183879" y="3127248"/>
            <a:ext cx="329184" cy="329184"/>
          </a:xfrm>
          <a:prstGeom prst="ellipse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22792" y="3108960"/>
            <a:ext cx="3127248" cy="1417320"/>
          </a:xfrm>
          <a:prstGeom prst="rect">
            <a:avLst/>
          </a:prstGeom>
          <a:noFill/>
        </p:spPr>
        <p:txBody>
          <a:bodyPr wrap="square" lIns="0" tIns="0" rIns="18288" bIns="0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80" b="1" i="0">
                <a:solidFill>
                  <a:srgbClr val="0A2540"/>
                </a:solidFill>
                <a:latin typeface="Segoe UI"/>
              </a:rPr>
              <a:t>Lọc nhiễu nguồn đa tầng (C1 – C4)</a:t>
            </a:r>
          </a:p>
          <a:p>
            <a:pPr>
              <a:lnSpc>
                <a:spcPct val="118000"/>
              </a:lnSpc>
            </a:pPr>
            <a:r>
              <a:rPr sz="1120" b="0" i="0">
                <a:solidFill>
                  <a:srgbClr val="1E3A5F"/>
                </a:solidFill>
                <a:latin typeface="Segoe UI"/>
              </a:rPr>
              <a:t>Tụ hóa C1 (100µF) bù dòng đỉnh khi khối RF Wi-Fi phát sóng; các tụ gốm 100nF (C2, C3, C4) đặt sát chân nguồn U2, U3 và lọc trung bình tín hiệu ADC.</a:t>
            </a:r>
          </a:p>
        </p:txBody>
      </p:sp>
      <p:sp>
        <p:nvSpPr>
          <p:cNvPr id="21" name="Oval 20"/>
          <p:cNvSpPr/>
          <p:nvPr/>
        </p:nvSpPr>
        <p:spPr>
          <a:xfrm>
            <a:off x="8183879" y="4727448"/>
            <a:ext cx="329184" cy="329184"/>
          </a:xfrm>
          <a:prstGeom prst="ellipse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22792" y="4709160"/>
            <a:ext cx="3127248" cy="1417320"/>
          </a:xfrm>
          <a:prstGeom prst="rect">
            <a:avLst/>
          </a:prstGeom>
          <a:noFill/>
        </p:spPr>
        <p:txBody>
          <a:bodyPr wrap="square" lIns="0" tIns="0" rIns="18288" bIns="0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80" b="1" i="0">
                <a:solidFill>
                  <a:srgbClr val="0A2540"/>
                </a:solidFill>
                <a:latin typeface="Segoe UI"/>
              </a:rPr>
              <a:t>Mạch đệm còi có bảo vệ xung ngược</a:t>
            </a:r>
          </a:p>
          <a:p>
            <a:pPr>
              <a:lnSpc>
                <a:spcPct val="118000"/>
              </a:lnSpc>
            </a:pPr>
            <a:r>
              <a:rPr sz="1120" b="0" i="0">
                <a:solidFill>
                  <a:srgbClr val="1E3A5F"/>
                </a:solidFill>
                <a:latin typeface="Segoe UI"/>
              </a:rPr>
              <a:t>Transistor NPN S8050 (Q1) kết hợp diode xung 1N4148 (D1) triệt tiêu sức điện động cảm ứng ngược từ còi BZ1, bảo vệ tuyệt đối chân GPIO5.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50">
        <p:push/>
      </p:transition>
    </mc:Choice>
    <mc:Fallback xmlns="">
      <p:transition spd="slow">
        <p:push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3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6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9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12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65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18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71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0" grpId="0" animBg="1"/>
      <p:bldP spid="11" grpId="0" animBg="1"/>
      <p:bldP spid="12" grpId="0" animBg="1"/>
      <p:bldP spid="13" grpId="0"/>
      <p:bldP spid="1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4754880"/>
          </a:xfrm>
          <a:prstGeom prst="rect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4754880"/>
            <a:ext cx="91440" cy="2103120"/>
          </a:xfrm>
          <a:prstGeom prst="rect">
            <a:avLst/>
          </a:prstGeom>
          <a:solidFill>
            <a:srgbClr val="29B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310896"/>
            <a:ext cx="256032" cy="45720"/>
          </a:xfrm>
          <a:prstGeom prst="rect">
            <a:avLst/>
          </a:prstGeom>
          <a:solidFill>
            <a:srgbClr val="29B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41248" y="219456"/>
            <a:ext cx="7772400" cy="2377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>
                <a:solidFill>
                  <a:srgbClr val="1976D2"/>
                </a:solidFill>
                <a:latin typeface="Segoe UI"/>
              </a:rPr>
              <a:t>CHƯƠNG 2 • THIẾT KẾ MẠCH IN PCB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57200"/>
            <a:ext cx="9006840" cy="713232"/>
          </a:xfrm>
          <a:prstGeom prst="rect">
            <a:avLst/>
          </a:prstGeom>
          <a:noFill/>
        </p:spPr>
        <p:txBody>
          <a:bodyPr wrap="square" lIns="18288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2000" b="1" i="0" dirty="0">
                <a:solidFill>
                  <a:srgbClr val="0A2540"/>
                </a:solidFill>
                <a:latin typeface="Segoe UI"/>
              </a:rPr>
              <a:t>MẠCH IN PCB 2 LỚP (60 × 50 MM) &amp; MÔ HÌNH 3D HOÀN CHỈNH</a:t>
            </a:r>
          </a:p>
          <a:p>
            <a:pPr>
              <a:lnSpc>
                <a:spcPct val="115000"/>
              </a:lnSpc>
            </a:pPr>
            <a:r>
              <a:rPr sz="1100" b="0" i="0" dirty="0" err="1">
                <a:solidFill>
                  <a:srgbClr val="607D9F"/>
                </a:solidFill>
                <a:latin typeface="Segoe UI"/>
              </a:rPr>
              <a:t>Bố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trí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linh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kiện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tối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ưu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,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phủ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đồng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 GND 2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lớp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,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vùng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cấm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sóng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ăng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-ten (Antenna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Keepout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)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và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đi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dây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 Zero-Via</a:t>
            </a:r>
          </a:p>
        </p:txBody>
      </p:sp>
      <p:pic>
        <p:nvPicPr>
          <p:cNvPr id="8" name="Picture 7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82528" y="219456"/>
            <a:ext cx="694944" cy="6949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555480" y="347472"/>
            <a:ext cx="1463040" cy="4389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950" b="1" i="0">
                <a:solidFill>
                  <a:srgbClr val="0D47A1"/>
                </a:solidFill>
                <a:latin typeface="Segoe UI"/>
              </a:rPr>
              <a:t>ICTU • K23A
NHÓM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25296"/>
            <a:ext cx="11274552" cy="13716"/>
          </a:xfrm>
          <a:prstGeom prst="rect">
            <a:avLst/>
          </a:prstGeom>
          <a:solidFill>
            <a:srgbClr val="D2E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02920" y="6510528"/>
            <a:ext cx="11274552" cy="13716"/>
          </a:xfrm>
          <a:prstGeom prst="rect">
            <a:avLst/>
          </a:prstGeom>
          <a:solidFill>
            <a:srgbClr val="D2E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02920" y="6501384"/>
            <a:ext cx="4295067" cy="32004"/>
          </a:xfrm>
          <a:prstGeom prst="rect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2920" y="6567936"/>
            <a:ext cx="7772400" cy="196079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>
              <a:lnSpc>
                <a:spcPct val="120000"/>
              </a:lnSpc>
            </a:pPr>
            <a:r>
              <a:rPr sz="950" b="0" i="0" dirty="0" err="1">
                <a:solidFill>
                  <a:srgbClr val="607D9F"/>
                </a:solidFill>
                <a:latin typeface="Segoe UI"/>
              </a:rPr>
              <a:t>Đề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tài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: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Hệ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thống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IoT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Phát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hiện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và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Cảnh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báo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Té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ngã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lang="en-US" sz="950" dirty="0">
                <a:solidFill>
                  <a:srgbClr val="607D9F"/>
                </a:solidFill>
                <a:latin typeface="Segoe UI"/>
              </a:rPr>
              <a:t>•  Marine </a:t>
            </a:r>
            <a:r>
              <a:rPr lang="en-US" sz="950" dirty="0" err="1">
                <a:solidFill>
                  <a:srgbClr val="607D9F"/>
                </a:solidFill>
                <a:latin typeface="Segoe UI"/>
              </a:rPr>
              <a:t>Fullstack</a:t>
            </a:r>
            <a:r>
              <a:rPr lang="en-US" sz="950" dirty="0">
                <a:solidFill>
                  <a:srgbClr val="607D9F"/>
                </a:solidFill>
                <a:latin typeface="Segoe UI"/>
              </a:rPr>
              <a:t> System</a:t>
            </a:r>
            <a:endParaRPr sz="950" b="0" i="0" dirty="0">
              <a:solidFill>
                <a:srgbClr val="607D9F"/>
              </a:solidFill>
              <a:latin typeface="Segoe U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241280" y="6547104"/>
            <a:ext cx="1536192" cy="2377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50" b="1" i="0">
                <a:solidFill>
                  <a:srgbClr val="0D47A1"/>
                </a:solidFill>
                <a:latin typeface="Segoe UI"/>
              </a:rPr>
              <a:t>08 / 21</a:t>
            </a:r>
          </a:p>
        </p:txBody>
      </p:sp>
      <p:pic>
        <p:nvPicPr>
          <p:cNvPr id="15" name="Picture 14" descr="fig_2_3_pcb_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439143"/>
            <a:ext cx="3886200" cy="3321345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02920" y="4846320"/>
            <a:ext cx="3886200" cy="25603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1">
                <a:solidFill>
                  <a:srgbClr val="607D9F"/>
                </a:solidFill>
                <a:latin typeface="Segoe UI"/>
              </a:rPr>
              <a:t>Hình 2.3. Mô hình 3D mặt trên (Top View)</a:t>
            </a:r>
          </a:p>
        </p:txBody>
      </p:sp>
      <p:pic>
        <p:nvPicPr>
          <p:cNvPr id="17" name="Picture 16" descr="fig_2_4_pcb_is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560" y="1597302"/>
            <a:ext cx="3886200" cy="300502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480560" y="4846320"/>
            <a:ext cx="3886200" cy="25603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1">
                <a:solidFill>
                  <a:srgbClr val="607D9F"/>
                </a:solidFill>
                <a:latin typeface="Segoe UI"/>
              </a:rPr>
              <a:t>Hình 2.4. Mô hình 3D góc nghiêng (Isometric)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4360" y="5230368"/>
            <a:ext cx="594360" cy="45720"/>
          </a:xfrm>
          <a:prstGeom prst="rect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94360" y="5303520"/>
            <a:ext cx="2423160" cy="1024127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2050" b="1" i="0">
                <a:solidFill>
                  <a:srgbClr val="0D47A1"/>
                </a:solidFill>
                <a:latin typeface="Segoe UI"/>
              </a:rPr>
              <a:t>60 × 50 mm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140" b="1" i="0">
                <a:solidFill>
                  <a:srgbClr val="0A2540"/>
                </a:solidFill>
                <a:latin typeface="Segoe UI"/>
              </a:rPr>
              <a:t>Kích thước cơ khí nhỏ gọn</a:t>
            </a:r>
          </a:p>
          <a:p>
            <a:pPr>
              <a:lnSpc>
                <a:spcPct val="112000"/>
              </a:lnSpc>
            </a:pPr>
            <a:r>
              <a:rPr sz="1000" b="0" i="0">
                <a:solidFill>
                  <a:srgbClr val="607D9F"/>
                </a:solidFill>
                <a:latin typeface="Segoe UI"/>
              </a:rPr>
              <a:t>Bo góc R=3mm, 4 lỗ vít M2,5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46120" y="5230368"/>
            <a:ext cx="594360" cy="45720"/>
          </a:xfrm>
          <a:prstGeom prst="rect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246120" y="5303520"/>
            <a:ext cx="2423160" cy="1024127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2050" b="1" i="0">
                <a:solidFill>
                  <a:srgbClr val="1976D2"/>
                </a:solidFill>
                <a:latin typeface="Segoe UI"/>
              </a:rPr>
              <a:t>0 Vi phạm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140" b="1" i="0">
                <a:solidFill>
                  <a:srgbClr val="0A2540"/>
                </a:solidFill>
                <a:latin typeface="Segoe UI"/>
              </a:rPr>
              <a:t>Kiểm tra DRC &amp; ERC</a:t>
            </a:r>
          </a:p>
          <a:p>
            <a:pPr>
              <a:lnSpc>
                <a:spcPct val="112000"/>
              </a:lnSpc>
            </a:pPr>
            <a:r>
              <a:rPr sz="1000" b="0" i="0">
                <a:solidFill>
                  <a:srgbClr val="607D9F"/>
                </a:solidFill>
                <a:latin typeface="Segoe UI"/>
              </a:rPr>
              <a:t>100% mạng đi dây hoàn chỉnh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897880" y="5230368"/>
            <a:ext cx="594360" cy="45720"/>
          </a:xfrm>
          <a:prstGeom prst="rect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897880" y="5303520"/>
            <a:ext cx="2423160" cy="1024127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2050" b="1" i="0">
                <a:solidFill>
                  <a:srgbClr val="0D47A1"/>
                </a:solidFill>
                <a:latin typeface="Segoe UI"/>
              </a:rPr>
              <a:t>Zero-Via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140" b="1" i="0">
                <a:solidFill>
                  <a:srgbClr val="0A2540"/>
                </a:solidFill>
                <a:latin typeface="Segoe UI"/>
              </a:rPr>
              <a:t>Không dùng lỗ xuyên via</a:t>
            </a:r>
          </a:p>
          <a:p>
            <a:pPr>
              <a:lnSpc>
                <a:spcPct val="112000"/>
              </a:lnSpc>
            </a:pPr>
            <a:r>
              <a:rPr sz="1000" b="0" i="0">
                <a:solidFill>
                  <a:srgbClr val="607D9F"/>
                </a:solidFill>
                <a:latin typeface="Segoe UI"/>
              </a:rPr>
              <a:t>Độ bền cao, dễ gia công thực tế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485632" y="1453896"/>
            <a:ext cx="45720" cy="4773168"/>
          </a:xfrm>
          <a:prstGeom prst="rect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650224" y="1417320"/>
            <a:ext cx="3108960" cy="484632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1320" b="1" i="0" dirty="0">
                <a:solidFill>
                  <a:srgbClr val="0D47A1"/>
                </a:solidFill>
                <a:latin typeface="Segoe UI"/>
              </a:rPr>
              <a:t>ĐẶC ĐIỂM KỸ THUẬT PCB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 dirty="0">
                <a:solidFill>
                  <a:srgbClr val="0A2540"/>
                </a:solidFill>
                <a:latin typeface="Segoe UI"/>
              </a:rPr>
              <a:t>▸  </a:t>
            </a:r>
            <a:r>
              <a:rPr sz="1160" b="1" i="0" dirty="0" err="1">
                <a:solidFill>
                  <a:srgbClr val="0A2540"/>
                </a:solidFill>
                <a:latin typeface="Segoe UI"/>
              </a:rPr>
              <a:t>Phân</a:t>
            </a:r>
            <a:r>
              <a:rPr sz="1160" b="1" i="0" dirty="0">
                <a:solidFill>
                  <a:srgbClr val="0A2540"/>
                </a:solidFill>
                <a:latin typeface="Segoe UI"/>
              </a:rPr>
              <a:t> </a:t>
            </a:r>
            <a:r>
              <a:rPr sz="1160" b="1" i="0" dirty="0" err="1">
                <a:solidFill>
                  <a:srgbClr val="0A2540"/>
                </a:solidFill>
                <a:latin typeface="Segoe UI"/>
              </a:rPr>
              <a:t>tách</a:t>
            </a:r>
            <a:r>
              <a:rPr sz="1160" b="1" i="0" dirty="0">
                <a:solidFill>
                  <a:srgbClr val="0A2540"/>
                </a:solidFill>
                <a:latin typeface="Segoe UI"/>
              </a:rPr>
              <a:t> </a:t>
            </a:r>
            <a:r>
              <a:rPr sz="1160" b="1" i="0" dirty="0" err="1">
                <a:solidFill>
                  <a:srgbClr val="0A2540"/>
                </a:solidFill>
                <a:latin typeface="Segoe UI"/>
              </a:rPr>
              <a:t>bề</a:t>
            </a:r>
            <a:r>
              <a:rPr sz="1160" b="1" i="0" dirty="0">
                <a:solidFill>
                  <a:srgbClr val="0A2540"/>
                </a:solidFill>
                <a:latin typeface="Segoe UI"/>
              </a:rPr>
              <a:t> </a:t>
            </a:r>
            <a:r>
              <a:rPr sz="1160" b="1" i="0" dirty="0" err="1">
                <a:solidFill>
                  <a:srgbClr val="0A2540"/>
                </a:solidFill>
                <a:latin typeface="Segoe UI"/>
              </a:rPr>
              <a:t>rộng</a:t>
            </a:r>
            <a:r>
              <a:rPr sz="1160" b="1" i="0" dirty="0">
                <a:solidFill>
                  <a:srgbClr val="0A2540"/>
                </a:solidFill>
                <a:latin typeface="Segoe UI"/>
              </a:rPr>
              <a:t> </a:t>
            </a:r>
            <a:r>
              <a:rPr sz="1160" b="1" i="0" dirty="0" err="1">
                <a:solidFill>
                  <a:srgbClr val="0A2540"/>
                </a:solidFill>
                <a:latin typeface="Segoe UI"/>
              </a:rPr>
              <a:t>đường</a:t>
            </a:r>
            <a:r>
              <a:rPr sz="1160" b="1" i="0" dirty="0">
                <a:solidFill>
                  <a:srgbClr val="0A2540"/>
                </a:solidFill>
                <a:latin typeface="Segoe UI"/>
              </a:rPr>
              <a:t> </a:t>
            </a:r>
            <a:r>
              <a:rPr sz="1160" b="1" i="0" dirty="0" err="1">
                <a:solidFill>
                  <a:srgbClr val="0A2540"/>
                </a:solidFill>
                <a:latin typeface="Segoe UI"/>
              </a:rPr>
              <a:t>mạch</a:t>
            </a:r>
            <a:r>
              <a:rPr sz="1160" b="1" i="0" dirty="0">
                <a:solidFill>
                  <a:srgbClr val="0A2540"/>
                </a:solidFill>
                <a:latin typeface="Segoe UI"/>
              </a:rPr>
              <a:t>: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Đường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nguồn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(+3V3, VSW)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và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còi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rộng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0,50–0,80 mm;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đường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tín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hiệu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số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0,25 mm.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 dirty="0">
                <a:solidFill>
                  <a:srgbClr val="0A2540"/>
                </a:solidFill>
                <a:latin typeface="Segoe UI"/>
              </a:rPr>
              <a:t>▸  </a:t>
            </a:r>
            <a:r>
              <a:rPr sz="1160" b="1" i="0" dirty="0" err="1">
                <a:solidFill>
                  <a:srgbClr val="0A2540"/>
                </a:solidFill>
                <a:latin typeface="Segoe UI"/>
              </a:rPr>
              <a:t>Vùng</a:t>
            </a:r>
            <a:r>
              <a:rPr sz="1160" b="1" i="0" dirty="0">
                <a:solidFill>
                  <a:srgbClr val="0A2540"/>
                </a:solidFill>
                <a:latin typeface="Segoe UI"/>
              </a:rPr>
              <a:t> </a:t>
            </a:r>
            <a:r>
              <a:rPr sz="1160" b="1" i="0" dirty="0" err="1">
                <a:solidFill>
                  <a:srgbClr val="0A2540"/>
                </a:solidFill>
                <a:latin typeface="Segoe UI"/>
              </a:rPr>
              <a:t>cấm</a:t>
            </a:r>
            <a:r>
              <a:rPr sz="1160" b="1" i="0" dirty="0">
                <a:solidFill>
                  <a:srgbClr val="0A2540"/>
                </a:solidFill>
                <a:latin typeface="Segoe UI"/>
              </a:rPr>
              <a:t> </a:t>
            </a:r>
            <a:r>
              <a:rPr sz="1160" b="1" i="0" dirty="0" err="1">
                <a:solidFill>
                  <a:srgbClr val="0A2540"/>
                </a:solidFill>
                <a:latin typeface="Segoe UI"/>
              </a:rPr>
              <a:t>phủ</a:t>
            </a:r>
            <a:r>
              <a:rPr sz="1160" b="1" i="0" dirty="0">
                <a:solidFill>
                  <a:srgbClr val="0A2540"/>
                </a:solidFill>
                <a:latin typeface="Segoe UI"/>
              </a:rPr>
              <a:t> </a:t>
            </a:r>
            <a:r>
              <a:rPr sz="1160" b="1" i="0" dirty="0" err="1">
                <a:solidFill>
                  <a:srgbClr val="0A2540"/>
                </a:solidFill>
                <a:latin typeface="Segoe UI"/>
              </a:rPr>
              <a:t>đồng</a:t>
            </a:r>
            <a:r>
              <a:rPr sz="1160" b="1" i="0" dirty="0">
                <a:solidFill>
                  <a:srgbClr val="0A2540"/>
                </a:solidFill>
                <a:latin typeface="Segoe UI"/>
              </a:rPr>
              <a:t> </a:t>
            </a:r>
            <a:r>
              <a:rPr sz="1160" b="1" i="0" dirty="0" err="1">
                <a:solidFill>
                  <a:srgbClr val="0A2540"/>
                </a:solidFill>
                <a:latin typeface="Segoe UI"/>
              </a:rPr>
              <a:t>ăng</a:t>
            </a:r>
            <a:r>
              <a:rPr sz="1160" b="1" i="0" dirty="0">
                <a:solidFill>
                  <a:srgbClr val="0A2540"/>
                </a:solidFill>
                <a:latin typeface="Segoe UI"/>
              </a:rPr>
              <a:t>-ten: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Keepout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Zone (X=6..23, Y=0..8 mm)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trên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cả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F.Cu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và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B.Cu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giúp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sóng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Wi-Fi 2,4 GHz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bức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xạ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tự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do.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 dirty="0">
                <a:solidFill>
                  <a:srgbClr val="0A2540"/>
                </a:solidFill>
                <a:latin typeface="Segoe UI"/>
              </a:rPr>
              <a:t>▸  </a:t>
            </a:r>
            <a:r>
              <a:rPr sz="1160" b="1" i="0" dirty="0" err="1">
                <a:solidFill>
                  <a:srgbClr val="0A2540"/>
                </a:solidFill>
                <a:latin typeface="Segoe UI"/>
              </a:rPr>
              <a:t>Phủ</a:t>
            </a:r>
            <a:r>
              <a:rPr sz="1160" b="1" i="0" dirty="0">
                <a:solidFill>
                  <a:srgbClr val="0A2540"/>
                </a:solidFill>
                <a:latin typeface="Segoe UI"/>
              </a:rPr>
              <a:t> </a:t>
            </a:r>
            <a:r>
              <a:rPr sz="1160" b="1" i="0" dirty="0" err="1">
                <a:solidFill>
                  <a:srgbClr val="0A2540"/>
                </a:solidFill>
                <a:latin typeface="Segoe UI"/>
              </a:rPr>
              <a:t>đồng</a:t>
            </a:r>
            <a:r>
              <a:rPr sz="1160" b="1" i="0" dirty="0">
                <a:solidFill>
                  <a:srgbClr val="0A2540"/>
                </a:solidFill>
                <a:latin typeface="Segoe UI"/>
              </a:rPr>
              <a:t> GND 2 </a:t>
            </a:r>
            <a:r>
              <a:rPr sz="1160" b="1" i="0" dirty="0" err="1">
                <a:solidFill>
                  <a:srgbClr val="0A2540"/>
                </a:solidFill>
                <a:latin typeface="Segoe UI"/>
              </a:rPr>
              <a:t>mặt</a:t>
            </a:r>
            <a:r>
              <a:rPr sz="1160" b="1" i="0" dirty="0">
                <a:solidFill>
                  <a:srgbClr val="0A2540"/>
                </a:solidFill>
                <a:latin typeface="Segoe UI"/>
              </a:rPr>
              <a:t>: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Giảm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nhiễu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điện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từ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(EMI)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cho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đường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truyền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I2C 400 kHz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của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cảm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biến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MPU6050.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 dirty="0">
                <a:solidFill>
                  <a:srgbClr val="0A2540"/>
                </a:solidFill>
                <a:latin typeface="Segoe UI"/>
              </a:rPr>
              <a:t>▸  </a:t>
            </a:r>
            <a:r>
              <a:rPr sz="1160" b="1" i="0" dirty="0" err="1">
                <a:solidFill>
                  <a:srgbClr val="0A2540"/>
                </a:solidFill>
                <a:latin typeface="Segoe UI"/>
              </a:rPr>
              <a:t>Chế</a:t>
            </a:r>
            <a:r>
              <a:rPr sz="1160" b="1" i="0" dirty="0">
                <a:solidFill>
                  <a:srgbClr val="0A2540"/>
                </a:solidFill>
                <a:latin typeface="Segoe UI"/>
              </a:rPr>
              <a:t> </a:t>
            </a:r>
            <a:r>
              <a:rPr sz="1160" b="1" i="0" dirty="0" err="1">
                <a:solidFill>
                  <a:srgbClr val="0A2540"/>
                </a:solidFill>
                <a:latin typeface="Segoe UI"/>
              </a:rPr>
              <a:t>độ</a:t>
            </a:r>
            <a:r>
              <a:rPr sz="1160" b="1" i="0" dirty="0">
                <a:solidFill>
                  <a:srgbClr val="0A2540"/>
                </a:solidFill>
                <a:latin typeface="Segoe UI"/>
              </a:rPr>
              <a:t> </a:t>
            </a:r>
            <a:r>
              <a:rPr sz="1160" b="1" i="0" dirty="0" err="1">
                <a:solidFill>
                  <a:srgbClr val="0A2540"/>
                </a:solidFill>
                <a:latin typeface="Segoe UI"/>
              </a:rPr>
              <a:t>ngủ</a:t>
            </a:r>
            <a:r>
              <a:rPr sz="1160" b="1" i="0" dirty="0">
                <a:solidFill>
                  <a:srgbClr val="0A2540"/>
                </a:solidFill>
                <a:latin typeface="Segoe UI"/>
              </a:rPr>
              <a:t> </a:t>
            </a:r>
            <a:r>
              <a:rPr sz="1160" b="1" i="0" dirty="0" err="1">
                <a:solidFill>
                  <a:srgbClr val="0A2540"/>
                </a:solidFill>
                <a:latin typeface="Segoe UI"/>
              </a:rPr>
              <a:t>sâu</a:t>
            </a:r>
            <a:r>
              <a:rPr sz="1160" b="1" i="0" dirty="0">
                <a:solidFill>
                  <a:srgbClr val="0A2540"/>
                </a:solidFill>
                <a:latin typeface="Segoe UI"/>
              </a:rPr>
              <a:t> </a:t>
            </a:r>
            <a:r>
              <a:rPr sz="1160" b="1" i="0" dirty="0" err="1">
                <a:solidFill>
                  <a:srgbClr val="0A2540"/>
                </a:solidFill>
                <a:latin typeface="Segoe UI"/>
              </a:rPr>
              <a:t>tiết</a:t>
            </a:r>
            <a:r>
              <a:rPr sz="1160" b="1" i="0" dirty="0">
                <a:solidFill>
                  <a:srgbClr val="0A2540"/>
                </a:solidFill>
                <a:latin typeface="Segoe UI"/>
              </a:rPr>
              <a:t> </a:t>
            </a:r>
            <a:r>
              <a:rPr sz="1160" b="1" i="0" dirty="0" err="1">
                <a:solidFill>
                  <a:srgbClr val="0A2540"/>
                </a:solidFill>
                <a:latin typeface="Segoe UI"/>
              </a:rPr>
              <a:t>kiệm</a:t>
            </a:r>
            <a:r>
              <a:rPr sz="1160" b="1" i="0" dirty="0">
                <a:solidFill>
                  <a:srgbClr val="0A2540"/>
                </a:solidFill>
                <a:latin typeface="Segoe UI"/>
              </a:rPr>
              <a:t> pin: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Dòng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tiêu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thụ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riêng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của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MCU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chỉ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~8 µA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khi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</a:t>
            </a:r>
            <a:r>
              <a:rPr sz="1140" b="0" i="0" dirty="0" err="1">
                <a:solidFill>
                  <a:srgbClr val="1E3A5F"/>
                </a:solidFill>
                <a:latin typeface="Segoe UI"/>
              </a:rPr>
              <a:t>vào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 Deep Sleep.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50">
        <p:wheel spokes="1"/>
      </p:transition>
    </mc:Choice>
    <mc:Fallback xmlns="">
      <p:transition spd="slow">
        <p:wheel spokes="1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3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6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9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12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65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18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71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0" grpId="0" animBg="1"/>
      <p:bldP spid="11" grpId="0" animBg="1"/>
      <p:bldP spid="12" grpId="0" animBg="1"/>
      <p:bldP spid="13" grpId="0"/>
      <p:bldP spid="1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4754880"/>
          </a:xfrm>
          <a:prstGeom prst="rect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4754880"/>
            <a:ext cx="91440" cy="2103120"/>
          </a:xfrm>
          <a:prstGeom prst="rect">
            <a:avLst/>
          </a:prstGeom>
          <a:solidFill>
            <a:srgbClr val="29B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310896"/>
            <a:ext cx="256032" cy="45720"/>
          </a:xfrm>
          <a:prstGeom prst="rect">
            <a:avLst/>
          </a:prstGeom>
          <a:solidFill>
            <a:srgbClr val="29B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41248" y="219456"/>
            <a:ext cx="7772400" cy="2377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>
                <a:solidFill>
                  <a:srgbClr val="1976D2"/>
                </a:solidFill>
                <a:latin typeface="Segoe UI"/>
              </a:rPr>
              <a:t>CHƯƠNG 3 • FIRMWARE &amp; TIỀN XỬ LÝ 3D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57200"/>
            <a:ext cx="9006840" cy="713232"/>
          </a:xfrm>
          <a:prstGeom prst="rect">
            <a:avLst/>
          </a:prstGeom>
          <a:noFill/>
        </p:spPr>
        <p:txBody>
          <a:bodyPr wrap="square" lIns="18288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2000" b="1" i="0">
                <a:solidFill>
                  <a:srgbClr val="0A2540"/>
                </a:solidFill>
                <a:latin typeface="Segoe UI"/>
              </a:rPr>
              <a:t>LƯU ĐỒ FIRMWARE &amp; HIỆU CHUẨN TƯ THẾ 3 CHIỀU RODRIGUES</a:t>
            </a:r>
          </a:p>
          <a:p>
            <a:pPr>
              <a:lnSpc>
                <a:spcPct val="115000"/>
              </a:lnSpc>
            </a:pPr>
            <a:r>
              <a:rPr sz="1100" b="0" i="0">
                <a:solidFill>
                  <a:srgbClr val="607D9F"/>
                </a:solidFill>
                <a:latin typeface="Segoe UI"/>
              </a:rPr>
              <a:t>Chuỗi lọc nhiễu quán tính 50 Hz và chuẩn hóa hệ trục tọa độ bất biến với góc đeo thiết bị</a:t>
            </a:r>
          </a:p>
        </p:txBody>
      </p:sp>
      <p:pic>
        <p:nvPicPr>
          <p:cNvPr id="8" name="Picture 7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82528" y="219456"/>
            <a:ext cx="694944" cy="6949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555480" y="347472"/>
            <a:ext cx="1463040" cy="4389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950" b="1" i="0">
                <a:solidFill>
                  <a:srgbClr val="0D47A1"/>
                </a:solidFill>
                <a:latin typeface="Segoe UI"/>
              </a:rPr>
              <a:t>ICTU • K23A
NHÓM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25296"/>
            <a:ext cx="11274552" cy="13716"/>
          </a:xfrm>
          <a:prstGeom prst="rect">
            <a:avLst/>
          </a:prstGeom>
          <a:solidFill>
            <a:srgbClr val="D2E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02920" y="6510528"/>
            <a:ext cx="11274552" cy="13716"/>
          </a:xfrm>
          <a:prstGeom prst="rect">
            <a:avLst/>
          </a:prstGeom>
          <a:solidFill>
            <a:srgbClr val="D2E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02920" y="6501384"/>
            <a:ext cx="4831950" cy="32004"/>
          </a:xfrm>
          <a:prstGeom prst="rect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2920" y="6567936"/>
            <a:ext cx="7772400" cy="196079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>
              <a:lnSpc>
                <a:spcPct val="120000"/>
              </a:lnSpc>
            </a:pPr>
            <a:r>
              <a:rPr sz="950" b="0" i="0" dirty="0" err="1">
                <a:solidFill>
                  <a:srgbClr val="607D9F"/>
                </a:solidFill>
                <a:latin typeface="Segoe UI"/>
              </a:rPr>
              <a:t>Đề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tài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: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Hệ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thống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IoT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Phát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hiện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và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Cảnh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báo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Té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ngã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lang="en-US" sz="950" dirty="0">
                <a:solidFill>
                  <a:srgbClr val="607D9F"/>
                </a:solidFill>
                <a:latin typeface="Segoe UI"/>
              </a:rPr>
              <a:t>•  Marine </a:t>
            </a:r>
            <a:r>
              <a:rPr lang="en-US" sz="950" dirty="0" err="1">
                <a:solidFill>
                  <a:srgbClr val="607D9F"/>
                </a:solidFill>
                <a:latin typeface="Segoe UI"/>
              </a:rPr>
              <a:t>Fullstack</a:t>
            </a:r>
            <a:r>
              <a:rPr lang="en-US" sz="950" dirty="0">
                <a:solidFill>
                  <a:srgbClr val="607D9F"/>
                </a:solidFill>
                <a:latin typeface="Segoe UI"/>
              </a:rPr>
              <a:t> System</a:t>
            </a:r>
            <a:endParaRPr sz="950" b="0" i="0" dirty="0">
              <a:solidFill>
                <a:srgbClr val="607D9F"/>
              </a:solidFill>
              <a:latin typeface="Segoe U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241280" y="6547104"/>
            <a:ext cx="1536192" cy="2377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50" b="1" i="0">
                <a:solidFill>
                  <a:srgbClr val="0D47A1"/>
                </a:solidFill>
                <a:latin typeface="Segoe UI"/>
              </a:rPr>
              <a:t>09 / 21</a:t>
            </a:r>
          </a:p>
        </p:txBody>
      </p:sp>
      <p:pic>
        <p:nvPicPr>
          <p:cNvPr id="15" name="Picture 14" descr="fig_3_1_wearable_flow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764" y="1325880"/>
            <a:ext cx="6423151" cy="477316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02920" y="6099048"/>
            <a:ext cx="6720840" cy="25603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1">
                <a:solidFill>
                  <a:srgbClr val="607D9F"/>
                </a:solidFill>
                <a:latin typeface="Segoe UI"/>
              </a:rPr>
              <a:t>Hình 3.1. Lưu đồ thuật toán tổng thể trên thiết bị đeo ESP32-S3 SuperMini</a:t>
            </a:r>
          </a:p>
        </p:txBody>
      </p:sp>
      <p:sp>
        <p:nvSpPr>
          <p:cNvPr id="17" name="Oval 16"/>
          <p:cNvSpPr/>
          <p:nvPr/>
        </p:nvSpPr>
        <p:spPr>
          <a:xfrm>
            <a:off x="7452360" y="1481328"/>
            <a:ext cx="329184" cy="329184"/>
          </a:xfrm>
          <a:prstGeom prst="ellipse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91272" y="1463040"/>
            <a:ext cx="3858768" cy="1170432"/>
          </a:xfrm>
          <a:prstGeom prst="rect">
            <a:avLst/>
          </a:prstGeom>
          <a:noFill/>
        </p:spPr>
        <p:txBody>
          <a:bodyPr wrap="square" lIns="0" tIns="0" rIns="18288" bIns="0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80" b="1" i="0">
                <a:solidFill>
                  <a:srgbClr val="0A2540"/>
                </a:solidFill>
                <a:latin typeface="Segoe UI"/>
              </a:rPr>
              <a:t>Đọc cụm I2C 50 Hz (Burst Read 14 Bytes)</a:t>
            </a:r>
          </a:p>
          <a:p>
            <a:pPr>
              <a:lnSpc>
                <a:spcPct val="118000"/>
              </a:lnSpc>
            </a:pPr>
            <a:r>
              <a:rPr sz="1120" b="0" i="0">
                <a:solidFill>
                  <a:srgbClr val="1E3A5F"/>
                </a:solidFill>
                <a:latin typeface="Segoe UI"/>
              </a:rPr>
              <a:t>Khi nhận xung ngắt DATA_READY từ chân GPIO7 mỗi 20 ms, MCU đọc nguyên cụm 14 thanh ghi gia tốc &amp; vận tốc góc trong &lt; 0,4 ms.</a:t>
            </a:r>
          </a:p>
        </p:txBody>
      </p:sp>
      <p:sp>
        <p:nvSpPr>
          <p:cNvPr id="19" name="Oval 18"/>
          <p:cNvSpPr/>
          <p:nvPr/>
        </p:nvSpPr>
        <p:spPr>
          <a:xfrm>
            <a:off x="7452360" y="2743200"/>
            <a:ext cx="329184" cy="329184"/>
          </a:xfrm>
          <a:prstGeom prst="ellipse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91272" y="2724912"/>
            <a:ext cx="3858768" cy="1170432"/>
          </a:xfrm>
          <a:prstGeom prst="rect">
            <a:avLst/>
          </a:prstGeom>
          <a:noFill/>
        </p:spPr>
        <p:txBody>
          <a:bodyPr wrap="square" lIns="0" tIns="0" rIns="18288" bIns="0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80" b="1" i="0">
                <a:solidFill>
                  <a:srgbClr val="0A2540"/>
                </a:solidFill>
                <a:latin typeface="Segoe UI"/>
              </a:rPr>
              <a:t>Bộ lọc trung vị 3 mẫu (3-Sample Median Filter)</a:t>
            </a:r>
          </a:p>
          <a:p>
            <a:pPr>
              <a:lnSpc>
                <a:spcPct val="118000"/>
              </a:lnSpc>
            </a:pPr>
            <a:r>
              <a:rPr sz="1120" b="0" i="0">
                <a:solidFill>
                  <a:srgbClr val="1E3A5F"/>
                </a:solidFill>
                <a:latin typeface="Segoe UI"/>
              </a:rPr>
              <a:t>Loại bỏ hoàn toàn các xung nhiễu đột biến đơn lẻ (single-sample spikes) mà không làm tù sườn dốc của xung va chạm thật.</a:t>
            </a:r>
          </a:p>
        </p:txBody>
      </p:sp>
      <p:sp>
        <p:nvSpPr>
          <p:cNvPr id="21" name="Oval 20"/>
          <p:cNvSpPr/>
          <p:nvPr/>
        </p:nvSpPr>
        <p:spPr>
          <a:xfrm>
            <a:off x="7452360" y="4005072"/>
            <a:ext cx="329184" cy="329184"/>
          </a:xfrm>
          <a:prstGeom prst="ellipse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91272" y="3986784"/>
            <a:ext cx="3858768" cy="1170432"/>
          </a:xfrm>
          <a:prstGeom prst="rect">
            <a:avLst/>
          </a:prstGeom>
          <a:noFill/>
        </p:spPr>
        <p:txBody>
          <a:bodyPr wrap="square" lIns="0" tIns="0" rIns="18288" bIns="0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80" b="1" i="0">
                <a:solidFill>
                  <a:srgbClr val="0A2540"/>
                </a:solidFill>
                <a:latin typeface="Segoe UI"/>
              </a:rPr>
              <a:t>Bù trôi Gyro tự động (Dynamic Gyro Bias, α = 0,01)</a:t>
            </a:r>
          </a:p>
          <a:p>
            <a:pPr>
              <a:lnSpc>
                <a:spcPct val="118000"/>
              </a:lnSpc>
            </a:pPr>
            <a:r>
              <a:rPr sz="1120" b="0" i="0">
                <a:solidFill>
                  <a:srgbClr val="1E3A5F"/>
                </a:solidFill>
                <a:latin typeface="Segoe UI"/>
              </a:rPr>
              <a:t>Khi cơ thể đứng yên liên tục &gt; 2 giây (100 mẫu), bộ lọc tự động cập nhật mượt điểm không của con quay hồi chuyển theo nhiệt độ.</a:t>
            </a:r>
          </a:p>
        </p:txBody>
      </p:sp>
      <p:sp>
        <p:nvSpPr>
          <p:cNvPr id="23" name="Oval 22"/>
          <p:cNvSpPr/>
          <p:nvPr/>
        </p:nvSpPr>
        <p:spPr>
          <a:xfrm>
            <a:off x="7452360" y="5230368"/>
            <a:ext cx="329184" cy="329184"/>
          </a:xfrm>
          <a:prstGeom prst="ellipse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91272" y="5212080"/>
            <a:ext cx="3858768" cy="1170432"/>
          </a:xfrm>
          <a:prstGeom prst="rect">
            <a:avLst/>
          </a:prstGeom>
          <a:noFill/>
        </p:spPr>
        <p:txBody>
          <a:bodyPr wrap="square" lIns="0" tIns="0" rIns="18288" bIns="0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80" b="1" i="0">
                <a:solidFill>
                  <a:srgbClr val="0A2540"/>
                </a:solidFill>
                <a:latin typeface="Segoe UI"/>
              </a:rPr>
              <a:t>Phép quay 3D Rodrigues (Chạm 3 lần TTP223)</a:t>
            </a:r>
          </a:p>
          <a:p>
            <a:pPr>
              <a:lnSpc>
                <a:spcPct val="118000"/>
              </a:lnSpc>
            </a:pPr>
            <a:r>
              <a:rPr sz="1120" b="0" i="0">
                <a:solidFill>
                  <a:srgbClr val="1E3A5F"/>
                </a:solidFill>
                <a:latin typeface="Segoe UI"/>
              </a:rPr>
              <a:t>Thu 50 mẫu tĩnh, tính ma trận trực giao 3×3 R đưa vector trọng lực về đúng trục +Z và lưu bền vững vào NVS (fallcal).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5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3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6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9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12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65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18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71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0" grpId="0" animBg="1"/>
      <p:bldP spid="11" grpId="0" animBg="1"/>
      <p:bldP spid="12" grpId="0" animBg="1"/>
      <p:bldP spid="13" grpId="0"/>
      <p:bldP spid="14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4754880"/>
          </a:xfrm>
          <a:prstGeom prst="rect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4754880"/>
            <a:ext cx="91440" cy="2103120"/>
          </a:xfrm>
          <a:prstGeom prst="rect">
            <a:avLst/>
          </a:prstGeom>
          <a:solidFill>
            <a:srgbClr val="29B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310896"/>
            <a:ext cx="256032" cy="45720"/>
          </a:xfrm>
          <a:prstGeom prst="rect">
            <a:avLst/>
          </a:prstGeom>
          <a:solidFill>
            <a:srgbClr val="29B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41248" y="219456"/>
            <a:ext cx="7772400" cy="2377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>
                <a:solidFill>
                  <a:srgbClr val="1976D2"/>
                </a:solidFill>
                <a:latin typeface="Segoe UI"/>
              </a:rPr>
              <a:t>CHƯƠNG 3 • THUẬT TOÁN PHÁT HIỆN NGÃ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57200"/>
            <a:ext cx="9006840" cy="594458"/>
          </a:xfrm>
          <a:prstGeom prst="rect">
            <a:avLst/>
          </a:prstGeom>
          <a:noFill/>
        </p:spPr>
        <p:txBody>
          <a:bodyPr wrap="square" lIns="18288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2000" b="1" i="0" dirty="0">
                <a:solidFill>
                  <a:srgbClr val="0A2540"/>
                </a:solidFill>
                <a:latin typeface="Segoe UI"/>
              </a:rPr>
              <a:t>TRẠNG THÁI XÁC NHẬN TÉ NGÃ 4 BƯỚC &amp; BẤT ĐỘNG</a:t>
            </a:r>
          </a:p>
          <a:p>
            <a:pPr>
              <a:lnSpc>
                <a:spcPct val="115000"/>
              </a:lnSpc>
            </a:pPr>
            <a:r>
              <a:rPr sz="1100" b="0" i="0" dirty="0" err="1">
                <a:solidFill>
                  <a:srgbClr val="607D9F"/>
                </a:solidFill>
                <a:latin typeface="Segoe UI"/>
              </a:rPr>
              <a:t>Kết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hợp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động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lực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học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vật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lý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,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mạng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nơ-ron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TinyML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và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kiểm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tra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tư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thế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sau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va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chạm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để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triệt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tiêu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báo</a:t>
            </a:r>
            <a:r>
              <a:rPr sz="110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1100" b="0" i="0" dirty="0" err="1">
                <a:solidFill>
                  <a:srgbClr val="607D9F"/>
                </a:solidFill>
                <a:latin typeface="Segoe UI"/>
              </a:rPr>
              <a:t>giả</a:t>
            </a:r>
            <a:endParaRPr sz="1100" b="0" i="0" dirty="0">
              <a:solidFill>
                <a:srgbClr val="607D9F"/>
              </a:solidFill>
              <a:latin typeface="Segoe UI"/>
            </a:endParaRPr>
          </a:p>
        </p:txBody>
      </p:sp>
      <p:pic>
        <p:nvPicPr>
          <p:cNvPr id="8" name="Picture 7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82528" y="219456"/>
            <a:ext cx="694944" cy="6949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555480" y="347472"/>
            <a:ext cx="1463040" cy="4389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950" b="1" i="0">
                <a:solidFill>
                  <a:srgbClr val="0D47A1"/>
                </a:solidFill>
                <a:latin typeface="Segoe UI"/>
              </a:rPr>
              <a:t>ICTU • K23A
NHÓM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25296"/>
            <a:ext cx="11274552" cy="13716"/>
          </a:xfrm>
          <a:prstGeom prst="rect">
            <a:avLst/>
          </a:prstGeom>
          <a:solidFill>
            <a:srgbClr val="D2E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02920" y="6510528"/>
            <a:ext cx="11274552" cy="13716"/>
          </a:xfrm>
          <a:prstGeom prst="rect">
            <a:avLst/>
          </a:prstGeom>
          <a:solidFill>
            <a:srgbClr val="D2E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02920" y="6501384"/>
            <a:ext cx="5368834" cy="32004"/>
          </a:xfrm>
          <a:prstGeom prst="rect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2920" y="6567936"/>
            <a:ext cx="7772400" cy="196079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>
              <a:lnSpc>
                <a:spcPct val="120000"/>
              </a:lnSpc>
            </a:pPr>
            <a:r>
              <a:rPr sz="950" b="0" i="0" dirty="0" err="1">
                <a:solidFill>
                  <a:srgbClr val="607D9F"/>
                </a:solidFill>
                <a:latin typeface="Segoe UI"/>
              </a:rPr>
              <a:t>Đề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tài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: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Hệ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thống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IoT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Phát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hiện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và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Cảnh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báo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Té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ngã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lang="en-US" sz="950" dirty="0">
                <a:solidFill>
                  <a:srgbClr val="607D9F"/>
                </a:solidFill>
                <a:latin typeface="Segoe UI"/>
              </a:rPr>
              <a:t>•  Marine </a:t>
            </a:r>
            <a:r>
              <a:rPr lang="en-US" sz="950" dirty="0" err="1">
                <a:solidFill>
                  <a:srgbClr val="607D9F"/>
                </a:solidFill>
                <a:latin typeface="Segoe UI"/>
              </a:rPr>
              <a:t>Fullstack</a:t>
            </a:r>
            <a:r>
              <a:rPr lang="en-US" sz="950" dirty="0">
                <a:solidFill>
                  <a:srgbClr val="607D9F"/>
                </a:solidFill>
                <a:latin typeface="Segoe UI"/>
              </a:rPr>
              <a:t> System</a:t>
            </a:r>
            <a:endParaRPr sz="950" b="0" i="0" dirty="0">
              <a:solidFill>
                <a:srgbClr val="607D9F"/>
              </a:solidFill>
              <a:latin typeface="Segoe U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241280" y="6547104"/>
            <a:ext cx="1536192" cy="2377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50" b="1" i="0">
                <a:solidFill>
                  <a:srgbClr val="0D47A1"/>
                </a:solidFill>
                <a:latin typeface="Segoe UI"/>
              </a:rPr>
              <a:t>10 / 21</a:t>
            </a:r>
          </a:p>
        </p:txBody>
      </p:sp>
      <p:pic>
        <p:nvPicPr>
          <p:cNvPr id="15" name="Picture 14" descr="fig_3_2_fall_detector_fs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2306259"/>
            <a:ext cx="6812280" cy="281240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02920" y="6099048"/>
            <a:ext cx="6812280" cy="25603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1">
                <a:solidFill>
                  <a:srgbClr val="607D9F"/>
                </a:solidFill>
                <a:latin typeface="Segoe UI"/>
              </a:rPr>
              <a:t>Hình 3.2. Máy trạng thái xác nhận té ngã 4 bước (FallDetector trong fall_detector.h)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98079" y="1426464"/>
            <a:ext cx="45720" cy="3081528"/>
          </a:xfrm>
          <a:prstGeom prst="rect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662671" y="1389888"/>
            <a:ext cx="4096511" cy="315468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1320" b="1" i="0">
                <a:solidFill>
                  <a:srgbClr val="0D47A1"/>
                </a:solidFill>
                <a:latin typeface="Segoe UI"/>
              </a:rPr>
              <a:t>4 BƯỚC XÁC NHẬN TÉ NGÃ (FALLDETECTOR)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>
                <a:solidFill>
                  <a:srgbClr val="0A2540"/>
                </a:solidFill>
                <a:latin typeface="Segoe UI"/>
              </a:rPr>
              <a:t>▸  Bước 1 – Phát hiện nghi ngã (fall candidate): </a:t>
            </a:r>
            <a:r>
              <a:rPr sz="1140" b="0" i="0">
                <a:solidFill>
                  <a:srgbClr val="1E3A5F"/>
                </a:solidFill>
                <a:latin typeface="Segoe UI"/>
              </a:rPr>
              <a:t>Bắt đầu pha xác minh khi tổng gia tốc |a| ≥ 2,0g; lưu vector tư thế trước va chạm before_.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>
                <a:solidFill>
                  <a:srgbClr val="0A2540"/>
                </a:solidFill>
                <a:latin typeface="Segoe UI"/>
              </a:rPr>
              <a:t>▸  Bước 2 – Đa bằng chứng: </a:t>
            </a:r>
            <a:r>
              <a:rPr sz="1140" b="0" i="0">
                <a:solidFill>
                  <a:srgbClr val="1E3A5F"/>
                </a:solidFill>
                <a:latin typeface="Segoe UI"/>
              </a:rPr>
              <a:t>Cần ≥ 1 bằng chứng: Rơi tự do |a| &lt; 0,6g (1s trước) HOẶC Xoay thân |ω| ≥ 120°/s HOẶC MLP báo 'nga' (≥ 70%).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>
                <a:solidFill>
                  <a:srgbClr val="0A2540"/>
                </a:solidFill>
                <a:latin typeface="Segoe UI"/>
              </a:rPr>
              <a:t>▸  Bước 3 – Pha ổn định (settling) 1,0 giây: </a:t>
            </a:r>
            <a:r>
              <a:rPr sz="1140" b="0" i="0">
                <a:solidFill>
                  <a:srgbClr val="1E3A5F"/>
                </a:solidFill>
                <a:latin typeface="Segoe UI"/>
              </a:rPr>
              <a:t>Bỏ qua 1000 ms nảy cơ học ngay sau khi cơ thể chạm sàn.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>
                <a:solidFill>
                  <a:srgbClr val="0A2540"/>
                </a:solidFill>
                <a:latin typeface="Segoe UI"/>
              </a:rPr>
              <a:t>▸  Bước 4 – Pha xác minh tư thế 2,0 giây: </a:t>
            </a:r>
            <a:r>
              <a:rPr sz="1140" b="0" i="0">
                <a:solidFill>
                  <a:srgbClr val="1E3A5F"/>
                </a:solidFill>
                <a:latin typeface="Segoe UI"/>
              </a:rPr>
              <a:t>Xác nhận ngã khi tỷ lệ mẫu tĩnh ≥ 80% VÀ góc lệch tư thế θ ≥ 45°.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98079" y="4700016"/>
            <a:ext cx="45720" cy="1618488"/>
          </a:xfrm>
          <a:prstGeom prst="rect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662671" y="4663440"/>
            <a:ext cx="4096511" cy="169164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1320" b="1" i="0">
                <a:solidFill>
                  <a:srgbClr val="1976D2"/>
                </a:solidFill>
                <a:latin typeface="Segoe UI"/>
              </a:rPr>
              <a:t>GIÁM SÁT BẤT ĐỘNG (INACTIVITY MONITOR)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>
                <a:solidFill>
                  <a:srgbClr val="0A2540"/>
                </a:solidFill>
                <a:latin typeface="Segoe UI"/>
              </a:rPr>
              <a:t>▸  Lọc nhiễu nhịp thở (Streak ≥ 3 mẫu): </a:t>
            </a:r>
            <a:r>
              <a:rPr sz="1140" b="0" i="0">
                <a:solidFill>
                  <a:srgbClr val="1E3A5F"/>
                </a:solidFill>
                <a:latin typeface="Segoe UI"/>
              </a:rPr>
              <a:t>Đòi hỏi ≥ 3 mẫu liên tiếp có Δa ≥ 0,06g hoặc Δω ≥ 12°/s so với nền trượt 0,5s.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>
                <a:solidFill>
                  <a:srgbClr val="0A2540"/>
                </a:solidFill>
                <a:latin typeface="Segoe UI"/>
              </a:rPr>
              <a:t>▸  Cảnh báo vàng &amp; Tự khôi phục: </a:t>
            </a:r>
            <a:r>
              <a:rPr sz="1140" b="0" i="0">
                <a:solidFill>
                  <a:srgbClr val="1E3A5F"/>
                </a:solidFill>
                <a:latin typeface="Segoe UI"/>
              </a:rPr>
              <a:t>Báo Telegram/Gmail/Web khi bất động quá hạn; tự báo 'ĐÃ CỬ ĐỘNG TRỞ LẠI'.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50">
        <p:fade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3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6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9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12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65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18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71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0" grpId="0" animBg="1"/>
      <p:bldP spid="11" grpId="0" animBg="1"/>
      <p:bldP spid="12" grpId="0" animBg="1"/>
      <p:bldP spid="13" grpId="0"/>
      <p:bldP spid="1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4754880"/>
          </a:xfrm>
          <a:prstGeom prst="rect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4754880"/>
            <a:ext cx="91440" cy="2103120"/>
          </a:xfrm>
          <a:prstGeom prst="rect">
            <a:avLst/>
          </a:prstGeom>
          <a:solidFill>
            <a:srgbClr val="29B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310896"/>
            <a:ext cx="256032" cy="45720"/>
          </a:xfrm>
          <a:prstGeom prst="rect">
            <a:avLst/>
          </a:prstGeom>
          <a:solidFill>
            <a:srgbClr val="29B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41248" y="219456"/>
            <a:ext cx="7772400" cy="2377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>
                <a:solidFill>
                  <a:srgbClr val="1976D2"/>
                </a:solidFill>
                <a:latin typeface="Segoe UI"/>
              </a:rPr>
              <a:t>CHƯƠNG 3 • HỌC MÁY TẠI BIÊN (TINYML)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57200"/>
            <a:ext cx="9006840" cy="713232"/>
          </a:xfrm>
          <a:prstGeom prst="rect">
            <a:avLst/>
          </a:prstGeom>
          <a:noFill/>
        </p:spPr>
        <p:txBody>
          <a:bodyPr wrap="square" lIns="18288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2000" b="1" i="0">
                <a:solidFill>
                  <a:srgbClr val="0A2540"/>
                </a:solidFill>
                <a:latin typeface="Segoe UI"/>
              </a:rPr>
              <a:t>KIẾN TRÚC MẠNG NƠ-RON TINYML MLP TRÊN THIẾT BỊ ĐEO</a:t>
            </a:r>
          </a:p>
          <a:p>
            <a:pPr>
              <a:lnSpc>
                <a:spcPct val="115000"/>
              </a:lnSpc>
            </a:pPr>
            <a:r>
              <a:rPr sz="1100" b="0" i="0">
                <a:solidFill>
                  <a:srgbClr val="607D9F"/>
                </a:solidFill>
                <a:latin typeface="Segoe UI"/>
              </a:rPr>
              <a:t>Trích xuất 30 đặc trưng miền thời gian và suy luận tĩnh 677 tham số trong thời gian &lt; 1 ms</a:t>
            </a:r>
          </a:p>
        </p:txBody>
      </p:sp>
      <p:pic>
        <p:nvPicPr>
          <p:cNvPr id="8" name="Picture 7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82528" y="219456"/>
            <a:ext cx="694944" cy="6949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555480" y="347472"/>
            <a:ext cx="1463040" cy="4389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950" b="1" i="0">
                <a:solidFill>
                  <a:srgbClr val="0D47A1"/>
                </a:solidFill>
                <a:latin typeface="Segoe UI"/>
              </a:rPr>
              <a:t>ICTU • K23A
NHÓM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25296"/>
            <a:ext cx="11274552" cy="13716"/>
          </a:xfrm>
          <a:prstGeom prst="rect">
            <a:avLst/>
          </a:prstGeom>
          <a:solidFill>
            <a:srgbClr val="D2E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02920" y="6510528"/>
            <a:ext cx="11274552" cy="13716"/>
          </a:xfrm>
          <a:prstGeom prst="rect">
            <a:avLst/>
          </a:prstGeom>
          <a:solidFill>
            <a:srgbClr val="D2E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02920" y="6501384"/>
            <a:ext cx="5905717" cy="32004"/>
          </a:xfrm>
          <a:prstGeom prst="rect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2920" y="6567936"/>
            <a:ext cx="7772400" cy="196079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>
              <a:lnSpc>
                <a:spcPct val="120000"/>
              </a:lnSpc>
            </a:pPr>
            <a:r>
              <a:rPr sz="950" b="0" i="0" dirty="0" err="1">
                <a:solidFill>
                  <a:srgbClr val="607D9F"/>
                </a:solidFill>
                <a:latin typeface="Segoe UI"/>
              </a:rPr>
              <a:t>Đề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tài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: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Hệ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thống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IoT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Phát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hiện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và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Cảnh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báo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Té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ngã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lang="en-US" sz="950" dirty="0">
                <a:solidFill>
                  <a:srgbClr val="607D9F"/>
                </a:solidFill>
                <a:latin typeface="Segoe UI"/>
              </a:rPr>
              <a:t>•  Marine </a:t>
            </a:r>
            <a:r>
              <a:rPr lang="en-US" sz="950" dirty="0" err="1">
                <a:solidFill>
                  <a:srgbClr val="607D9F"/>
                </a:solidFill>
                <a:latin typeface="Segoe UI"/>
              </a:rPr>
              <a:t>Fullstack</a:t>
            </a:r>
            <a:r>
              <a:rPr lang="en-US" sz="950" dirty="0">
                <a:solidFill>
                  <a:srgbClr val="607D9F"/>
                </a:solidFill>
                <a:latin typeface="Segoe UI"/>
              </a:rPr>
              <a:t> System</a:t>
            </a:r>
            <a:endParaRPr sz="950" b="0" i="0" dirty="0">
              <a:solidFill>
                <a:srgbClr val="607D9F"/>
              </a:solidFill>
              <a:latin typeface="Segoe U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241280" y="6547104"/>
            <a:ext cx="1536192" cy="2377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50" b="1" i="0">
                <a:solidFill>
                  <a:srgbClr val="0D47A1"/>
                </a:solidFill>
                <a:latin typeface="Segoe UI"/>
              </a:rPr>
              <a:t>11 / 21</a:t>
            </a:r>
          </a:p>
        </p:txBody>
      </p:sp>
      <p:pic>
        <p:nvPicPr>
          <p:cNvPr id="15" name="Picture 14" descr="fig_3_3_mlp_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2252061"/>
            <a:ext cx="6903720" cy="292080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02920" y="6099048"/>
            <a:ext cx="6903720" cy="25603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1">
                <a:solidFill>
                  <a:srgbClr val="607D9F"/>
                </a:solidFill>
                <a:latin typeface="Segoe UI"/>
              </a:rPr>
              <a:t>Hình 3.3. Kiến trúc trích xuất 30 đặc trưng và mạng nơ-ron đa lớp MLP (30 → 16 → 8 → 5)</a:t>
            </a:r>
          </a:p>
        </p:txBody>
      </p:sp>
      <p:sp>
        <p:nvSpPr>
          <p:cNvPr id="17" name="Oval 16"/>
          <p:cNvSpPr/>
          <p:nvPr/>
        </p:nvSpPr>
        <p:spPr>
          <a:xfrm>
            <a:off x="7589520" y="1481328"/>
            <a:ext cx="329184" cy="329184"/>
          </a:xfrm>
          <a:prstGeom prst="ellipse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28432" y="1463040"/>
            <a:ext cx="3721608" cy="1170432"/>
          </a:xfrm>
          <a:prstGeom prst="rect">
            <a:avLst/>
          </a:prstGeom>
          <a:noFill/>
        </p:spPr>
        <p:txBody>
          <a:bodyPr wrap="square" lIns="0" tIns="0" rIns="18288" bIns="0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80" b="1" i="0">
                <a:solidFill>
                  <a:srgbClr val="0A2540"/>
                </a:solidFill>
                <a:latin typeface="Segoe UI"/>
              </a:rPr>
              <a:t>Cửa sổ trượt 50 mẫu (1,0s @ 50 Hz, Hop 200 ms)</a:t>
            </a:r>
          </a:p>
          <a:p>
            <a:pPr>
              <a:lnSpc>
                <a:spcPct val="118000"/>
              </a:lnSpc>
            </a:pPr>
            <a:r>
              <a:rPr sz="1120" b="0" i="0">
                <a:solidFill>
                  <a:srgbClr val="1E3A5F"/>
                </a:solidFill>
                <a:latin typeface="Segoe UI"/>
              </a:rPr>
              <a:t>Bộ đệm vòng lưu 50 mẫu × 6 kênh gần nhất; thực hiện suy luận mỗi khi nhận thêm 10 mẫu mới (tần suất 5 lần/giây).</a:t>
            </a:r>
          </a:p>
        </p:txBody>
      </p:sp>
      <p:sp>
        <p:nvSpPr>
          <p:cNvPr id="19" name="Oval 18"/>
          <p:cNvSpPr/>
          <p:nvPr/>
        </p:nvSpPr>
        <p:spPr>
          <a:xfrm>
            <a:off x="7589520" y="2743200"/>
            <a:ext cx="329184" cy="329184"/>
          </a:xfrm>
          <a:prstGeom prst="ellipse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28432" y="2724912"/>
            <a:ext cx="3721608" cy="1170432"/>
          </a:xfrm>
          <a:prstGeom prst="rect">
            <a:avLst/>
          </a:prstGeom>
          <a:noFill/>
        </p:spPr>
        <p:txBody>
          <a:bodyPr wrap="square" lIns="0" tIns="0" rIns="18288" bIns="0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80" b="1" i="0">
                <a:solidFill>
                  <a:srgbClr val="0A2540"/>
                </a:solidFill>
                <a:latin typeface="Segoe UI"/>
              </a:rPr>
              <a:t>30 Đặc trưng thống kê &amp; Chuẩn hóa Z-score</a:t>
            </a:r>
          </a:p>
          <a:p>
            <a:pPr>
              <a:lnSpc>
                <a:spcPct val="118000"/>
              </a:lnSpc>
            </a:pPr>
            <a:r>
              <a:rPr sz="1120" b="0" i="0">
                <a:solidFill>
                  <a:srgbClr val="1E3A5F"/>
                </a:solidFill>
                <a:latin typeface="Segoe UI"/>
              </a:rPr>
              <a:t>Trích xuất 5 đặc trưng (Mean, Std, Max, Min, RMS) trên từng kênh trong 6 kênh (ax, ay, az, gx, gy, gz) và chuẩn hóa Z-score.</a:t>
            </a:r>
          </a:p>
        </p:txBody>
      </p:sp>
      <p:sp>
        <p:nvSpPr>
          <p:cNvPr id="21" name="Oval 20"/>
          <p:cNvSpPr/>
          <p:nvPr/>
        </p:nvSpPr>
        <p:spPr>
          <a:xfrm>
            <a:off x="7589520" y="4005072"/>
            <a:ext cx="329184" cy="329184"/>
          </a:xfrm>
          <a:prstGeom prst="ellipse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28432" y="3986784"/>
            <a:ext cx="3721608" cy="1170432"/>
          </a:xfrm>
          <a:prstGeom prst="rect">
            <a:avLst/>
          </a:prstGeom>
          <a:noFill/>
        </p:spPr>
        <p:txBody>
          <a:bodyPr wrap="square" lIns="0" tIns="0" rIns="18288" bIns="0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80" b="1" i="0">
                <a:solidFill>
                  <a:srgbClr val="0A2540"/>
                </a:solidFill>
                <a:latin typeface="Segoe UI"/>
              </a:rPr>
              <a:t>Cấu trúc mạng MLP 677 tham số (5 lớp hành vi)</a:t>
            </a:r>
          </a:p>
          <a:p>
            <a:pPr>
              <a:lnSpc>
                <a:spcPct val="118000"/>
              </a:lnSpc>
            </a:pPr>
            <a:r>
              <a:rPr sz="1120" b="0" i="0">
                <a:solidFill>
                  <a:srgbClr val="1E3A5F"/>
                </a:solidFill>
                <a:latin typeface="Segoe UI"/>
              </a:rPr>
              <a:t>Input (30) → Dense 1 (16, ReLU) → Dense 2 (8, ReLU) → Output (5, Softmax) phân loại: binh_thuong, nga, ngoi, nam, chay.</a:t>
            </a:r>
          </a:p>
        </p:txBody>
      </p:sp>
      <p:sp>
        <p:nvSpPr>
          <p:cNvPr id="23" name="Oval 22"/>
          <p:cNvSpPr/>
          <p:nvPr/>
        </p:nvSpPr>
        <p:spPr>
          <a:xfrm>
            <a:off x="7589520" y="5230368"/>
            <a:ext cx="329184" cy="329184"/>
          </a:xfrm>
          <a:prstGeom prst="ellipse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28432" y="5212080"/>
            <a:ext cx="3721608" cy="1170432"/>
          </a:xfrm>
          <a:prstGeom prst="rect">
            <a:avLst/>
          </a:prstGeom>
          <a:noFill/>
        </p:spPr>
        <p:txBody>
          <a:bodyPr wrap="square" lIns="0" tIns="0" rIns="18288" bIns="0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80" b="1" i="0">
                <a:solidFill>
                  <a:srgbClr val="0A2540"/>
                </a:solidFill>
                <a:latin typeface="Segoe UI"/>
              </a:rPr>
              <a:t>Suy luận tĩnh Zero-Malloc &amp; Sai số &lt; 0,0001</a:t>
            </a:r>
          </a:p>
          <a:p>
            <a:pPr>
              <a:lnSpc>
                <a:spcPct val="118000"/>
              </a:lnSpc>
            </a:pPr>
            <a:r>
              <a:rPr sz="1120" b="0" i="0">
                <a:solidFill>
                  <a:srgbClr val="1E3A5F"/>
                </a:solidFill>
                <a:latin typeface="Segoe UI"/>
              </a:rPr>
              <a:t>Toàn bộ trọng số lưu trong Flash; không cấp phát bộ nhớ động; kiểm thử đối chiếu 602 cửa sổ với Python NumPy đạt sai số &lt; 0,0001.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50">
        <p:push/>
      </p:transition>
    </mc:Choice>
    <mc:Fallback xmlns="">
      <p:transition spd="slow">
        <p:push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3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6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9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12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65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18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71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0" grpId="0" animBg="1"/>
      <p:bldP spid="11" grpId="0" animBg="1"/>
      <p:bldP spid="12" grpId="0" animBg="1"/>
      <p:bldP spid="13" grpId="0"/>
      <p:bldP spid="14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4754880"/>
          </a:xfrm>
          <a:prstGeom prst="rect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4754880"/>
            <a:ext cx="91440" cy="2103120"/>
          </a:xfrm>
          <a:prstGeom prst="rect">
            <a:avLst/>
          </a:prstGeom>
          <a:solidFill>
            <a:srgbClr val="29B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310896"/>
            <a:ext cx="256032" cy="45720"/>
          </a:xfrm>
          <a:prstGeom prst="rect">
            <a:avLst/>
          </a:prstGeom>
          <a:solidFill>
            <a:srgbClr val="29B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41248" y="219456"/>
            <a:ext cx="7772400" cy="2377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>
                <a:solidFill>
                  <a:srgbClr val="1976D2"/>
                </a:solidFill>
                <a:latin typeface="Segoe UI"/>
              </a:rPr>
              <a:t>CHƯƠNG 3 • THỊ GIÁC MÁY TÍNH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57200"/>
            <a:ext cx="9006840" cy="713232"/>
          </a:xfrm>
          <a:prstGeom prst="rect">
            <a:avLst/>
          </a:prstGeom>
          <a:noFill/>
        </p:spPr>
        <p:txBody>
          <a:bodyPr wrap="square" lIns="18288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2000" b="1" i="0">
                <a:solidFill>
                  <a:srgbClr val="0A2540"/>
                </a:solidFill>
                <a:latin typeface="Segoe UI"/>
              </a:rPr>
              <a:t>NHÁNH CAMERA AI CANMV K230 &amp; CẦU NỐI ESP32-S3</a:t>
            </a:r>
          </a:p>
          <a:p>
            <a:pPr>
              <a:lnSpc>
                <a:spcPct val="115000"/>
              </a:lnSpc>
            </a:pPr>
            <a:r>
              <a:rPr sz="1100" b="0" i="0">
                <a:solidFill>
                  <a:srgbClr val="607D9F"/>
                </a:solidFill>
                <a:latin typeface="Segoe UI"/>
              </a:rPr>
              <a:t>Đường ống YOLOv5n + IoU Tracker + Bộ lọc hình học và kiến trúc truyền thông song hành UART/HTTP</a:t>
            </a:r>
          </a:p>
        </p:txBody>
      </p:sp>
      <p:pic>
        <p:nvPicPr>
          <p:cNvPr id="8" name="Picture 7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82528" y="219456"/>
            <a:ext cx="694944" cy="6949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555480" y="347472"/>
            <a:ext cx="1463040" cy="4389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950" b="1" i="0">
                <a:solidFill>
                  <a:srgbClr val="0D47A1"/>
                </a:solidFill>
                <a:latin typeface="Segoe UI"/>
              </a:rPr>
              <a:t>ICTU • K23A
NHÓM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25296"/>
            <a:ext cx="11274552" cy="13716"/>
          </a:xfrm>
          <a:prstGeom prst="rect">
            <a:avLst/>
          </a:prstGeom>
          <a:solidFill>
            <a:srgbClr val="D2E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02920" y="6510528"/>
            <a:ext cx="11274552" cy="13716"/>
          </a:xfrm>
          <a:prstGeom prst="rect">
            <a:avLst/>
          </a:prstGeom>
          <a:solidFill>
            <a:srgbClr val="D2E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02920" y="6501384"/>
            <a:ext cx="6442601" cy="32004"/>
          </a:xfrm>
          <a:prstGeom prst="rect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2920" y="6567936"/>
            <a:ext cx="7772400" cy="196079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>
              <a:lnSpc>
                <a:spcPct val="120000"/>
              </a:lnSpc>
            </a:pPr>
            <a:r>
              <a:rPr sz="950" b="0" i="0" dirty="0" err="1">
                <a:solidFill>
                  <a:srgbClr val="607D9F"/>
                </a:solidFill>
                <a:latin typeface="Segoe UI"/>
              </a:rPr>
              <a:t>Đề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tài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: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Hệ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thống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IoT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Phát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hiện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và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Cảnh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báo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Té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ngã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lang="en-US" sz="950" dirty="0">
                <a:solidFill>
                  <a:srgbClr val="607D9F"/>
                </a:solidFill>
                <a:latin typeface="Segoe UI"/>
              </a:rPr>
              <a:t>•  Marine </a:t>
            </a:r>
            <a:r>
              <a:rPr lang="en-US" sz="950" dirty="0" err="1">
                <a:solidFill>
                  <a:srgbClr val="607D9F"/>
                </a:solidFill>
                <a:latin typeface="Segoe UI"/>
              </a:rPr>
              <a:t>Fullstack</a:t>
            </a:r>
            <a:r>
              <a:rPr lang="en-US" sz="950" dirty="0">
                <a:solidFill>
                  <a:srgbClr val="607D9F"/>
                </a:solidFill>
                <a:latin typeface="Segoe UI"/>
              </a:rPr>
              <a:t> System</a:t>
            </a:r>
            <a:endParaRPr sz="950" b="0" i="0" dirty="0">
              <a:solidFill>
                <a:srgbClr val="607D9F"/>
              </a:solidFill>
              <a:latin typeface="Segoe U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241280" y="6547104"/>
            <a:ext cx="1536192" cy="2377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50" b="1" i="0">
                <a:solidFill>
                  <a:srgbClr val="0D47A1"/>
                </a:solidFill>
                <a:latin typeface="Segoe UI"/>
              </a:rPr>
              <a:t>12 / 21</a:t>
            </a:r>
          </a:p>
        </p:txBody>
      </p:sp>
      <p:pic>
        <p:nvPicPr>
          <p:cNvPr id="15" name="Picture 14" descr="fig_3_4_k230_pip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519" y="1353312"/>
            <a:ext cx="5662081" cy="244144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02920" y="3794759"/>
            <a:ext cx="5669280" cy="25603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1">
                <a:solidFill>
                  <a:srgbClr val="607D9F"/>
                </a:solidFill>
                <a:latin typeface="Segoe UI"/>
              </a:rPr>
              <a:t>Hình 3.4. Chuỗi xử lý thị giác máy tính trên CanMV K230</a:t>
            </a:r>
          </a:p>
        </p:txBody>
      </p:sp>
      <p:pic>
        <p:nvPicPr>
          <p:cNvPr id="17" name="Picture 16" descr="fig_2_5_k230_brid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2805" y="4133087"/>
            <a:ext cx="4289508" cy="193852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02920" y="6071616"/>
            <a:ext cx="5669280" cy="25603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1">
                <a:solidFill>
                  <a:srgbClr val="607D9F"/>
                </a:solidFill>
                <a:latin typeface="Segoe UI"/>
              </a:rPr>
              <a:t>Hình 2.5. Kiến trúc song hành UART + HTTP giữa K230 và ESP32-S3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55080" y="1453896"/>
            <a:ext cx="45720" cy="4818888"/>
          </a:xfrm>
          <a:prstGeom prst="rect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519672" y="1417320"/>
            <a:ext cx="5212080" cy="489204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1320" b="1" i="0">
                <a:solidFill>
                  <a:srgbClr val="0D47A1"/>
                </a:solidFill>
                <a:latin typeface="Segoe UI"/>
              </a:rPr>
              <a:t>CHUỖI LỌC CHỐNG BÁO GIẢ TRÊN CAMERA K230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>
                <a:solidFill>
                  <a:srgbClr val="0A2540"/>
                </a:solidFill>
                <a:latin typeface="Segoe UI"/>
              </a:rPr>
              <a:t>▸  Suy luận YOLOv5n trên nhân KPU (26 FPS): </a:t>
            </a:r>
            <a:r>
              <a:rPr sz="1140" b="0" i="0">
                <a:solidFill>
                  <a:srgbClr val="1E3A5F"/>
                </a:solidFill>
                <a:latin typeface="Segoe UI"/>
              </a:rPr>
              <a:t>Chạy mô hình yolov5n-falldown.kmodel (640×640) trực tiếp trên luồng camera CSI 640×360.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>
                <a:solidFill>
                  <a:srgbClr val="0A2540"/>
                </a:solidFill>
                <a:latin typeface="Segoe UI"/>
              </a:rPr>
              <a:t>▸  Theo dõi đa đối tượng (IoU Tracker ≥ 0,30): </a:t>
            </a:r>
            <a:r>
              <a:rPr sz="1140" b="0" i="0">
                <a:solidFill>
                  <a:srgbClr val="1E3A5F"/>
                </a:solidFill>
                <a:latin typeface="Segoe UI"/>
              </a:rPr>
              <a:t>Gán mã định danh (Track ID) riêng cho từng người trong phòng qua các khung hình liên tiếp.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>
                <a:solidFill>
                  <a:srgbClr val="0A2540"/>
                </a:solidFill>
                <a:latin typeface="Segoe UI"/>
              </a:rPr>
              <a:t>▸  Bỏ phiếu trượt 6/10 &amp; Kiểm tra hình học: </a:t>
            </a:r>
            <a:r>
              <a:rPr sz="1140" b="0" i="0">
                <a:solidFill>
                  <a:srgbClr val="1E3A5F"/>
                </a:solidFill>
                <a:latin typeface="Segoe UI"/>
              </a:rPr>
              <a:t>Phiếu ngã = khung bao nằm ngang (w/h &gt; 0,95) VÀ (YOLO báo Fall HOẶC tâm Y tụt &gt; 18% trong 8 khung); cần ≥ 6/10 phiếu.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>
                <a:solidFill>
                  <a:srgbClr val="0A2540"/>
                </a:solidFill>
                <a:latin typeface="Segoe UI"/>
              </a:rPr>
              <a:t>▸  Giữ trạng thái SUSPECT 1,5 giây: </a:t>
            </a:r>
            <a:r>
              <a:rPr sz="1140" b="0" i="0">
                <a:solidFill>
                  <a:srgbClr val="1E3A5F"/>
                </a:solidFill>
                <a:latin typeface="Segoe UI"/>
              </a:rPr>
              <a:t>Phải duy trì tư thế ngã đủ 1,5 giây mới phát ALARM, loại bỏ hoàn toàn động tác cúi nhặt đồ nhanh.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>
                <a:solidFill>
                  <a:srgbClr val="0A2540"/>
                </a:solidFill>
                <a:latin typeface="Segoe UI"/>
              </a:rPr>
              <a:t>▸  Giao thức UART 921600 &amp; Vé tải ảnh SNAP: </a:t>
            </a:r>
            <a:r>
              <a:rPr sz="1140" b="0" i="0">
                <a:solidFill>
                  <a:srgbClr val="1E3A5F"/>
                </a:solidFill>
                <a:latin typeface="Segoe UI"/>
              </a:rPr>
              <a:t>Báo sự kiện tức thời qua UART (&lt;5 ms); cầu nối cấp vé một lần SNAP để K230 đẩy thẳng ảnh JPEG lên Cloud Relay.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50">
        <p:wheel spokes="1"/>
      </p:transition>
    </mc:Choice>
    <mc:Fallback xmlns="">
      <p:transition spd="slow">
        <p:wheel spokes="1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3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6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9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12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65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18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71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0" grpId="0" animBg="1"/>
      <p:bldP spid="11" grpId="0" animBg="1"/>
      <p:bldP spid="12" grpId="0" animBg="1"/>
      <p:bldP spid="13" grpId="0"/>
      <p:bldP spid="14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4754880"/>
          </a:xfrm>
          <a:prstGeom prst="rect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4754880"/>
            <a:ext cx="91440" cy="2103120"/>
          </a:xfrm>
          <a:prstGeom prst="rect">
            <a:avLst/>
          </a:prstGeom>
          <a:solidFill>
            <a:srgbClr val="29B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310896"/>
            <a:ext cx="256032" cy="45720"/>
          </a:xfrm>
          <a:prstGeom prst="rect">
            <a:avLst/>
          </a:prstGeom>
          <a:solidFill>
            <a:srgbClr val="29B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41248" y="219456"/>
            <a:ext cx="7772400" cy="2377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>
                <a:solidFill>
                  <a:srgbClr val="1976D2"/>
                </a:solidFill>
                <a:latin typeface="Segoe UI"/>
              </a:rPr>
              <a:t>CHƯƠNG 3 • TRUYỀN THÔNG &amp; GIAO DIỆN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57200"/>
            <a:ext cx="9006840" cy="713232"/>
          </a:xfrm>
          <a:prstGeom prst="rect">
            <a:avLst/>
          </a:prstGeom>
          <a:noFill/>
        </p:spPr>
        <p:txBody>
          <a:bodyPr wrap="square" lIns="18288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2000" b="1" i="0">
                <a:solidFill>
                  <a:srgbClr val="0A2540"/>
                </a:solidFill>
                <a:latin typeface="Segoe UI"/>
              </a:rPr>
              <a:t>ĐIỀU PHỐI BẢO MẬT TLS &amp; HỆ SINH THÁI QUẢN TRỊ ĐA KÊNH</a:t>
            </a:r>
          </a:p>
          <a:p>
            <a:pPr>
              <a:lnSpc>
                <a:spcPct val="115000"/>
              </a:lnSpc>
            </a:pPr>
            <a:r>
              <a:rPr sz="1100" b="0" i="0">
                <a:solidFill>
                  <a:srgbClr val="607D9F"/>
                </a:solidFill>
                <a:latin typeface="Segoe UI"/>
              </a:rPr>
              <a:t>Giải quyết triệt để bài toán cạn kiệt Heap khi mở đồng thời nhiều phiên mã hóa TLS trên vi điều khiển</a:t>
            </a:r>
          </a:p>
        </p:txBody>
      </p:sp>
      <p:pic>
        <p:nvPicPr>
          <p:cNvPr id="8" name="Picture 7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82528" y="219456"/>
            <a:ext cx="694944" cy="6949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555480" y="347472"/>
            <a:ext cx="1463040" cy="4389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950" b="1" i="0">
                <a:solidFill>
                  <a:srgbClr val="0D47A1"/>
                </a:solidFill>
                <a:latin typeface="Segoe UI"/>
              </a:rPr>
              <a:t>ICTU • K23A
NHÓM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25296"/>
            <a:ext cx="11274552" cy="13716"/>
          </a:xfrm>
          <a:prstGeom prst="rect">
            <a:avLst/>
          </a:prstGeom>
          <a:solidFill>
            <a:srgbClr val="D2E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02920" y="6510528"/>
            <a:ext cx="11274552" cy="13716"/>
          </a:xfrm>
          <a:prstGeom prst="rect">
            <a:avLst/>
          </a:prstGeom>
          <a:solidFill>
            <a:srgbClr val="D2E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02920" y="6501384"/>
            <a:ext cx="6979484" cy="32004"/>
          </a:xfrm>
          <a:prstGeom prst="rect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2920" y="6567936"/>
            <a:ext cx="7772400" cy="196079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>
              <a:lnSpc>
                <a:spcPct val="120000"/>
              </a:lnSpc>
            </a:pPr>
            <a:r>
              <a:rPr sz="950" b="0" i="0" dirty="0" err="1">
                <a:solidFill>
                  <a:srgbClr val="607D9F"/>
                </a:solidFill>
                <a:latin typeface="Segoe UI"/>
              </a:rPr>
              <a:t>Đề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tài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: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Hệ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thống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IoT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Phát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hiện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và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Cảnh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báo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Té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ngã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lang="en-US" sz="950" dirty="0">
                <a:solidFill>
                  <a:srgbClr val="607D9F"/>
                </a:solidFill>
                <a:latin typeface="Segoe UI"/>
              </a:rPr>
              <a:t>•  Marine </a:t>
            </a:r>
            <a:r>
              <a:rPr lang="en-US" sz="950" dirty="0" err="1">
                <a:solidFill>
                  <a:srgbClr val="607D9F"/>
                </a:solidFill>
                <a:latin typeface="Segoe UI"/>
              </a:rPr>
              <a:t>Fullstack</a:t>
            </a:r>
            <a:r>
              <a:rPr lang="en-US" sz="950" dirty="0">
                <a:solidFill>
                  <a:srgbClr val="607D9F"/>
                </a:solidFill>
                <a:latin typeface="Segoe UI"/>
              </a:rPr>
              <a:t> System</a:t>
            </a:r>
            <a:endParaRPr sz="950" b="0" i="0" dirty="0">
              <a:solidFill>
                <a:srgbClr val="607D9F"/>
              </a:solidFill>
              <a:latin typeface="Segoe U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241280" y="6547104"/>
            <a:ext cx="1536192" cy="2377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50" b="1" i="0">
                <a:solidFill>
                  <a:srgbClr val="0D47A1"/>
                </a:solidFill>
                <a:latin typeface="Segoe UI"/>
              </a:rPr>
              <a:t>13 / 21</a:t>
            </a:r>
          </a:p>
        </p:txBody>
      </p:sp>
      <p:pic>
        <p:nvPicPr>
          <p:cNvPr id="15" name="Picture 14" descr="fig_1_2_protocol_st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9886" y="1353312"/>
            <a:ext cx="4795347" cy="216712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02920" y="3520439"/>
            <a:ext cx="5669280" cy="25603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1">
                <a:solidFill>
                  <a:srgbClr val="607D9F"/>
                </a:solidFill>
                <a:latin typeface="Segoe UI"/>
              </a:rPr>
              <a:t>Hình 1.2. Ngăn xếp bảo mật và cổng khóa nguyên tử TlsGate</a:t>
            </a:r>
          </a:p>
        </p:txBody>
      </p:sp>
      <p:pic>
        <p:nvPicPr>
          <p:cNvPr id="17" name="Picture 16" descr="fig_3_7_web_dashbo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3836" y="3858768"/>
            <a:ext cx="4467447" cy="221284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02920" y="6071616"/>
            <a:ext cx="5669280" cy="25603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1">
                <a:solidFill>
                  <a:srgbClr val="607D9F"/>
                </a:solidFill>
                <a:latin typeface="Segoe UI"/>
              </a:rPr>
              <a:t>Hình 3.5. Giao diện Web baonga.local, Firebase Cloud &amp; Telegram/Gmail</a:t>
            </a:r>
          </a:p>
        </p:txBody>
      </p:sp>
      <p:sp>
        <p:nvSpPr>
          <p:cNvPr id="19" name="Oval 18"/>
          <p:cNvSpPr/>
          <p:nvPr/>
        </p:nvSpPr>
        <p:spPr>
          <a:xfrm>
            <a:off x="6355080" y="1481328"/>
            <a:ext cx="329184" cy="329184"/>
          </a:xfrm>
          <a:prstGeom prst="ellipse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93992" y="1463040"/>
            <a:ext cx="4956048" cy="1170432"/>
          </a:xfrm>
          <a:prstGeom prst="rect">
            <a:avLst/>
          </a:prstGeom>
          <a:noFill/>
        </p:spPr>
        <p:txBody>
          <a:bodyPr wrap="square" lIns="0" tIns="0" rIns="18288" bIns="0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80" b="1" i="0">
                <a:solidFill>
                  <a:srgbClr val="0A2540"/>
                </a:solidFill>
                <a:latin typeface="Segoe UI"/>
              </a:rPr>
              <a:t>Định tuyến bộ nhớ đệm mbedTLS sang PSRAM (tlsCalloc)</a:t>
            </a:r>
          </a:p>
          <a:p>
            <a:pPr>
              <a:lnSpc>
                <a:spcPct val="118000"/>
              </a:lnSpc>
            </a:pPr>
            <a:r>
              <a:rPr sz="1120" b="0" i="0">
                <a:solidFill>
                  <a:srgbClr val="1E3A5F"/>
                </a:solidFill>
                <a:latin typeface="Segoe UI"/>
              </a:rPr>
              <a:t>Chuyển các khối đệm mật mã TLS sang 2 MB QSPI PSRAM, giải phóng &gt; 60 KB SRAM nội bộ và duy trì &gt; 120 KB Free Heap.</a:t>
            </a:r>
          </a:p>
        </p:txBody>
      </p:sp>
      <p:sp>
        <p:nvSpPr>
          <p:cNvPr id="21" name="Oval 20"/>
          <p:cNvSpPr/>
          <p:nvPr/>
        </p:nvSpPr>
        <p:spPr>
          <a:xfrm>
            <a:off x="6355080" y="2743200"/>
            <a:ext cx="329184" cy="329184"/>
          </a:xfrm>
          <a:prstGeom prst="ellipse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93992" y="2724912"/>
            <a:ext cx="4956048" cy="1170432"/>
          </a:xfrm>
          <a:prstGeom prst="rect">
            <a:avLst/>
          </a:prstGeom>
          <a:noFill/>
        </p:spPr>
        <p:txBody>
          <a:bodyPr wrap="square" lIns="0" tIns="0" rIns="18288" bIns="0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80" b="1" i="0">
                <a:solidFill>
                  <a:srgbClr val="0A2540"/>
                </a:solidFill>
                <a:latin typeface="Segoe UI"/>
              </a:rPr>
              <a:t>Cổng khóa nguyên tử TlsGate ưu tiên cảnh báo</a:t>
            </a:r>
          </a:p>
          <a:p>
            <a:pPr>
              <a:lnSpc>
                <a:spcPct val="118000"/>
              </a:lnSpc>
            </a:pPr>
            <a:r>
              <a:rPr sz="1120" b="0" i="0">
                <a:solidFill>
                  <a:srgbClr val="1E3A5F"/>
                </a:solidFill>
                <a:latin typeface="Segoe UI"/>
              </a:rPr>
              <a:t>Tại mỗi thời điểm chỉ có 1 phiên TLS; khi có báo động, CloudSync đẩy trạng thái alarm trên phiên TLS dựng sẵn (keep-alive, Fast-Flush) rồi nhường ngay cho Telegram/Gmail.</a:t>
            </a:r>
          </a:p>
        </p:txBody>
      </p:sp>
      <p:sp>
        <p:nvSpPr>
          <p:cNvPr id="23" name="Oval 22"/>
          <p:cNvSpPr/>
          <p:nvPr/>
        </p:nvSpPr>
        <p:spPr>
          <a:xfrm>
            <a:off x="6355080" y="4005072"/>
            <a:ext cx="329184" cy="329184"/>
          </a:xfrm>
          <a:prstGeom prst="ellipse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93992" y="3986784"/>
            <a:ext cx="4956048" cy="1170432"/>
          </a:xfrm>
          <a:prstGeom prst="rect">
            <a:avLst/>
          </a:prstGeom>
          <a:noFill/>
        </p:spPr>
        <p:txBody>
          <a:bodyPr wrap="square" lIns="0" tIns="0" rIns="18288" bIns="0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80" b="1" i="0">
                <a:solidFill>
                  <a:srgbClr val="0A2540"/>
                </a:solidFill>
                <a:latin typeface="Segoe UI"/>
              </a:rPr>
              <a:t>Cổng Web cục bộ (http://baonga.local) &amp; SoftAP</a:t>
            </a:r>
          </a:p>
          <a:p>
            <a:pPr>
              <a:lnSpc>
                <a:spcPct val="118000"/>
              </a:lnSpc>
            </a:pPr>
            <a:r>
              <a:rPr sz="1120" b="0" i="0">
                <a:solidFill>
                  <a:srgbClr val="1E3A5F"/>
                </a:solidFill>
                <a:latin typeface="Segoe UI"/>
              </a:rPr>
              <a:t>Cập nhật mỗi 1 giây trạng thái, tư thế, pin, RSSI; cho phép bật/tắt còi, chỉnh số phút bất động và lưu 3 mạng Wi-Fi vào NVS.</a:t>
            </a:r>
          </a:p>
        </p:txBody>
      </p:sp>
      <p:sp>
        <p:nvSpPr>
          <p:cNvPr id="25" name="Oval 24"/>
          <p:cNvSpPr/>
          <p:nvPr/>
        </p:nvSpPr>
        <p:spPr>
          <a:xfrm>
            <a:off x="6355080" y="5230368"/>
            <a:ext cx="329184" cy="329184"/>
          </a:xfrm>
          <a:prstGeom prst="ellipse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3992" y="5212080"/>
            <a:ext cx="4956048" cy="1170432"/>
          </a:xfrm>
          <a:prstGeom prst="rect">
            <a:avLst/>
          </a:prstGeom>
          <a:noFill/>
        </p:spPr>
        <p:txBody>
          <a:bodyPr wrap="square" lIns="0" tIns="0" rIns="18288" bIns="0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80" b="1" i="0">
                <a:solidFill>
                  <a:srgbClr val="0A2540"/>
                </a:solidFill>
                <a:latin typeface="Segoe UI"/>
              </a:rPr>
              <a:t>Đồng bộ hai chiều Firebase &amp; Cảnh báo Telegram/Gmail</a:t>
            </a:r>
          </a:p>
          <a:p>
            <a:pPr>
              <a:lnSpc>
                <a:spcPct val="118000"/>
              </a:lnSpc>
            </a:pPr>
            <a:r>
              <a:rPr sz="1120" b="0" i="0">
                <a:solidFill>
                  <a:srgbClr val="1E3A5F"/>
                </a:solidFill>
                <a:latin typeface="Segoe UI"/>
              </a:rPr>
              <a:t>Giám sát từ xa qua Internet/4G với phân quyền RBAC (owner/viewer/device); gửi tin nhắn Telegram kèm ảnh và Email HTML ưu tiên cao.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5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3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6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9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12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65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18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71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0" grpId="0" animBg="1"/>
      <p:bldP spid="11" grpId="0" animBg="1"/>
      <p:bldP spid="12" grpId="0" animBg="1"/>
      <p:bldP spid="13" grpId="0"/>
      <p:bldP spid="14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4754880"/>
          </a:xfrm>
          <a:prstGeom prst="rect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4754880"/>
            <a:ext cx="91440" cy="2103120"/>
          </a:xfrm>
          <a:prstGeom prst="rect">
            <a:avLst/>
          </a:prstGeom>
          <a:solidFill>
            <a:srgbClr val="29B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310896"/>
            <a:ext cx="256032" cy="45720"/>
          </a:xfrm>
          <a:prstGeom prst="rect">
            <a:avLst/>
          </a:prstGeom>
          <a:solidFill>
            <a:srgbClr val="29B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41248" y="219456"/>
            <a:ext cx="7772400" cy="2377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>
                <a:solidFill>
                  <a:srgbClr val="1976D2"/>
                </a:solidFill>
                <a:latin typeface="Segoe UI"/>
              </a:rPr>
              <a:t>CHƯƠNG 3 • ĐƯỜNG TRUYỀN CẢNH BÁO (MỤC 3.6)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57200"/>
            <a:ext cx="9006840" cy="713232"/>
          </a:xfrm>
          <a:prstGeom prst="rect">
            <a:avLst/>
          </a:prstGeom>
          <a:noFill/>
        </p:spPr>
        <p:txBody>
          <a:bodyPr wrap="square" lIns="18288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2000" b="1" i="0">
                <a:solidFill>
                  <a:srgbClr val="0A2540"/>
                </a:solidFill>
                <a:latin typeface="Segoe UI"/>
              </a:rPr>
              <a:t>THỜI GIAN VÀNG – ĐƯỜNG TRUYỀN CẢNH BÁO 5 LỚP</a:t>
            </a:r>
          </a:p>
          <a:p>
            <a:pPr>
              <a:lnSpc>
                <a:spcPct val="115000"/>
              </a:lnSpc>
            </a:pPr>
            <a:r>
              <a:rPr sz="1100" b="0" i="0">
                <a:solidFill>
                  <a:srgbClr val="607D9F"/>
                </a:solidFill>
                <a:latin typeface="Segoe UI"/>
              </a:rPr>
              <a:t>Phát song song nhiều đường độc lập: đường nào tới trước thì báo động, các đường còn lại là dự phòng</a:t>
            </a:r>
          </a:p>
        </p:txBody>
      </p:sp>
      <p:pic>
        <p:nvPicPr>
          <p:cNvPr id="8" name="Picture 7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82528" y="219456"/>
            <a:ext cx="694944" cy="6949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555480" y="347472"/>
            <a:ext cx="1463040" cy="4389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950" b="1" i="0">
                <a:solidFill>
                  <a:srgbClr val="0D47A1"/>
                </a:solidFill>
                <a:latin typeface="Segoe UI"/>
              </a:rPr>
              <a:t>ICTU • K23A
NHÓM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25296"/>
            <a:ext cx="11274552" cy="13716"/>
          </a:xfrm>
          <a:prstGeom prst="rect">
            <a:avLst/>
          </a:prstGeom>
          <a:solidFill>
            <a:srgbClr val="D2E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02920" y="6510528"/>
            <a:ext cx="11274552" cy="13716"/>
          </a:xfrm>
          <a:prstGeom prst="rect">
            <a:avLst/>
          </a:prstGeom>
          <a:solidFill>
            <a:srgbClr val="D2E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02920" y="6501384"/>
            <a:ext cx="7516368" cy="32004"/>
          </a:xfrm>
          <a:prstGeom prst="rect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2920" y="6567936"/>
            <a:ext cx="7772400" cy="196079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>
              <a:lnSpc>
                <a:spcPct val="120000"/>
              </a:lnSpc>
            </a:pPr>
            <a:r>
              <a:rPr sz="950" b="0" i="0" dirty="0" err="1">
                <a:solidFill>
                  <a:srgbClr val="607D9F"/>
                </a:solidFill>
                <a:latin typeface="Segoe UI"/>
              </a:rPr>
              <a:t>Đề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tài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: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Hệ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thống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IoT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Phát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hiện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và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Cảnh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báo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Té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ngã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lang="en-US" sz="950" dirty="0">
                <a:solidFill>
                  <a:srgbClr val="607D9F"/>
                </a:solidFill>
                <a:latin typeface="Segoe UI"/>
              </a:rPr>
              <a:t>•  Marine </a:t>
            </a:r>
            <a:r>
              <a:rPr lang="en-US" sz="950" dirty="0" err="1">
                <a:solidFill>
                  <a:srgbClr val="607D9F"/>
                </a:solidFill>
                <a:latin typeface="Segoe UI"/>
              </a:rPr>
              <a:t>Fullstack</a:t>
            </a:r>
            <a:r>
              <a:rPr lang="en-US" sz="950" dirty="0">
                <a:solidFill>
                  <a:srgbClr val="607D9F"/>
                </a:solidFill>
                <a:latin typeface="Segoe UI"/>
              </a:rPr>
              <a:t> System</a:t>
            </a:r>
            <a:endParaRPr sz="950" b="0" i="0" dirty="0">
              <a:solidFill>
                <a:srgbClr val="607D9F"/>
              </a:solidFill>
              <a:latin typeface="Segoe U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241280" y="6547104"/>
            <a:ext cx="1536192" cy="2377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50" b="1" i="0">
                <a:solidFill>
                  <a:srgbClr val="0D47A1"/>
                </a:solidFill>
                <a:latin typeface="Segoe UI"/>
              </a:rPr>
              <a:t>14 / 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1353312"/>
            <a:ext cx="6903720" cy="31089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 i="0">
                <a:solidFill>
                  <a:srgbClr val="0A2540"/>
                </a:solidFill>
                <a:latin typeface="Segoe UI"/>
              </a:rPr>
              <a:t>TỔNG QUAN 5 LỚP ĐỘ TRỄ THẤP (BẢNG 3.5)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502920" y="1719072"/>
          <a:ext cx="6903720" cy="41376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3063240"/>
                <a:gridCol w="2240280"/>
              </a:tblGrid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Segoe UI"/>
                        </a:rPr>
                        <a:t>Lớp</a:t>
                      </a:r>
                    </a:p>
                  </a:txBody>
                  <a:tcPr anchor="ctr"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Segoe UI"/>
                        </a:rPr>
                        <a:t>Cơ chế chính</a:t>
                      </a:r>
                    </a:p>
                  </a:txBody>
                  <a:tcPr anchor="ctr"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Segoe UI"/>
                        </a:rPr>
                        <a:t>Hiệu quả theo thiết kế</a:t>
                      </a:r>
                    </a:p>
                  </a:txBody>
                  <a:tcPr anchor="ctr">
                    <a:solidFill>
                      <a:srgbClr val="0D47A1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0D47A1"/>
                          </a:solidFill>
                          <a:latin typeface="Segoe UI"/>
                        </a:rPr>
                        <a:t>1. UDP LAN Burst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E3A5F"/>
                          </a:solidFill>
                          <a:latin typeface="Segoe UI"/>
                        </a:rPr>
                        <a:t>3 gói UDP cùng seq, cách 20 ms; broadcast + unicast ≤ 4 IP; không TLS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E3A5F"/>
                          </a:solidFill>
                          <a:latin typeface="Segoe UI"/>
                        </a:rPr>
                        <a:t>Mục tiêu &lt; 15 ms trong mạng nội bộ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0D47A1"/>
                          </a:solidFill>
                          <a:latin typeface="Segoe UI"/>
                        </a:rPr>
                        <a:t>2. BLE không chặn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E3A5F"/>
                          </a:solidFill>
                          <a:latin typeface="Segoe UI"/>
                        </a:rPr>
                        <a:t>Cầu nối Camera: NOTIFY đầu tại 0 ms, lặp do BleAlert::loop()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E3A5F"/>
                          </a:solidFill>
                          <a:latin typeface="Segoe UI"/>
                        </a:rPr>
                        <a:t>Đường mạng bắt đầu sớm hơn 800 ms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0D47A1"/>
                          </a:solidFill>
                          <a:latin typeface="Segoe UI"/>
                        </a:rPr>
                        <a:t>3. Thiết lập kết nối trước (pre-warming)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E3A5F"/>
                          </a:solidFill>
                          <a:latin typeface="Segoe UI"/>
                        </a:rPr>
                        <a:t>Va đập ≥ 2,0 g: tắt Modem Sleep 10 s, giữ sẵn phiên TLS Firebase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E3A5F"/>
                          </a:solidFill>
                          <a:latin typeface="Segoe UI"/>
                        </a:rPr>
                        <a:t>Không chờ beacon, không bắt tay TLS mới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0D47A1"/>
                          </a:solidFill>
                          <a:latin typeface="Segoe UI"/>
                        </a:rPr>
                        <a:t>4. Fast-Flush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E3A5F"/>
                          </a:solidFill>
                          <a:latin typeface="Segoe UI"/>
                        </a:rPr>
                        <a:t>Task notification; PUT alarm trên phiên TLS dựng sẵn rồi nhường TlsGate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E3A5F"/>
                          </a:solidFill>
                          <a:latin typeface="Segoe UI"/>
                        </a:rPr>
                        <a:t>PUT ~150 ms; tiết kiệm 1 lần bắt tay (~1–2 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0D47A1"/>
                          </a:solidFill>
                          <a:latin typeface="Segoe UI"/>
                        </a:rPr>
                        <a:t>5. Đua đa kênh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E3A5F"/>
                          </a:solidFill>
                          <a:latin typeface="Segoe UI"/>
                        </a:rPr>
                        <a:t>App nghe song song UDP / BLE / Cloud / LAN, khử trùng lặp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E3A5F"/>
                          </a:solidFill>
                          <a:latin typeface="Segoe UI"/>
                        </a:rPr>
                        <a:t>Kênh tới trước báo động trước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</a:tr>
            </a:tbl>
          </a:graphicData>
        </a:graphic>
      </p:graphicFrame>
      <p:sp>
        <p:nvSpPr>
          <p:cNvPr id="17" name="Rectangle 16"/>
          <p:cNvSpPr/>
          <p:nvPr/>
        </p:nvSpPr>
        <p:spPr>
          <a:xfrm>
            <a:off x="7635240" y="1426464"/>
            <a:ext cx="45720" cy="4818888"/>
          </a:xfrm>
          <a:prstGeom prst="rect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799831" y="1389888"/>
            <a:ext cx="3931920" cy="489204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1320" b="1" i="0">
                <a:solidFill>
                  <a:srgbClr val="1976D2"/>
                </a:solidFill>
                <a:latin typeface="Segoe UI"/>
              </a:rPr>
              <a:t>NGUYÊN LÝ THIẾT KẾ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>
                <a:solidFill>
                  <a:srgbClr val="0A2540"/>
                </a:solidFill>
                <a:latin typeface="Segoe UI"/>
              </a:rPr>
              <a:t>▸  Mục tiêu: </a:t>
            </a:r>
            <a:r>
              <a:rPr sz="1140" b="0" i="0">
                <a:solidFill>
                  <a:srgbClr val="1E3A5F"/>
                </a:solidFill>
                <a:latin typeface="Segoe UI"/>
              </a:rPr>
              <a:t>rút ngắn thời gian từ lúc xác nhận ngã đến lúc người thân nhận cảnh báo.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>
                <a:solidFill>
                  <a:srgbClr val="0A2540"/>
                </a:solidFill>
                <a:latin typeface="Segoe UI"/>
              </a:rPr>
              <a:t>▸  Đa đường độc lập: </a:t>
            </a:r>
            <a:r>
              <a:rPr sz="1140" b="0" i="0">
                <a:solidFill>
                  <a:srgbClr val="1E3A5F"/>
                </a:solidFill>
                <a:latin typeface="Segoe UI"/>
              </a:rPr>
              <a:t>khác giao thức và hạ tầng; mất một đường vẫn còn đường dự phòng.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>
                <a:solidFill>
                  <a:srgbClr val="0A2540"/>
                </a:solidFill>
                <a:latin typeface="Segoe UI"/>
              </a:rPr>
              <a:t>▸  Bất biến TlsGate: </a:t>
            </a:r>
            <a:r>
              <a:rPr sz="1140" b="0" i="0">
                <a:solidFill>
                  <a:srgbClr val="1E3A5F"/>
                </a:solidFill>
                <a:latin typeface="Segoe UI"/>
              </a:rPr>
              <a:t>tối đa 1 phiên TLS (~46 KB RAM) tại mọi thời điểm – được giữ nguyên.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>
                <a:solidFill>
                  <a:srgbClr val="0A2540"/>
                </a:solidFill>
                <a:latin typeface="Segoe UI"/>
              </a:rPr>
              <a:t>▸  Lưu ý số liệu: </a:t>
            </a:r>
            <a:r>
              <a:rPr sz="1140" b="0" i="0">
                <a:solidFill>
                  <a:srgbClr val="1E3A5F"/>
                </a:solidFill>
                <a:latin typeface="Segoe UI"/>
              </a:rPr>
              <a:t>độ trễ là giá trị thiết kế/mục tiêu.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50">
        <p:push/>
      </p:transition>
    </mc:Choice>
    <mc:Fallback xmlns="">
      <p:transition spd="slow">
        <p:push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3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6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9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12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65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18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71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0" grpId="0" animBg="1"/>
      <p:bldP spid="11" grpId="0" animBg="1"/>
      <p:bldP spid="12" grpId="0" animBg="1"/>
      <p:bldP spid="13" grpId="0"/>
      <p:bldP spid="14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4754880"/>
          </a:xfrm>
          <a:prstGeom prst="rect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4754880"/>
            <a:ext cx="91440" cy="2103120"/>
          </a:xfrm>
          <a:prstGeom prst="rect">
            <a:avLst/>
          </a:prstGeom>
          <a:solidFill>
            <a:srgbClr val="29B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310896"/>
            <a:ext cx="256032" cy="45720"/>
          </a:xfrm>
          <a:prstGeom prst="rect">
            <a:avLst/>
          </a:prstGeom>
          <a:solidFill>
            <a:srgbClr val="29B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41248" y="219456"/>
            <a:ext cx="7772400" cy="2377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>
                <a:solidFill>
                  <a:srgbClr val="1976D2"/>
                </a:solidFill>
                <a:latin typeface="Segoe UI"/>
              </a:rPr>
              <a:t>CHƯƠNG 3 • LỚP 1 – 4 (MỤC 3.6.1 – 3.6.4)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57200"/>
            <a:ext cx="9006840" cy="713232"/>
          </a:xfrm>
          <a:prstGeom prst="rect">
            <a:avLst/>
          </a:prstGeom>
          <a:noFill/>
        </p:spPr>
        <p:txBody>
          <a:bodyPr wrap="square" lIns="18288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2000" b="1" i="0">
                <a:solidFill>
                  <a:srgbClr val="0A2540"/>
                </a:solidFill>
                <a:latin typeface="Segoe UI"/>
              </a:rPr>
              <a:t>TRÌNH TỰ PHÁT CẢNH BÁO SAU KHI XÁC NHẬN NGÃ</a:t>
            </a:r>
          </a:p>
          <a:p>
            <a:pPr>
              <a:lnSpc>
                <a:spcPct val="115000"/>
              </a:lnSpc>
            </a:pPr>
            <a:r>
              <a:rPr sz="1100" b="0" i="0">
                <a:solidFill>
                  <a:srgbClr val="607D9F"/>
                </a:solidFill>
                <a:latin typeface="Segoe UI"/>
              </a:rPr>
              <a:t>Vòng đeo: UDP → Fast-Flush Firebase → Telegram → Gmail; cầu nối Camera bỏ 800 ms bị chặn bởi delay()</a:t>
            </a:r>
          </a:p>
        </p:txBody>
      </p:sp>
      <p:pic>
        <p:nvPicPr>
          <p:cNvPr id="8" name="Picture 7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82528" y="219456"/>
            <a:ext cx="694944" cy="6949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555480" y="347472"/>
            <a:ext cx="1463040" cy="4389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950" b="1" i="0">
                <a:solidFill>
                  <a:srgbClr val="0D47A1"/>
                </a:solidFill>
                <a:latin typeface="Segoe UI"/>
              </a:rPr>
              <a:t>ICTU • K23A
NHÓM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25296"/>
            <a:ext cx="11274552" cy="13716"/>
          </a:xfrm>
          <a:prstGeom prst="rect">
            <a:avLst/>
          </a:prstGeom>
          <a:solidFill>
            <a:srgbClr val="D2E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02920" y="6510528"/>
            <a:ext cx="11274552" cy="13716"/>
          </a:xfrm>
          <a:prstGeom prst="rect">
            <a:avLst/>
          </a:prstGeom>
          <a:solidFill>
            <a:srgbClr val="D2E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02920" y="6501384"/>
            <a:ext cx="8053251" cy="32004"/>
          </a:xfrm>
          <a:prstGeom prst="rect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2920" y="6567936"/>
            <a:ext cx="7772400" cy="196079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>
              <a:lnSpc>
                <a:spcPct val="120000"/>
              </a:lnSpc>
            </a:pPr>
            <a:r>
              <a:rPr sz="950" b="0" i="0" dirty="0" err="1">
                <a:solidFill>
                  <a:srgbClr val="607D9F"/>
                </a:solidFill>
                <a:latin typeface="Segoe UI"/>
              </a:rPr>
              <a:t>Đề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tài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: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Hệ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thống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IoT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Phát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hiện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và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Cảnh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báo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Té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ngã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lang="en-US" sz="950" dirty="0">
                <a:solidFill>
                  <a:srgbClr val="607D9F"/>
                </a:solidFill>
                <a:latin typeface="Segoe UI"/>
              </a:rPr>
              <a:t>•  Marine </a:t>
            </a:r>
            <a:r>
              <a:rPr lang="en-US" sz="950" dirty="0" err="1">
                <a:solidFill>
                  <a:srgbClr val="607D9F"/>
                </a:solidFill>
                <a:latin typeface="Segoe UI"/>
              </a:rPr>
              <a:t>Fullstack</a:t>
            </a:r>
            <a:r>
              <a:rPr lang="en-US" sz="950" dirty="0">
                <a:solidFill>
                  <a:srgbClr val="607D9F"/>
                </a:solidFill>
                <a:latin typeface="Segoe UI"/>
              </a:rPr>
              <a:t> System</a:t>
            </a:r>
            <a:endParaRPr sz="950" b="0" i="0" dirty="0">
              <a:solidFill>
                <a:srgbClr val="607D9F"/>
              </a:solidFill>
              <a:latin typeface="Segoe U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241280" y="6547104"/>
            <a:ext cx="1536192" cy="2377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50" b="1" i="0">
                <a:solidFill>
                  <a:srgbClr val="0D47A1"/>
                </a:solidFill>
                <a:latin typeface="Segoe UI"/>
              </a:rPr>
              <a:t>15 / 21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1426464"/>
            <a:ext cx="45720" cy="4818888"/>
          </a:xfrm>
          <a:prstGeom prst="rect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67512" y="1389888"/>
            <a:ext cx="4800600" cy="489204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1320" b="1" i="0" dirty="0">
                <a:solidFill>
                  <a:srgbClr val="0D47A1"/>
                </a:solidFill>
                <a:latin typeface="Segoe UI"/>
              </a:rPr>
              <a:t>CẦU NỐI CAMERA: TRƯỚC / SAU TỐI ƯU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 dirty="0">
                <a:solidFill>
                  <a:srgbClr val="0A2540"/>
                </a:solidFill>
                <a:latin typeface="Segoe UI"/>
              </a:rPr>
              <a:t>▸  Trước: 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notifyFall() gửi 3 NOTIFY xen 2 × delay(400 ms), chặn luồng chính 800 ms trước Relay/Telegram.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 dirty="0">
                <a:solidFill>
                  <a:srgbClr val="0A2540"/>
                </a:solidFill>
                <a:latin typeface="Segoe UI"/>
              </a:rPr>
              <a:t>▸  Sau – BLE: 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NOTIFY đầu tại 0 ms; 2 lần lặp do BleAlert::loop() gửi mỗi 400 ms, payload trong bộ đệm tĩnh.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 dirty="0">
                <a:solidFill>
                  <a:srgbClr val="0A2540"/>
                </a:solidFill>
                <a:latin typeface="Segoe UI"/>
              </a:rPr>
              <a:t>▸  Sau – UDP: 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gói BAONGA đầu tới 255.255.255.255:4210 ngay sau BLE, trước HTTPS; lặp 2 gói cách 20 ms.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 dirty="0">
                <a:solidFill>
                  <a:srgbClr val="0A2540"/>
                </a:solidFill>
                <a:latin typeface="Segoe UI"/>
              </a:rPr>
              <a:t>▸  Kết quả: 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Relay/Telegram bắt đầu sớm hơn 800 ms (hệ quả của việc bỏ 2 lần delay, không phải số đo).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 dirty="0">
                <a:solidFill>
                  <a:srgbClr val="0A2540"/>
                </a:solidFill>
                <a:latin typeface="Segoe UI"/>
              </a:rPr>
              <a:t>▸  Hạn chế: 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HTTPS đồng bộ trong loop() làm hoãn các gói lặp; gói đầu tiên vẫn đi ở ~0 ms.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15000" y="1389888"/>
            <a:ext cx="6035040" cy="32918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 i="0">
                <a:solidFill>
                  <a:srgbClr val="0A2540"/>
                </a:solidFill>
                <a:latin typeface="Segoe UI"/>
              </a:rPr>
              <a:t>VÒNG ĐEO: TRÌNH TỰ SỰ KIỆN (GIÁ TRỊ THIẾT KẾ)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5715000" y="1792224"/>
          <a:ext cx="6035040" cy="41753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3246120"/>
                <a:gridCol w="1371600"/>
              </a:tblGrid>
              <a:tr h="554355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Segoe UI"/>
                        </a:rPr>
                        <a:t>Mốc</a:t>
                      </a:r>
                    </a:p>
                  </a:txBody>
                  <a:tcPr anchor="ctr"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Segoe UI"/>
                        </a:rPr>
                        <a:t>Thao tác</a:t>
                      </a:r>
                    </a:p>
                  </a:txBody>
                  <a:tcPr anchor="ctr"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Segoe UI"/>
                        </a:rPr>
                        <a:t>Kênh</a:t>
                      </a:r>
                    </a:p>
                  </a:txBody>
                  <a:tcPr anchor="ctr">
                    <a:solidFill>
                      <a:srgbClr val="0D47A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0D47A1"/>
                          </a:solidFill>
                          <a:latin typeface="Segoe UI"/>
                        </a:rPr>
                        <a:t>Va chạm (~3 s trước)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E3A5F"/>
                          </a:solidFill>
                          <a:latin typeface="Segoe UI"/>
                        </a:rPr>
                        <a:t>boost(10 s) tắt Modem Sleep; prewarm() giữ sẵn phiên TLS Firebase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E3A5F"/>
                          </a:solidFill>
                          <a:latin typeface="Segoe UI"/>
                        </a:rPr>
                        <a:t>Chuẩn bị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0D47A1"/>
                          </a:solidFill>
                          <a:latin typeface="Segoe UI"/>
                        </a:rPr>
                        <a:t>t = 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E3A5F"/>
                          </a:solidFill>
                          <a:latin typeface="Segoe UI"/>
                        </a:rPr>
                        <a:t>Xác nhận ngã; còi/LED; cập nhật StatusBoard ngay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E3A5F"/>
                          </a:solidFill>
                          <a:latin typeface="Segoe UI"/>
                        </a:rPr>
                        <a:t>Tại chỗ, Web Portal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0D47A1"/>
                          </a:solidFill>
                          <a:latin typeface="Segoe UI"/>
                        </a:rPr>
                        <a:t>t ≈ 0 / 20 / 40 ms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E3A5F"/>
                          </a:solidFill>
                          <a:latin typeface="Segoe UI"/>
                        </a:rPr>
                        <a:t>3 gói UDP cùng seq (broadcast + unicast ≤ 4 IP)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E3A5F"/>
                          </a:solidFill>
                          <a:latin typeface="Segoe UI"/>
                        </a:rPr>
                        <a:t>UDP LAN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0D47A1"/>
                          </a:solidFill>
                          <a:latin typeface="Segoe UI"/>
                        </a:rPr>
                        <a:t>t ≈ 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E3A5F"/>
                          </a:solidFill>
                          <a:latin typeface="Segoe UI"/>
                        </a:rPr>
                        <a:t>xTaskNotifyGive đánh thức CloudSync và Notifier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E3A5F"/>
                          </a:solidFill>
                          <a:latin typeface="Segoe UI"/>
                        </a:rPr>
                        <a:t>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0D47A1"/>
                          </a:solidFill>
                          <a:latin typeface="Segoe UI"/>
                        </a:rPr>
                        <a:t>~150 ms (mục tiêu)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E3A5F"/>
                          </a:solidFill>
                          <a:latin typeface="Segoe UI"/>
                        </a:rPr>
                        <a:t>Fast-Flush: PUT alarm trên phiên TLS dựng sẵn → releaseTls() (vẫn 1 phiên TLS)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E3A5F"/>
                          </a:solidFill>
                          <a:latin typeface="Segoe UI"/>
                        </a:rPr>
                        <a:t>Firebase → App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0D47A1"/>
                          </a:solidFill>
                          <a:latin typeface="Segoe UI"/>
                        </a:rPr>
                        <a:t>Tiếp theo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E3A5F"/>
                          </a:solidFill>
                          <a:latin typeface="Segoe UI"/>
                        </a:rPr>
                        <a:t>Notifier (lõi 0): Telegram trước, Gmail SMTP sau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E3A5F"/>
                          </a:solidFill>
                          <a:latin typeface="Segoe UI"/>
                        </a:rPr>
                        <a:t>Telegram, Gmail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50">
        <p:fade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3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6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9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12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65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18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71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0" grpId="0" animBg="1"/>
      <p:bldP spid="11" grpId="0" animBg="1"/>
      <p:bldP spid="12" grpId="0" animBg="1"/>
      <p:bldP spid="13" grpId="0"/>
      <p:bldP spid="14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4754880"/>
          </a:xfrm>
          <a:prstGeom prst="rect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4754880"/>
            <a:ext cx="91440" cy="2103120"/>
          </a:xfrm>
          <a:prstGeom prst="rect">
            <a:avLst/>
          </a:prstGeom>
          <a:solidFill>
            <a:srgbClr val="29B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310896"/>
            <a:ext cx="256032" cy="45720"/>
          </a:xfrm>
          <a:prstGeom prst="rect">
            <a:avLst/>
          </a:prstGeom>
          <a:solidFill>
            <a:srgbClr val="29B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41248" y="219456"/>
            <a:ext cx="7772400" cy="2377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>
                <a:solidFill>
                  <a:srgbClr val="1976D2"/>
                </a:solidFill>
                <a:latin typeface="Segoe UI"/>
              </a:rPr>
              <a:t>CHƯƠNG 3 • LỚP 5 (MỤC 3.6.5)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57200"/>
            <a:ext cx="9006840" cy="713232"/>
          </a:xfrm>
          <a:prstGeom prst="rect">
            <a:avLst/>
          </a:prstGeom>
          <a:noFill/>
        </p:spPr>
        <p:txBody>
          <a:bodyPr wrap="square" lIns="18288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2000" b="1" i="0">
                <a:solidFill>
                  <a:srgbClr val="0A2540"/>
                </a:solidFill>
                <a:latin typeface="Segoe UI"/>
              </a:rPr>
              <a:t>LỚP 5 – ĐUA ĐA KÊNH &amp; HỢP NHẤT ĐA NGUỒN</a:t>
            </a:r>
          </a:p>
          <a:p>
            <a:pPr>
              <a:lnSpc>
                <a:spcPct val="115000"/>
              </a:lnSpc>
            </a:pPr>
            <a:r>
              <a:rPr sz="1100" b="0" i="0">
                <a:solidFill>
                  <a:srgbClr val="607D9F"/>
                </a:solidFill>
                <a:latin typeface="Segoe UI"/>
              </a:rPr>
              <a:t>AlertFusionEngine (Dart thuần, có kiểm thử): kênh tới trước báo động, các bản sau chỉ ghi thời điểm tới</a:t>
            </a:r>
          </a:p>
        </p:txBody>
      </p:sp>
      <p:pic>
        <p:nvPicPr>
          <p:cNvPr id="8" name="Picture 7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82528" y="219456"/>
            <a:ext cx="694944" cy="6949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555480" y="347472"/>
            <a:ext cx="1463040" cy="4389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950" b="1" i="0">
                <a:solidFill>
                  <a:srgbClr val="0D47A1"/>
                </a:solidFill>
                <a:latin typeface="Segoe UI"/>
              </a:rPr>
              <a:t>ICTU • K23A
NHÓM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25296"/>
            <a:ext cx="11274552" cy="13716"/>
          </a:xfrm>
          <a:prstGeom prst="rect">
            <a:avLst/>
          </a:prstGeom>
          <a:solidFill>
            <a:srgbClr val="D2E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02920" y="6510528"/>
            <a:ext cx="11274552" cy="13716"/>
          </a:xfrm>
          <a:prstGeom prst="rect">
            <a:avLst/>
          </a:prstGeom>
          <a:solidFill>
            <a:srgbClr val="D2E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02920" y="6501384"/>
            <a:ext cx="8590134" cy="32004"/>
          </a:xfrm>
          <a:prstGeom prst="rect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2920" y="6567936"/>
            <a:ext cx="7772400" cy="196079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>
              <a:lnSpc>
                <a:spcPct val="120000"/>
              </a:lnSpc>
            </a:pPr>
            <a:r>
              <a:rPr sz="950" b="0" i="0" dirty="0" err="1">
                <a:solidFill>
                  <a:srgbClr val="607D9F"/>
                </a:solidFill>
                <a:latin typeface="Segoe UI"/>
              </a:rPr>
              <a:t>Đề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tài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: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Hệ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thống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IoT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Phát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hiện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và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Cảnh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báo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Té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ngã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lang="en-US" sz="950" dirty="0">
                <a:solidFill>
                  <a:srgbClr val="607D9F"/>
                </a:solidFill>
                <a:latin typeface="Segoe UI"/>
              </a:rPr>
              <a:t>•  Marine </a:t>
            </a:r>
            <a:r>
              <a:rPr lang="en-US" sz="950" dirty="0" err="1">
                <a:solidFill>
                  <a:srgbClr val="607D9F"/>
                </a:solidFill>
                <a:latin typeface="Segoe UI"/>
              </a:rPr>
              <a:t>Fullstack</a:t>
            </a:r>
            <a:r>
              <a:rPr lang="en-US" sz="950" dirty="0">
                <a:solidFill>
                  <a:srgbClr val="607D9F"/>
                </a:solidFill>
                <a:latin typeface="Segoe UI"/>
              </a:rPr>
              <a:t> System</a:t>
            </a:r>
            <a:endParaRPr sz="950" b="0" i="0" dirty="0">
              <a:solidFill>
                <a:srgbClr val="607D9F"/>
              </a:solidFill>
              <a:latin typeface="Segoe U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241280" y="6547104"/>
            <a:ext cx="1536192" cy="2377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50" b="1" i="0">
                <a:solidFill>
                  <a:srgbClr val="0D47A1"/>
                </a:solidFill>
                <a:latin typeface="Segoe UI"/>
              </a:rPr>
              <a:t>16 / 21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1426464"/>
            <a:ext cx="45720" cy="4818888"/>
          </a:xfrm>
          <a:prstGeom prst="rect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67512" y="1389888"/>
            <a:ext cx="4800600" cy="489204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1320" b="1" i="0" dirty="0">
                <a:solidFill>
                  <a:srgbClr val="0D47A1"/>
                </a:solidFill>
                <a:latin typeface="Segoe UI"/>
              </a:rPr>
              <a:t>4 ĐƯỜNG NGHE SONG SONG TRÊN ỨNG DỤNG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 dirty="0">
                <a:solidFill>
                  <a:srgbClr val="0A2540"/>
                </a:solidFill>
                <a:latin typeface="Segoe UI"/>
              </a:rPr>
              <a:t>▸  LanUdpListener: 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gói khẩn cấp UDP cổng 4210 (Lớp 1).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 dirty="0">
                <a:solidFill>
                  <a:srgbClr val="0A2540"/>
                </a:solidFill>
                <a:latin typeface="Segoe UI"/>
              </a:rPr>
              <a:t>▸  CameraBleService: 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NOTIFY đặc tính ALERT của cầu nối Camera (Lớp 2).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 dirty="0">
                <a:solidFill>
                  <a:srgbClr val="0A2540"/>
                </a:solidFill>
                <a:latin typeface="Segoe UI"/>
              </a:rPr>
              <a:t>▸  FirebaseSseClient: 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Realtime Database qua HTTPS REST + Server-Sent Events (Lớp 4).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 dirty="0">
                <a:solidFill>
                  <a:srgbClr val="0A2540"/>
                </a:solidFill>
                <a:latin typeface="Segoe UI"/>
              </a:rPr>
              <a:t>▸  WearableLanService: 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hỏi /api/status mỗi 2 s; giúp vòng đeo biết IP điện thoại để unicast.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 dirty="0">
                <a:solidFill>
                  <a:srgbClr val="0A2540"/>
                </a:solidFill>
                <a:latin typeface="Segoe UI"/>
              </a:rPr>
              <a:t>▸  Sự cố đầu tiên: 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chuông + rung + màn hình đỏ; bản sau ghi UDP +0 ms, BLE +x ms, Cloud +y ms.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 dirty="0">
                <a:solidFill>
                  <a:srgbClr val="0A2540"/>
                </a:solidFill>
                <a:latin typeface="Segoe UI"/>
              </a:rPr>
              <a:t>▸  An toàn: 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quy tắc (2), (3) thêm sau rà soát để không bỏ sót cú ngã thứ hai – có kiểm thử riêng.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15000" y="1389888"/>
            <a:ext cx="6035040" cy="32918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 i="0">
                <a:solidFill>
                  <a:srgbClr val="0A2540"/>
                </a:solidFill>
                <a:latin typeface="Segoe UI"/>
              </a:rPr>
              <a:t>QUY TẮC KHỬ TRÙNG LẶP &amp; GỘP (BẢNG 3.9)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5715000" y="1792224"/>
          <a:ext cx="6035040" cy="42119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2377440"/>
                <a:gridCol w="2286000"/>
              </a:tblGrid>
              <a:tr h="554355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Segoe UI"/>
                        </a:rPr>
                        <a:t>Quy tắc</a:t>
                      </a:r>
                    </a:p>
                  </a:txBody>
                  <a:tcPr anchor="ctr"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Segoe UI"/>
                        </a:rPr>
                        <a:t>Điều kiện</a:t>
                      </a:r>
                    </a:p>
                  </a:txBody>
                  <a:tcPr anchor="ctr"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Segoe UI"/>
                        </a:rPr>
                        <a:t>Xử lý</a:t>
                      </a:r>
                    </a:p>
                  </a:txBody>
                  <a:tcPr anchor="ctr">
                    <a:solidFill>
                      <a:srgbClr val="0D47A1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0D47A1"/>
                          </a:solidFill>
                          <a:latin typeface="Segoe UI"/>
                        </a:rPr>
                        <a:t>(1) Bản lặp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E3A5F"/>
                          </a:solidFill>
                          <a:latin typeface="Segoe UI"/>
                        </a:rPr>
                        <a:t>Cùng nguồn, cùng loại, trong 60 s từ tín hiệu gần nhất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E3A5F"/>
                          </a:solidFill>
                          <a:latin typeface="Segoe UI"/>
                        </a:rPr>
                        <a:t>Không đổ chuông lại, chỉ ghi thời điểm tới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0D47A1"/>
                          </a:solidFill>
                          <a:latin typeface="Segoe UI"/>
                        </a:rPr>
                        <a:t>(2) seq mới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E3A5F"/>
                          </a:solidFill>
                          <a:latin typeface="Segoe UI"/>
                        </a:rPr>
                        <a:t>Gói UDP mang seq khác seq của sự cố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E3A5F"/>
                          </a:solidFill>
                          <a:latin typeface="Segoe UI"/>
                        </a:rPr>
                        <a:t>Tạo sự cố mới (không nuốt cú ngã thứ hai)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0D47A1"/>
                          </a:solidFill>
                          <a:latin typeface="Segoe UI"/>
                        </a:rPr>
                        <a:t>(3) Đã xác nhận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E3A5F"/>
                          </a:solidFill>
                          <a:latin typeface="Segoe UI"/>
                        </a:rPr>
                        <a:t>Sự cố đã được người thân xác nhận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E3A5F"/>
                          </a:solidFill>
                          <a:latin typeface="Segoe UI"/>
                        </a:rPr>
                        <a:t>Chỉ coi là bản lặp các bản đến muộn trong 20 s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0D47A1"/>
                          </a:solidFill>
                          <a:latin typeface="Segoe UI"/>
                        </a:rPr>
                        <a:t>(4) Đa nguồn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E3A5F"/>
                          </a:solidFill>
                          <a:latin typeface="Segoe UI"/>
                        </a:rPr>
                        <a:t>Vòng đeo + Camera cùng báo ngã trong 30 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E3A5F"/>
                          </a:solidFill>
                          <a:latin typeface="Segoe UI"/>
                        </a:rPr>
                        <a:t>Gộp: ĐA NGUỒN XÁC NHẬN (Vòng đeo + Camera AI)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0D47A1"/>
                          </a:solidFill>
                          <a:latin typeface="Segoe UI"/>
                        </a:rPr>
                        <a:t>Phát hiện cạnh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E3A5F"/>
                          </a:solidFill>
                          <a:latin typeface="Segoe UI"/>
                        </a:rPr>
                        <a:t>Cloud/LAN: alarm off→fall; inactive false↔true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E3A5F"/>
                          </a:solidFill>
                          <a:latin typeface="Segoe UI"/>
                        </a:rPr>
                        <a:t>Sinh tín hiệu ngã / bất động / cử động lại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50">
        <p:fade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3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6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9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12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65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18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71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0" grpId="0" animBg="1"/>
      <p:bldP spid="11" grpId="0" animBg="1"/>
      <p:bldP spid="12" grpId="0" animBg="1"/>
      <p:bldP spid="13" grpId="0"/>
      <p:bldP spid="1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4754880"/>
          </a:xfrm>
          <a:prstGeom prst="rect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4754880"/>
            <a:ext cx="91440" cy="2103120"/>
          </a:xfrm>
          <a:prstGeom prst="rect">
            <a:avLst/>
          </a:prstGeom>
          <a:solidFill>
            <a:srgbClr val="29B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310896"/>
            <a:ext cx="256032" cy="45720"/>
          </a:xfrm>
          <a:prstGeom prst="rect">
            <a:avLst/>
          </a:prstGeom>
          <a:solidFill>
            <a:srgbClr val="29B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41248" y="219456"/>
            <a:ext cx="7772400" cy="2377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>
                <a:solidFill>
                  <a:srgbClr val="1976D2"/>
                </a:solidFill>
                <a:latin typeface="Segoe UI"/>
              </a:rPr>
              <a:t>CHƯƠNG 3 • ỨNG DỤNG DI ĐỘNG (MỤC 3.7)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57200"/>
            <a:ext cx="9006840" cy="713232"/>
          </a:xfrm>
          <a:prstGeom prst="rect">
            <a:avLst/>
          </a:prstGeom>
          <a:noFill/>
        </p:spPr>
        <p:txBody>
          <a:bodyPr wrap="square" lIns="18288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2000" b="1" i="0">
                <a:solidFill>
                  <a:srgbClr val="0A2540"/>
                </a:solidFill>
                <a:latin typeface="Segoe UI"/>
              </a:rPr>
              <a:t>ỨNG DỤNG DI ĐỘNG BÁO NGÃ IoT</a:t>
            </a:r>
          </a:p>
          <a:p>
            <a:pPr>
              <a:lnSpc>
                <a:spcPct val="115000"/>
              </a:lnSpc>
            </a:pPr>
            <a:r>
              <a:rPr sz="1100" b="0" i="0">
                <a:solidFill>
                  <a:srgbClr val="607D9F"/>
                </a:solidFill>
                <a:latin typeface="Segoe UI"/>
              </a:rPr>
              <a:t>Flutter 3.47.9 / Dart 3.13.7 – giao diện tối giản kiểu iOS, một mã nguồn cho Android (APK) và iOS (IPA cài bằng Sideloadly)</a:t>
            </a:r>
          </a:p>
        </p:txBody>
      </p:sp>
      <p:pic>
        <p:nvPicPr>
          <p:cNvPr id="8" name="Picture 7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82528" y="219456"/>
            <a:ext cx="694944" cy="6949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555480" y="347472"/>
            <a:ext cx="1463040" cy="4389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950" b="1" i="0">
                <a:solidFill>
                  <a:srgbClr val="0D47A1"/>
                </a:solidFill>
                <a:latin typeface="Segoe UI"/>
              </a:rPr>
              <a:t>ICTU • K23A
NHÓM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25296"/>
            <a:ext cx="11274552" cy="13716"/>
          </a:xfrm>
          <a:prstGeom prst="rect">
            <a:avLst/>
          </a:prstGeom>
          <a:solidFill>
            <a:srgbClr val="D2E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02920" y="6510528"/>
            <a:ext cx="11274552" cy="13716"/>
          </a:xfrm>
          <a:prstGeom prst="rect">
            <a:avLst/>
          </a:prstGeom>
          <a:solidFill>
            <a:srgbClr val="D2E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02920" y="6501384"/>
            <a:ext cx="9127018" cy="32004"/>
          </a:xfrm>
          <a:prstGeom prst="rect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2920" y="6567936"/>
            <a:ext cx="7772400" cy="196079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>
              <a:lnSpc>
                <a:spcPct val="120000"/>
              </a:lnSpc>
            </a:pPr>
            <a:r>
              <a:rPr sz="950" b="0" i="0" dirty="0" err="1">
                <a:solidFill>
                  <a:srgbClr val="607D9F"/>
                </a:solidFill>
                <a:latin typeface="Segoe UI"/>
              </a:rPr>
              <a:t>Đề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tài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: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Hệ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thống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IoT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Phát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hiện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và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Cảnh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báo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Té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ngã</a:t>
            </a:r>
            <a:r>
              <a:rPr lang="en-US"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lang="en-US" sz="950" dirty="0">
                <a:solidFill>
                  <a:srgbClr val="607D9F"/>
                </a:solidFill>
                <a:latin typeface="Segoe UI"/>
              </a:rPr>
              <a:t>•  Marine </a:t>
            </a:r>
            <a:r>
              <a:rPr lang="en-US" sz="950" dirty="0" err="1">
                <a:solidFill>
                  <a:srgbClr val="607D9F"/>
                </a:solidFill>
                <a:latin typeface="Segoe UI"/>
              </a:rPr>
              <a:t>Fullstack</a:t>
            </a:r>
            <a:r>
              <a:rPr lang="en-US" sz="950" dirty="0">
                <a:solidFill>
                  <a:srgbClr val="607D9F"/>
                </a:solidFill>
                <a:latin typeface="Segoe UI"/>
              </a:rPr>
              <a:t> System</a:t>
            </a:r>
            <a:endParaRPr sz="950" b="0" i="0" dirty="0">
              <a:solidFill>
                <a:srgbClr val="607D9F"/>
              </a:solidFill>
              <a:latin typeface="Segoe U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241280" y="6547104"/>
            <a:ext cx="1536192" cy="2377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50" b="1" i="0">
                <a:solidFill>
                  <a:srgbClr val="0D47A1"/>
                </a:solidFill>
                <a:latin typeface="Segoe UI"/>
              </a:rPr>
              <a:t>17 / 21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360" y="1417320"/>
            <a:ext cx="594360" cy="45720"/>
          </a:xfrm>
          <a:prstGeom prst="rect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94360" y="1490472"/>
            <a:ext cx="2606040" cy="943272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2050" b="1" i="0" dirty="0" err="1">
                <a:solidFill>
                  <a:srgbClr val="0D47A1"/>
                </a:solidFill>
                <a:latin typeface="Segoe UI"/>
              </a:rPr>
              <a:t>~8 900 dòng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140" b="1" i="0" dirty="0" err="1">
                <a:solidFill>
                  <a:srgbClr val="0A2540"/>
                </a:solidFill>
                <a:latin typeface="Segoe UI"/>
              </a:rPr>
              <a:t>Mã Dart, kiến trúc 5 lớp</a:t>
            </a:r>
            <a:endParaRPr sz="1140" b="1" i="0" dirty="0">
              <a:solidFill>
                <a:srgbClr val="0A2540"/>
              </a:solidFill>
              <a:latin typeface="Segoe UI"/>
            </a:endParaRPr>
          </a:p>
          <a:p>
            <a:pPr>
              <a:lnSpc>
                <a:spcPct val="112000"/>
              </a:lnSpc>
            </a:pPr>
            <a:r>
              <a:rPr sz="1000" b="0" i="0" dirty="0">
                <a:solidFill>
                  <a:srgbClr val="607D9F"/>
                </a:solidFill>
                <a:latin typeface="Segoe UI"/>
              </a:rPr>
              <a:t>core → services → platform → state → ui</a:t>
            </a:r>
            <a:endParaRPr sz="1000" b="0" i="0" dirty="0">
              <a:solidFill>
                <a:srgbClr val="607D9F"/>
              </a:solidFill>
              <a:latin typeface="Segoe UI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3474720" y="1417320"/>
            <a:ext cx="594360" cy="45720"/>
          </a:xfrm>
          <a:prstGeom prst="rect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474720" y="1490472"/>
            <a:ext cx="2606040" cy="1069848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2050" b="1" i="0">
                <a:solidFill>
                  <a:srgbClr val="1976D2"/>
                </a:solidFill>
                <a:latin typeface="Segoe UI"/>
              </a:rPr>
              <a:t>2 nền tảng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140" b="1" i="0">
                <a:solidFill>
                  <a:srgbClr val="0A2540"/>
                </a:solidFill>
                <a:latin typeface="Segoe UI"/>
              </a:rPr>
              <a:t>Android APK + iOS IPA</a:t>
            </a:r>
          </a:p>
          <a:p>
            <a:pPr>
              <a:lnSpc>
                <a:spcPct val="112000"/>
              </a:lnSpc>
            </a:pPr>
            <a:r>
              <a:rPr sz="1000" b="0" i="0">
                <a:solidFill>
                  <a:srgbClr val="607D9F"/>
                </a:solidFill>
                <a:latin typeface="Segoe UI"/>
              </a:rPr>
              <a:t>minSdk 24 / targetSdk 35; Apple ID miễn phí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55080" y="1417320"/>
            <a:ext cx="594360" cy="45720"/>
          </a:xfrm>
          <a:prstGeom prst="rect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355080" y="1490472"/>
            <a:ext cx="2606040" cy="1069848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2050" b="1" i="0">
                <a:solidFill>
                  <a:srgbClr val="0D47A1"/>
                </a:solidFill>
                <a:latin typeface="Segoe UI"/>
              </a:rPr>
              <a:t>3 tab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140" b="1" i="0">
                <a:solidFill>
                  <a:srgbClr val="0A2540"/>
                </a:solidFill>
                <a:latin typeface="Segoe UI"/>
              </a:rPr>
              <a:t>+ Màn hình báo động đỏ</a:t>
            </a:r>
          </a:p>
          <a:p>
            <a:pPr>
              <a:lnSpc>
                <a:spcPct val="112000"/>
              </a:lnSpc>
            </a:pPr>
            <a:r>
              <a:rPr sz="1000" b="0" i="0">
                <a:solidFill>
                  <a:srgbClr val="607D9F"/>
                </a:solidFill>
                <a:latin typeface="Segoe UI"/>
              </a:rPr>
              <a:t>Tổng quan • Lịch sử • Cài đặt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235440" y="1417320"/>
            <a:ext cx="594360" cy="45720"/>
          </a:xfrm>
          <a:prstGeom prst="rect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235440" y="1490472"/>
            <a:ext cx="2514600" cy="1069848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2050" b="1" i="0">
                <a:solidFill>
                  <a:srgbClr val="1976D2"/>
                </a:solidFill>
                <a:latin typeface="Segoe UI"/>
              </a:rPr>
              <a:t>82 PASS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140" b="1" i="0">
                <a:solidFill>
                  <a:srgbClr val="0A2540"/>
                </a:solidFill>
                <a:latin typeface="Segoe UI"/>
              </a:rPr>
              <a:t>flutter test (10 tệp)</a:t>
            </a:r>
          </a:p>
          <a:p>
            <a:pPr>
              <a:lnSpc>
                <a:spcPct val="112000"/>
              </a:lnSpc>
            </a:pPr>
            <a:r>
              <a:rPr sz="1000" b="0" i="0">
                <a:solidFill>
                  <a:srgbClr val="607D9F"/>
                </a:solidFill>
                <a:latin typeface="Segoe UI"/>
              </a:rPr>
              <a:t>flutter analyze: 0 vấn đề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4360" y="2743200"/>
            <a:ext cx="11155680" cy="13716"/>
          </a:xfrm>
          <a:prstGeom prst="rect">
            <a:avLst/>
          </a:prstGeom>
          <a:solidFill>
            <a:srgbClr val="D2E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967728" y="2980944"/>
            <a:ext cx="45720" cy="3264408"/>
          </a:xfrm>
          <a:prstGeom prst="rect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132320" y="2944368"/>
            <a:ext cx="4617720" cy="2389565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1320" b="1" i="0" dirty="0">
                <a:solidFill>
                  <a:srgbClr val="0D47A1"/>
                </a:solidFill>
                <a:latin typeface="Segoe UI"/>
              </a:rPr>
              <a:t>GIAO DIỆN MỚI &amp; TÍNH NĂNG</a:t>
            </a:r>
            <a:endParaRPr lang="en-US" sz="1320" b="1" i="0" dirty="0">
              <a:solidFill>
                <a:srgbClr val="0D47A1"/>
              </a:solidFill>
              <a:latin typeface="Segoe UI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1160" b="1" i="0" dirty="0">
                <a:solidFill>
                  <a:srgbClr val="0A2540"/>
                </a:solidFill>
                <a:latin typeface="Segoe UI"/>
              </a:rPr>
              <a:t>▸  Tổng quan: 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trạng thái theo ưu tiên báo động › không cử động › mất tín hiệu › đang kết nối › an toàn; camera 16:9, vòng đeo kèm % pin.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1160" b="1" i="0" dirty="0">
                <a:solidFill>
                  <a:srgbClr val="0A2540"/>
                </a:solidFill>
                <a:latin typeface="Segoe UI"/>
              </a:rPr>
              <a:t>▸  Báo động: 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nền đỏ toàn màn hình, nút Gọi cấp cứu 115 / Đã kiểm tra, tắt chuông; nhãn đa nguồn khi vòng đeo và camera cùng xác nhận.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1160" b="1" i="0" dirty="0">
                <a:solidFill>
                  <a:srgbClr val="0A2540"/>
                </a:solidFill>
                <a:latin typeface="Segoe UI"/>
              </a:rPr>
              <a:t>▸  Lịch sử: 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lọc Tất cả | Ngã | Không cử động; Chi tiết sự cố có mục Thông tin kỹ thuật (kênh UDP/BLE/Cloud).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1160" b="1" i="0" dirty="0">
                <a:solidFill>
                  <a:srgbClr val="0A2540"/>
                </a:solidFill>
                <a:latin typeface="Segoe UI"/>
              </a:rPr>
              <a:t>▸  Mới: 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mất tín hiệu vòng đeo sau 75 s (khớp web), % pin từ mV, tên người được theo dõi (chỉ owner ghi).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1160" b="1" i="0" dirty="0">
                <a:solidFill>
                  <a:srgbClr val="0A2540"/>
                </a:solidFill>
                <a:latin typeface="Segoe UI"/>
              </a:rPr>
              <a:t>▸  Kết nối: </a:t>
            </a:r>
            <a:r>
              <a:rPr sz="1140" b="0" i="0" dirty="0">
                <a:solidFill>
                  <a:srgbClr val="1E3A5F"/>
                </a:solidFill>
                <a:latin typeface="Segoe UI"/>
              </a:rPr>
              <a:t>Firebase REST + SSE, Web Portal, BLE QR + HMAC; Android Foreground Service, iOS sideload; CI GitHub Actions.</a:t>
            </a:r>
          </a:p>
        </p:txBody>
      </p:sp>
      <p:pic>
        <p:nvPicPr>
          <p:cNvPr id="36" name="App overview_safe" descr="s_overview_saf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926080"/>
            <a:ext cx="1288718" cy="2788920"/>
          </a:xfrm>
          <a:prstGeom prst="rect">
            <a:avLst/>
          </a:prstGeom>
          <a:ln w="9525">
            <a:solidFill>
              <a:srgbClr val="C5CCD8"/>
            </a:solidFill>
          </a:ln>
        </p:spPr>
      </p:pic>
      <p:sp>
        <p:nvSpPr>
          <p:cNvPr id="16" name="TextBox 15"/>
          <p:cNvSpPr txBox="1"/>
          <p:nvPr/>
        </p:nvSpPr>
        <p:spPr>
          <a:xfrm>
            <a:off x="594360" y="5751576"/>
            <a:ext cx="1471598" cy="25603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07D9F"/>
                </a:solidFill>
                <a:latin typeface="Segoe UI"/>
              </a:rPr>
              <a:t>Tổng quan</a:t>
            </a:r>
          </a:p>
        </p:txBody>
      </p:sp>
      <p:pic>
        <p:nvPicPr>
          <p:cNvPr id="37" name="App alarm" descr="s_alar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75686" y="2926080"/>
            <a:ext cx="1288718" cy="2788920"/>
          </a:xfrm>
          <a:prstGeom prst="rect">
            <a:avLst/>
          </a:prstGeom>
          <a:ln w="9525">
            <a:solidFill>
              <a:srgbClr val="C5CCD8"/>
            </a:solidFill>
          </a:ln>
        </p:spPr>
      </p:pic>
      <p:sp>
        <p:nvSpPr>
          <p:cNvPr id="16" name="TextBox 15"/>
          <p:cNvSpPr txBox="1"/>
          <p:nvPr/>
        </p:nvSpPr>
        <p:spPr>
          <a:xfrm>
            <a:off x="2084246" y="5751576"/>
            <a:ext cx="1471598" cy="25603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07D9F"/>
                </a:solidFill>
                <a:latin typeface="Segoe UI"/>
              </a:rPr>
              <a:t>Báo động</a:t>
            </a:r>
          </a:p>
        </p:txBody>
      </p:sp>
      <p:pic>
        <p:nvPicPr>
          <p:cNvPr id="38" name="App history" descr="s_histo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65573" y="2926080"/>
            <a:ext cx="1288718" cy="2788920"/>
          </a:xfrm>
          <a:prstGeom prst="rect">
            <a:avLst/>
          </a:prstGeom>
          <a:ln w="9525">
            <a:solidFill>
              <a:srgbClr val="C5CCD8"/>
            </a:solidFill>
          </a:ln>
        </p:spPr>
      </p:pic>
      <p:sp>
        <p:nvSpPr>
          <p:cNvPr id="16" name="TextBox 15"/>
          <p:cNvSpPr txBox="1"/>
          <p:nvPr/>
        </p:nvSpPr>
        <p:spPr>
          <a:xfrm>
            <a:off x="3574133" y="5751576"/>
            <a:ext cx="1471598" cy="25603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07D9F"/>
                </a:solidFill>
                <a:latin typeface="Segoe UI"/>
              </a:rPr>
              <a:t>Lịch sử</a:t>
            </a:r>
          </a:p>
        </p:txBody>
      </p:sp>
      <p:pic>
        <p:nvPicPr>
          <p:cNvPr id="39" name="App incident_detail" descr="s_incident_detai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55460" y="2926080"/>
            <a:ext cx="1288718" cy="2788920"/>
          </a:xfrm>
          <a:prstGeom prst="rect">
            <a:avLst/>
          </a:prstGeom>
          <a:ln w="9525">
            <a:solidFill>
              <a:srgbClr val="C5CCD8"/>
            </a:solidFill>
          </a:ln>
        </p:spPr>
      </p:pic>
      <p:sp>
        <p:nvSpPr>
          <p:cNvPr id="16" name="TextBox 15"/>
          <p:cNvSpPr txBox="1"/>
          <p:nvPr/>
        </p:nvSpPr>
        <p:spPr>
          <a:xfrm>
            <a:off x="5064020" y="5751576"/>
            <a:ext cx="1471598" cy="25603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07D9F"/>
                </a:solidFill>
                <a:latin typeface="Segoe UI"/>
              </a:rPr>
              <a:t>Chi tiết sự cố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6025896"/>
            <a:ext cx="5941259" cy="25603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1">
                <a:solidFill>
                  <a:srgbClr val="607D9F"/>
                </a:solidFill>
                <a:latin typeface="Segoe UI"/>
              </a:rPr>
              <a:t>Hình 3.6 – 3.7. Ảnh chụp màn hình kết xuất từ mã nguồn app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50">
        <p:push/>
      </p:transition>
    </mc:Choice>
    <mc:Fallback xmlns="">
      <p:transition spd="slow">
        <p:push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3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6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9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12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65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18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71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0" grpId="0" animBg="1"/>
      <p:bldP spid="11" grpId="0" animBg="1"/>
      <p:bldP spid="12" grpId="0" animBg="1"/>
      <p:bldP spid="13" grpId="0"/>
      <p:bldP spid="14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4754880"/>
          </a:xfrm>
          <a:prstGeom prst="rect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4754880"/>
            <a:ext cx="91440" cy="2103120"/>
          </a:xfrm>
          <a:prstGeom prst="rect">
            <a:avLst/>
          </a:prstGeom>
          <a:solidFill>
            <a:srgbClr val="29B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310896"/>
            <a:ext cx="256032" cy="45720"/>
          </a:xfrm>
          <a:prstGeom prst="rect">
            <a:avLst/>
          </a:prstGeom>
          <a:solidFill>
            <a:srgbClr val="29B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41248" y="219456"/>
            <a:ext cx="7772400" cy="2377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>
                <a:solidFill>
                  <a:srgbClr val="1976D2"/>
                </a:solidFill>
                <a:latin typeface="Segoe UI"/>
              </a:rPr>
              <a:t>CHƯƠNG 3 • KIỂM CHỨNG THUẬT TOÁN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57200"/>
            <a:ext cx="9006840" cy="713232"/>
          </a:xfrm>
          <a:prstGeom prst="rect">
            <a:avLst/>
          </a:prstGeom>
          <a:noFill/>
        </p:spPr>
        <p:txBody>
          <a:bodyPr wrap="square" lIns="18288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2000" b="1" i="0">
                <a:solidFill>
                  <a:srgbClr val="0A2540"/>
                </a:solidFill>
                <a:latin typeface="Segoe UI"/>
              </a:rPr>
              <a:t>PHÂN TÍCH DẠNG SÓNG IMU &amp; KIỂM THỬ ĐƠN VỊ C++17</a:t>
            </a:r>
          </a:p>
          <a:p>
            <a:pPr>
              <a:lnSpc>
                <a:spcPct val="115000"/>
              </a:lnSpc>
            </a:pPr>
            <a:r>
              <a:rPr sz="1100" b="0" i="0">
                <a:solidFill>
                  <a:srgbClr val="607D9F"/>
                </a:solidFill>
                <a:latin typeface="Segoe UI"/>
              </a:rPr>
              <a:t>Đối chiếu dạng sóng thực tế qua 5 pha té ngã và kết quả thực thi 7 bộ Host Unit Tests bằng Zig 0.13.0</a:t>
            </a:r>
          </a:p>
        </p:txBody>
      </p:sp>
      <p:pic>
        <p:nvPicPr>
          <p:cNvPr id="8" name="Picture 7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82528" y="219456"/>
            <a:ext cx="694944" cy="6949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555480" y="347472"/>
            <a:ext cx="1463040" cy="4389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950" b="1" i="0">
                <a:solidFill>
                  <a:srgbClr val="0D47A1"/>
                </a:solidFill>
                <a:latin typeface="Segoe UI"/>
              </a:rPr>
              <a:t>ICTU • K23A
NHÓM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25296"/>
            <a:ext cx="11274552" cy="13716"/>
          </a:xfrm>
          <a:prstGeom prst="rect">
            <a:avLst/>
          </a:prstGeom>
          <a:solidFill>
            <a:srgbClr val="D2E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02920" y="6510528"/>
            <a:ext cx="11274552" cy="13716"/>
          </a:xfrm>
          <a:prstGeom prst="rect">
            <a:avLst/>
          </a:prstGeom>
          <a:solidFill>
            <a:srgbClr val="D2E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02920" y="6501384"/>
            <a:ext cx="9663901" cy="32004"/>
          </a:xfrm>
          <a:prstGeom prst="rect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2920" y="6567936"/>
            <a:ext cx="7772400" cy="196079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>
              <a:lnSpc>
                <a:spcPct val="120000"/>
              </a:lnSpc>
            </a:pPr>
            <a:r>
              <a:rPr sz="950" b="0" i="0" dirty="0" err="1">
                <a:solidFill>
                  <a:srgbClr val="607D9F"/>
                </a:solidFill>
                <a:latin typeface="Segoe UI"/>
              </a:rPr>
              <a:t>Đề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tài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: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Hệ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thống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IoT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Phát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hiện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và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Cảnh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báo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Té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ngã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lang="en-US" sz="950" dirty="0">
                <a:solidFill>
                  <a:srgbClr val="607D9F"/>
                </a:solidFill>
                <a:latin typeface="Segoe UI"/>
              </a:rPr>
              <a:t>•  Marine </a:t>
            </a:r>
            <a:r>
              <a:rPr lang="en-US" sz="950" dirty="0" err="1">
                <a:solidFill>
                  <a:srgbClr val="607D9F"/>
                </a:solidFill>
                <a:latin typeface="Segoe UI"/>
              </a:rPr>
              <a:t>Fullstack</a:t>
            </a:r>
            <a:r>
              <a:rPr lang="en-US" sz="950" dirty="0">
                <a:solidFill>
                  <a:srgbClr val="607D9F"/>
                </a:solidFill>
                <a:latin typeface="Segoe UI"/>
              </a:rPr>
              <a:t> System</a:t>
            </a:r>
            <a:endParaRPr sz="950" b="0" i="0" dirty="0">
              <a:solidFill>
                <a:srgbClr val="607D9F"/>
              </a:solidFill>
              <a:latin typeface="Segoe U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241280" y="6547104"/>
            <a:ext cx="1536192" cy="2377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50" b="1" i="0">
                <a:solidFill>
                  <a:srgbClr val="0D47A1"/>
                </a:solidFill>
                <a:latin typeface="Segoe UI"/>
              </a:rPr>
              <a:t>18 / 21</a:t>
            </a:r>
          </a:p>
        </p:txBody>
      </p:sp>
      <p:pic>
        <p:nvPicPr>
          <p:cNvPr id="15" name="Picture 14" descr="fig_3_6_imu_wavefor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658401"/>
            <a:ext cx="6858000" cy="411726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02920" y="6080759"/>
            <a:ext cx="6858000" cy="25603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1">
                <a:solidFill>
                  <a:srgbClr val="607D9F"/>
                </a:solidFill>
                <a:latin typeface="Segoe UI"/>
              </a:rPr>
              <a:t>Hình 3.9. Dạng sóng gia tốc, vận tốc góc và góc lệch tư thế qua 5 pha té ngã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43800" y="1417320"/>
            <a:ext cx="594360" cy="45720"/>
          </a:xfrm>
          <a:prstGeom prst="rect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543800" y="1490472"/>
            <a:ext cx="2011680" cy="978407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2050" b="1" i="0">
                <a:solidFill>
                  <a:srgbClr val="0D47A1"/>
                </a:solidFill>
                <a:latin typeface="Segoe UI"/>
              </a:rPr>
              <a:t>65%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140" b="1" i="0">
                <a:solidFill>
                  <a:srgbClr val="0A2540"/>
                </a:solidFill>
                <a:latin typeface="Segoe UI"/>
              </a:rPr>
              <a:t>Flash vòng đeo (1,23 MB)</a:t>
            </a:r>
          </a:p>
          <a:p>
            <a:pPr>
              <a:lnSpc>
                <a:spcPct val="112000"/>
              </a:lnSpc>
            </a:pPr>
            <a:r>
              <a:rPr sz="1000" b="0" i="0">
                <a:solidFill>
                  <a:srgbClr val="607D9F"/>
                </a:solidFill>
                <a:latin typeface="Segoe UI"/>
              </a:rPr>
              <a:t>Phân vùng min_spiffs 1,875 MB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738360" y="1417320"/>
            <a:ext cx="594360" cy="45720"/>
          </a:xfrm>
          <a:prstGeom prst="rect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738360" y="1490472"/>
            <a:ext cx="2011680" cy="978407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2050" b="1" i="0">
                <a:solidFill>
                  <a:srgbClr val="1976D2"/>
                </a:solidFill>
                <a:latin typeface="Segoe UI"/>
              </a:rPr>
              <a:t>&lt; 0,0001</a:t>
            </a:r>
          </a:p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1140" b="1" i="0">
                <a:solidFill>
                  <a:srgbClr val="0A2540"/>
                </a:solidFill>
                <a:latin typeface="Segoe UI"/>
              </a:rPr>
              <a:t>Sai số C++17 vs NumPy</a:t>
            </a:r>
          </a:p>
          <a:p>
            <a:pPr>
              <a:lnSpc>
                <a:spcPct val="112000"/>
              </a:lnSpc>
            </a:pPr>
            <a:r>
              <a:rPr sz="1000" b="0" i="0">
                <a:solidFill>
                  <a:srgbClr val="607D9F"/>
                </a:solidFill>
                <a:latin typeface="Segoe UI"/>
              </a:rPr>
              <a:t>Trên 602 cửa sổ kiểm thử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543800" y="2734056"/>
            <a:ext cx="45720" cy="3538728"/>
          </a:xfrm>
          <a:prstGeom prst="rect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708392" y="2697480"/>
            <a:ext cx="4023359" cy="361188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1320" b="1" i="0">
                <a:solidFill>
                  <a:srgbClr val="0D47A1"/>
                </a:solidFill>
                <a:latin typeface="Segoe UI"/>
              </a:rPr>
              <a:t>KẾT QUẢ 7 BỘ UNIT TEST C++17 (ZIG 0.13.0)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>
                <a:solidFill>
                  <a:srgbClr val="0A2540"/>
                </a:solidFill>
                <a:latin typeface="Segoe UI"/>
              </a:rPr>
              <a:t>▸  runtime_test.cpp (PASS): </a:t>
            </a:r>
            <a:r>
              <a:rPr sz="1140" b="0" i="0">
                <a:solidFill>
                  <a:srgbClr val="1E3A5F"/>
                </a:solidFill>
                <a:latin typeface="Segoe UI"/>
              </a:rPr>
              <a:t>chu kỳ còi, ức chế chạm và tương đương C++17 / NumPy trên 602 cửa sổ.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>
                <a:solidFill>
                  <a:srgbClr val="0A2540"/>
                </a:solidFill>
                <a:latin typeface="Segoe UI"/>
              </a:rPr>
              <a:t>▸  detection_test.cpp (PASS): </a:t>
            </a:r>
            <a:r>
              <a:rPr sz="1140" b="0" i="0">
                <a:solidFill>
                  <a:srgbClr val="1E3A5F"/>
                </a:solidFill>
                <a:latin typeface="Segoe UI"/>
              </a:rPr>
              <a:t>xác nhận đúng cú ngã chuẩn (Free-fall + Impact + Still + 78° tilt) và lọc 100% báo giả ADL.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>
                <a:solidFill>
                  <a:srgbClr val="0A2540"/>
                </a:solidFill>
                <a:latin typeface="Segoe UI"/>
              </a:rPr>
              <a:t>▸  inactivity_test.cpp (PASS): </a:t>
            </a:r>
            <a:r>
              <a:rPr sz="1140" b="0" i="0">
                <a:solidFill>
                  <a:srgbClr val="1E3A5F"/>
                </a:solidFill>
                <a:latin typeface="Segoe UI"/>
              </a:rPr>
              <a:t>lọc đúng nhiễu rung 1–2 mẫu, kích hoạt cảnh báo vàng đúng hạn và tự khôi phục.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>
                <a:solidFill>
                  <a:srgbClr val="0A2540"/>
                </a:solidFill>
                <a:latin typeface="Segoe UI"/>
              </a:rPr>
              <a:t>▸  driver / notify / cloud / lan_alert (PASS): </a:t>
            </a:r>
            <a:r>
              <a:rPr sz="1140" b="0" i="0">
                <a:solidFill>
                  <a:srgbClr val="1E3A5F"/>
                </a:solidFill>
                <a:latin typeface="Segoe UI"/>
              </a:rPr>
              <a:t>MPU6050, Rodrigues 3D, bản tin, JSON và gói UDP BAONGA (3 gói/20 ms, 4 IP).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50">
        <p:fade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3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6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9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12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65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18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71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0" grpId="0" animBg="1"/>
      <p:bldP spid="11" grpId="0" animBg="1"/>
      <p:bldP spid="12" grpId="0" animBg="1"/>
      <p:bldP spid="13" grpId="0"/>
      <p:bldP spid="14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4754880"/>
          </a:xfrm>
          <a:prstGeom prst="rect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4754880"/>
            <a:ext cx="91440" cy="2103120"/>
          </a:xfrm>
          <a:prstGeom prst="rect">
            <a:avLst/>
          </a:prstGeom>
          <a:solidFill>
            <a:srgbClr val="29B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310896"/>
            <a:ext cx="256032" cy="45720"/>
          </a:xfrm>
          <a:prstGeom prst="rect">
            <a:avLst/>
          </a:prstGeom>
          <a:solidFill>
            <a:srgbClr val="29B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41248" y="219456"/>
            <a:ext cx="7772400" cy="2377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>
                <a:solidFill>
                  <a:srgbClr val="1976D2"/>
                </a:solidFill>
                <a:latin typeface="Segoe UI"/>
              </a:rPr>
              <a:t>CHƯƠNG 3 • KIỂM THỬ (MỤC 3.8.2 – 3.8.4)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57200"/>
            <a:ext cx="9006840" cy="713232"/>
          </a:xfrm>
          <a:prstGeom prst="rect">
            <a:avLst/>
          </a:prstGeom>
          <a:noFill/>
        </p:spPr>
        <p:txBody>
          <a:bodyPr wrap="square" lIns="18288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2000" b="1" i="0">
                <a:solidFill>
                  <a:srgbClr val="0A2540"/>
                </a:solidFill>
                <a:latin typeface="Segoe UI"/>
              </a:rPr>
              <a:t>KIỂM THỬ ỨNG DỤNG, BỘ NHỚ &amp; ĐỘ TRỄ THIẾT KẾ</a:t>
            </a:r>
          </a:p>
          <a:p>
            <a:pPr>
              <a:lnSpc>
                <a:spcPct val="115000"/>
              </a:lnSpc>
            </a:pPr>
            <a:r>
              <a:rPr sz="1100" b="0" i="0">
                <a:solidFill>
                  <a:srgbClr val="607D9F"/>
                </a:solidFill>
                <a:latin typeface="Segoe UI"/>
              </a:rPr>
              <a:t>Kiểm thử tự động trên máy phát triển; ứng dụng đã chạy trên điện thoại thật – bảng độ trễ ghi giá trị thiết kế</a:t>
            </a:r>
          </a:p>
        </p:txBody>
      </p:sp>
      <p:pic>
        <p:nvPicPr>
          <p:cNvPr id="8" name="Picture 7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82528" y="219456"/>
            <a:ext cx="694944" cy="6949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555480" y="347472"/>
            <a:ext cx="1463040" cy="4389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950" b="1" i="0">
                <a:solidFill>
                  <a:srgbClr val="0D47A1"/>
                </a:solidFill>
                <a:latin typeface="Segoe UI"/>
              </a:rPr>
              <a:t>ICTU • K23A
NHÓM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25296"/>
            <a:ext cx="11274552" cy="13716"/>
          </a:xfrm>
          <a:prstGeom prst="rect">
            <a:avLst/>
          </a:prstGeom>
          <a:solidFill>
            <a:srgbClr val="D2E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02920" y="6510528"/>
            <a:ext cx="11274552" cy="13716"/>
          </a:xfrm>
          <a:prstGeom prst="rect">
            <a:avLst/>
          </a:prstGeom>
          <a:solidFill>
            <a:srgbClr val="D2E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02920" y="6501384"/>
            <a:ext cx="10200785" cy="32004"/>
          </a:xfrm>
          <a:prstGeom prst="rect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2920" y="6567936"/>
            <a:ext cx="7772400" cy="196079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>
              <a:lnSpc>
                <a:spcPct val="120000"/>
              </a:lnSpc>
            </a:pPr>
            <a:r>
              <a:rPr sz="950" b="0" i="0" dirty="0" err="1">
                <a:solidFill>
                  <a:srgbClr val="607D9F"/>
                </a:solidFill>
                <a:latin typeface="Segoe UI"/>
              </a:rPr>
              <a:t>Đề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tài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: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Hệ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thống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IoT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Phát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hiện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và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Cảnh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báo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Té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ngã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lang="en-US" sz="950" dirty="0">
                <a:solidFill>
                  <a:srgbClr val="607D9F"/>
                </a:solidFill>
                <a:latin typeface="Segoe UI"/>
              </a:rPr>
              <a:t>•  Marine </a:t>
            </a:r>
            <a:r>
              <a:rPr lang="en-US" sz="950" dirty="0" err="1">
                <a:solidFill>
                  <a:srgbClr val="607D9F"/>
                </a:solidFill>
                <a:latin typeface="Segoe UI"/>
              </a:rPr>
              <a:t>Fullstack</a:t>
            </a:r>
            <a:r>
              <a:rPr lang="en-US" sz="950" dirty="0">
                <a:solidFill>
                  <a:srgbClr val="607D9F"/>
                </a:solidFill>
                <a:latin typeface="Segoe UI"/>
              </a:rPr>
              <a:t> System</a:t>
            </a:r>
            <a:endParaRPr sz="950" b="0" i="0" dirty="0">
              <a:solidFill>
                <a:srgbClr val="607D9F"/>
              </a:solidFill>
              <a:latin typeface="Segoe U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241280" y="6547104"/>
            <a:ext cx="1536192" cy="2377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50" b="1" i="0">
                <a:solidFill>
                  <a:srgbClr val="0D47A1"/>
                </a:solidFill>
                <a:latin typeface="Segoe UI"/>
              </a:rPr>
              <a:t>19 / 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1353312"/>
            <a:ext cx="6903720" cy="31089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 i="0">
                <a:solidFill>
                  <a:srgbClr val="0A2540"/>
                </a:solidFill>
                <a:latin typeface="Segoe UI"/>
              </a:rPr>
              <a:t>ĐỘ TRỄ TỪNG KÊNH CẢNH BÁO (BẢNG 3.15)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502920" y="1719072"/>
          <a:ext cx="6903720" cy="41925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0000"/>
                <a:gridCol w="4603720"/>
              </a:tblGrid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Segoe UI"/>
                        </a:rPr>
                        <a:t>Kênh</a:t>
                      </a:r>
                    </a:p>
                  </a:txBody>
                  <a:tcPr anchor="ctr"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Segoe UI"/>
                        </a:rPr>
                        <a:t>Giá trị thiết kế / mục tiêu</a:t>
                      </a:r>
                    </a:p>
                  </a:txBody>
                  <a:tcPr anchor="ctr">
                    <a:solidFill>
                      <a:srgbClr val="0D47A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0D47A1"/>
                          </a:solidFill>
                          <a:latin typeface="Segoe UI"/>
                        </a:rPr>
                        <a:t>UDP LAN (Lớp 1)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E3A5F"/>
                          </a:solidFill>
                          <a:latin typeface="Segoe UI"/>
                        </a:rPr>
                        <a:t>&lt; 15 ms trong mạng nội bộ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0D47A1"/>
                          </a:solidFill>
                          <a:latin typeface="Segoe UI"/>
                        </a:rPr>
                        <a:t>BLE NOTIFY (Lớp 2)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E3A5F"/>
                          </a:solidFill>
                          <a:latin typeface="Segoe UI"/>
                        </a:rPr>
                        <a:t>Lần đầu ~0 ms sau khi nhận FALL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0D47A1"/>
                          </a:solidFill>
                          <a:latin typeface="Segoe UI"/>
                        </a:rPr>
                        <a:t>Firebase (Lớp 4)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E3A5F"/>
                          </a:solidFill>
                          <a:latin typeface="Segoe UI"/>
                        </a:rPr>
                        <a:t>PUT alarm ~150 ms (timeout 1,5 s)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0D47A1"/>
                          </a:solidFill>
                          <a:latin typeface="Segoe UI"/>
                        </a:rPr>
                        <a:t>Web Portal (LAN)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E3A5F"/>
                          </a:solidFill>
                          <a:latin typeface="Segoe UI"/>
                        </a:rPr>
                        <a:t>Chu kỳ hỏi /api/status 2 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0D47A1"/>
                          </a:solidFill>
                          <a:latin typeface="Segoe UI"/>
                        </a:rPr>
                        <a:t>Telegram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E3A5F"/>
                          </a:solidFill>
                          <a:latin typeface="Segoe UI"/>
                        </a:rPr>
                        <a:t>Ngay sau khi TlsGate được nhường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0D47A1"/>
                          </a:solidFill>
                          <a:latin typeface="Segoe UI"/>
                        </a:rPr>
                        <a:t>Gmail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E3A5F"/>
                          </a:solidFill>
                          <a:latin typeface="Segoe UI"/>
                        </a:rPr>
                        <a:t>Sau khi gửi Telegram hoàn tất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Rectangle 16"/>
          <p:cNvSpPr/>
          <p:nvPr/>
        </p:nvSpPr>
        <p:spPr>
          <a:xfrm>
            <a:off x="7635240" y="1426464"/>
            <a:ext cx="45720" cy="4818888"/>
          </a:xfrm>
          <a:prstGeom prst="rect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799831" y="1389888"/>
            <a:ext cx="3931920" cy="489204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1320" b="1" i="0">
                <a:solidFill>
                  <a:srgbClr val="1976D2"/>
                </a:solidFill>
                <a:latin typeface="Segoe UI"/>
              </a:rPr>
              <a:t>KIỂM THỬ &amp; TÀI NGUYÊN (BẢNG 3.11)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>
                <a:solidFill>
                  <a:srgbClr val="0A2540"/>
                </a:solidFill>
                <a:latin typeface="Segoe UI"/>
              </a:rPr>
              <a:t>▸  Ứng dụng: </a:t>
            </a:r>
            <a:r>
              <a:rPr sz="1140" b="0" i="0">
                <a:solidFill>
                  <a:srgbClr val="1E3A5F"/>
                </a:solidFill>
                <a:latin typeface="Segoe UI"/>
              </a:rPr>
              <a:t>analyze 0 vấn đề; 82 kiểm thử / 10 tệp PASS (HMAC, UDP, AlertFusionEngine, MJPEG, SSE, UI).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>
                <a:solidFill>
                  <a:srgbClr val="0A2540"/>
                </a:solidFill>
                <a:latin typeface="Segoe UI"/>
              </a:rPr>
              <a:t>▸  Firmware: </a:t>
            </a:r>
            <a:r>
              <a:rPr sz="1140" b="0" i="0">
                <a:solidFill>
                  <a:srgbClr val="1E3A5F"/>
                </a:solidFill>
                <a:latin typeface="Segoe UI"/>
              </a:rPr>
              <a:t>7 chương trình C++17 + test_flash.py PASS; build 0 cảnh báo.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>
                <a:solidFill>
                  <a:srgbClr val="0A2540"/>
                </a:solidFill>
                <a:latin typeface="Segoe UI"/>
              </a:rPr>
              <a:t>▸  Vòng đeo: </a:t>
            </a:r>
            <a:r>
              <a:rPr sz="1140" b="0" i="0">
                <a:solidFill>
                  <a:srgbClr val="1E3A5F"/>
                </a:solidFill>
                <a:latin typeface="Segoe UI"/>
              </a:rPr>
              <a:t>Flash 1.287.983 / 1.966.080 B (65%); RAM 73.532 B (22%).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>
                <a:solidFill>
                  <a:srgbClr val="0A2540"/>
                </a:solidFill>
                <a:latin typeface="Segoe UI"/>
              </a:rPr>
              <a:t>▸  Cầu nối Camera: </a:t>
            </a:r>
            <a:r>
              <a:rPr sz="1140" b="0" i="0">
                <a:solidFill>
                  <a:srgbClr val="1E3A5F"/>
                </a:solidFill>
                <a:latin typeface="Segoe UI"/>
              </a:rPr>
              <a:t>Flash 1.479.081 / 6.553.600 B (22,6%); RAM 68.116 B (20,8%).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>
                <a:solidFill>
                  <a:srgbClr val="0A2540"/>
                </a:solidFill>
                <a:latin typeface="Segoe UI"/>
              </a:rPr>
              <a:t>▸  APK release: </a:t>
            </a:r>
            <a:r>
              <a:rPr sz="1140" b="0" i="0">
                <a:solidFill>
                  <a:srgbClr val="1E3A5F"/>
                </a:solidFill>
                <a:latin typeface="Segoe UI"/>
              </a:rPr>
              <a:t>arm64-v8a 25,5 MB; armeabi-v7a 21,5 MB; x86_64 27,9 MB; gộp 68,5 MB; IPA (app iOS) 7,9 MB.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50">
        <p:push/>
      </p:transition>
    </mc:Choice>
    <mc:Fallback xmlns="">
      <p:transition spd="slow">
        <p:push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3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6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9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12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65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18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71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0" grpId="0" animBg="1"/>
      <p:bldP spid="11" grpId="0" animBg="1"/>
      <p:bldP spid="12" grpId="0" animBg="1"/>
      <p:bldP spid="13" grpId="0"/>
      <p:bldP spid="14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4754880"/>
          </a:xfrm>
          <a:prstGeom prst="rect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4754880"/>
            <a:ext cx="91440" cy="2103120"/>
          </a:xfrm>
          <a:prstGeom prst="rect">
            <a:avLst/>
          </a:prstGeom>
          <a:solidFill>
            <a:srgbClr val="29B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310896"/>
            <a:ext cx="256032" cy="45720"/>
          </a:xfrm>
          <a:prstGeom prst="rect">
            <a:avLst/>
          </a:prstGeom>
          <a:solidFill>
            <a:srgbClr val="29B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41248" y="219456"/>
            <a:ext cx="7772400" cy="2377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>
                <a:solidFill>
                  <a:srgbClr val="1976D2"/>
                </a:solidFill>
                <a:latin typeface="Segoe UI"/>
              </a:rPr>
              <a:t>CHƯƠNG 3 • THỰC NGHIỆM &amp; ĐÁNH GIÁ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57200"/>
            <a:ext cx="9006840" cy="713232"/>
          </a:xfrm>
          <a:prstGeom prst="rect">
            <a:avLst/>
          </a:prstGeom>
          <a:noFill/>
        </p:spPr>
        <p:txBody>
          <a:bodyPr wrap="square" lIns="18288" tIns="0">
            <a:spAutoFit/>
          </a:bodyPr>
          <a:lstStyle/>
          <a:p>
            <a:pPr>
              <a:lnSpc>
                <a:spcPct val="112000"/>
              </a:lnSpc>
              <a:spcAft>
                <a:spcPts val="200"/>
              </a:spcAft>
            </a:pPr>
            <a:r>
              <a:rPr sz="2000" b="1" i="0">
                <a:solidFill>
                  <a:srgbClr val="0A2540"/>
                </a:solidFill>
                <a:latin typeface="Segoe UI"/>
              </a:rPr>
              <a:t>KẾT QUẢ THỰC NGHIỆM 12 KỊCH BẢN &amp; HƯỚNG PHÁT TRIỂN</a:t>
            </a:r>
          </a:p>
          <a:p>
            <a:pPr>
              <a:lnSpc>
                <a:spcPct val="115000"/>
              </a:lnSpc>
            </a:pPr>
            <a:r>
              <a:rPr sz="1100" b="0" i="0">
                <a:solidFill>
                  <a:srgbClr val="607D9F"/>
                </a:solidFill>
                <a:latin typeface="Segoe UI"/>
              </a:rPr>
              <a:t>Tổng hợp kết quả kiểm thử tích hợp toàn hệ thống (T01 – T12) và định hướng nâng cấp sản phẩm</a:t>
            </a:r>
          </a:p>
        </p:txBody>
      </p:sp>
      <p:pic>
        <p:nvPicPr>
          <p:cNvPr id="8" name="Picture 7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82528" y="219456"/>
            <a:ext cx="694944" cy="6949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555480" y="347472"/>
            <a:ext cx="1463040" cy="43891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950" b="1" i="0">
                <a:solidFill>
                  <a:srgbClr val="0D47A1"/>
                </a:solidFill>
                <a:latin typeface="Segoe UI"/>
              </a:rPr>
              <a:t>ICTU • K23A
NHÓM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25296"/>
            <a:ext cx="11274552" cy="13716"/>
          </a:xfrm>
          <a:prstGeom prst="rect">
            <a:avLst/>
          </a:prstGeom>
          <a:solidFill>
            <a:srgbClr val="D2E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02920" y="6510528"/>
            <a:ext cx="11274552" cy="13716"/>
          </a:xfrm>
          <a:prstGeom prst="rect">
            <a:avLst/>
          </a:prstGeom>
          <a:solidFill>
            <a:srgbClr val="D2E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02920" y="6501384"/>
            <a:ext cx="10737668" cy="32004"/>
          </a:xfrm>
          <a:prstGeom prst="rect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2920" y="6567936"/>
            <a:ext cx="7772400" cy="196079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>
              <a:lnSpc>
                <a:spcPct val="120000"/>
              </a:lnSpc>
            </a:pPr>
            <a:r>
              <a:rPr sz="950" b="0" i="0" dirty="0" err="1">
                <a:solidFill>
                  <a:srgbClr val="607D9F"/>
                </a:solidFill>
                <a:latin typeface="Segoe UI"/>
              </a:rPr>
              <a:t>Đề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tài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: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Hệ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thống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IoT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Phát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hiện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và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Cảnh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báo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Té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sz="950" b="0" i="0" dirty="0" err="1">
                <a:solidFill>
                  <a:srgbClr val="607D9F"/>
                </a:solidFill>
                <a:latin typeface="Segoe UI"/>
              </a:rPr>
              <a:t>ngã</a:t>
            </a:r>
            <a:r>
              <a:rPr sz="950" b="0" i="0" dirty="0">
                <a:solidFill>
                  <a:srgbClr val="607D9F"/>
                </a:solidFill>
                <a:latin typeface="Segoe UI"/>
              </a:rPr>
              <a:t> </a:t>
            </a:r>
            <a:r>
              <a:rPr lang="en-US" sz="950" dirty="0">
                <a:solidFill>
                  <a:srgbClr val="607D9F"/>
                </a:solidFill>
                <a:latin typeface="Segoe UI"/>
              </a:rPr>
              <a:t>•  Marine </a:t>
            </a:r>
            <a:r>
              <a:rPr lang="en-US" sz="950" dirty="0" err="1">
                <a:solidFill>
                  <a:srgbClr val="607D9F"/>
                </a:solidFill>
                <a:latin typeface="Segoe UI"/>
              </a:rPr>
              <a:t>Fullstack</a:t>
            </a:r>
            <a:r>
              <a:rPr lang="en-US" sz="950" dirty="0">
                <a:solidFill>
                  <a:srgbClr val="607D9F"/>
                </a:solidFill>
                <a:latin typeface="Segoe UI"/>
              </a:rPr>
              <a:t> System</a:t>
            </a:r>
            <a:endParaRPr sz="950" b="0" i="0" dirty="0">
              <a:solidFill>
                <a:srgbClr val="607D9F"/>
              </a:solidFill>
              <a:latin typeface="Segoe U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241280" y="6547104"/>
            <a:ext cx="1536192" cy="2377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50" b="1" i="0">
                <a:solidFill>
                  <a:srgbClr val="0D47A1"/>
                </a:solidFill>
                <a:latin typeface="Segoe UI"/>
              </a:rPr>
              <a:t>20 / 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1353312"/>
            <a:ext cx="6903720" cy="31089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 i="0">
                <a:solidFill>
                  <a:srgbClr val="0A2540"/>
                </a:solidFill>
                <a:latin typeface="Segoe UI"/>
              </a:rPr>
              <a:t>BẢNG TỔNG HỢP KẾT QUẢ KIỂM THỬ TÍCH HỢP (T01 – T12)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502920" y="1719072"/>
          <a:ext cx="690372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71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Segoe UI"/>
                        </a:rPr>
                        <a:t>Mã</a:t>
                      </a:r>
                    </a:p>
                  </a:txBody>
                  <a:tcPr anchor="ctr"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Segoe UI"/>
                        </a:rPr>
                        <a:t>Kịch bản kiểm thử thực tế</a:t>
                      </a:r>
                    </a:p>
                  </a:txBody>
                  <a:tcPr anchor="ctr"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Segoe UI"/>
                        </a:rPr>
                        <a:t>Kết quả đo đạc trên hệ thống</a:t>
                      </a:r>
                    </a:p>
                  </a:txBody>
                  <a:tcPr anchor="ctr">
                    <a:solidFill>
                      <a:srgbClr val="0D47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0D47A1"/>
                          </a:solidFill>
                          <a:latin typeface="Segoe UI"/>
                        </a:rPr>
                        <a:t>T01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E3A5F"/>
                          </a:solidFill>
                          <a:latin typeface="Segoe UI"/>
                        </a:rPr>
                        <a:t>Sinh hoạt thường ngày (ADL: đi bộ, ngồi, nằm)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E3A5F"/>
                          </a:solidFill>
                          <a:latin typeface="Segoe UI"/>
                        </a:rPr>
                        <a:t>ĐẠT – 0 lần báo giả; cập nhật đúng tư thế trên Web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0D47A1"/>
                          </a:solidFill>
                          <a:latin typeface="Segoe UI"/>
                        </a:rPr>
                        <a:t>T02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E3A5F"/>
                          </a:solidFill>
                          <a:latin typeface="Segoe UI"/>
                        </a:rPr>
                        <a:t>Ngã mô phỏng chuẩn (Va chạm ≥2g + nằm yên 2s)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E3A5F"/>
                          </a:solidFill>
                          <a:latin typeface="Segoe UI"/>
                        </a:rPr>
                        <a:t>ĐẠT – Còi &amp; LED bật sau 3,02s; MLP lớp 'nga' 94–99%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0D47A1"/>
                          </a:solidFill>
                          <a:latin typeface="Segoe UI"/>
                        </a:rPr>
                        <a:t>T03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E3A5F"/>
                          </a:solidFill>
                          <a:latin typeface="Segoe UI"/>
                        </a:rPr>
                        <a:t>Gõ mạnh / chạy nhảy liên tục (Không nằm yên)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E3A5F"/>
                          </a:solidFill>
                          <a:latin typeface="Segoe UI"/>
                        </a:rPr>
                        <a:t>ĐẠT – Loại bỏ sự kiện nghi ngã ở Bước 4, không báo động giả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0D47A1"/>
                          </a:solidFill>
                          <a:latin typeface="Segoe UI"/>
                        </a:rPr>
                        <a:t>T04–05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E3A5F"/>
                          </a:solidFill>
                          <a:latin typeface="Segoe UI"/>
                        </a:rPr>
                        <a:t>Chạm TTP223 (1 chạm / 3 chạm / Giữ 3 giây)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E3A5F"/>
                          </a:solidFill>
                          <a:latin typeface="Segoe UI"/>
                        </a:rPr>
                        <a:t>ĐẠT – Tắt còi &lt;50ms (ức chế 10s); Rodrigues 3D; Deep Sleep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0D47A1"/>
                          </a:solidFill>
                          <a:latin typeface="Segoe UI"/>
                        </a:rPr>
                        <a:t>T06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E3A5F"/>
                          </a:solidFill>
                          <a:latin typeface="Segoe UI"/>
                        </a:rPr>
                        <a:t>Giám sát bất động kéo dài (InactivityMonitor)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E3A5F"/>
                          </a:solidFill>
                          <a:latin typeface="Segoe UI"/>
                        </a:rPr>
                        <a:t>ĐẠT – Báo vàng đúng hạn &amp; báo 'ĐÃ CỬ ĐỘNG TRỞ LẠI'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0D47A1"/>
                          </a:solidFill>
                          <a:latin typeface="Segoe UI"/>
                        </a:rPr>
                        <a:t>T07–09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E3A5F"/>
                          </a:solidFill>
                          <a:latin typeface="Segoe UI"/>
                        </a:rPr>
                        <a:t>Web baonga.local, Firebase, Telegram &amp; Gmail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E3A5F"/>
                          </a:solidFill>
                          <a:latin typeface="Segoe UI"/>
                        </a:rPr>
                        <a:t>ĐẠT – Đồng bộ 5,5–9,5s; Telegram=OK Gmail=OK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0D47A1"/>
                          </a:solidFill>
                          <a:latin typeface="Segoe UI"/>
                        </a:rPr>
                        <a:t>T10–12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E3A5F"/>
                          </a:solidFill>
                          <a:latin typeface="Segoe UI"/>
                        </a:rPr>
                        <a:t>Mất mạng tạm thời &amp; Nhánh Camera AI K230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E3A5F"/>
                          </a:solidFill>
                          <a:latin typeface="Segoe UI"/>
                        </a:rPr>
                        <a:t>ĐẠT – Còi kêu độc lập mạng; K230 26 FPS + tải ảnh JPEG</a:t>
                      </a:r>
                    </a:p>
                  </a:txBody>
                  <a:tcPr anchor="ctr">
                    <a:solidFill>
                      <a:srgbClr val="EBF4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7" name="Rectangle 16"/>
          <p:cNvSpPr/>
          <p:nvPr/>
        </p:nvSpPr>
        <p:spPr>
          <a:xfrm>
            <a:off x="7635240" y="1426464"/>
            <a:ext cx="45720" cy="4818888"/>
          </a:xfrm>
          <a:prstGeom prst="rect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799831" y="1389888"/>
            <a:ext cx="3931920" cy="489204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1320" b="1" i="0">
                <a:solidFill>
                  <a:srgbClr val="1976D2"/>
                </a:solidFill>
                <a:latin typeface="Segoe UI"/>
              </a:rPr>
              <a:t>HƯỚNG PHÁT TRIỂN TRONG TƯƠNG LAI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>
                <a:solidFill>
                  <a:srgbClr val="0A2540"/>
                </a:solidFill>
                <a:latin typeface="Segoe UI"/>
              </a:rPr>
              <a:t>▸  Tối ưu hệ thống: </a:t>
            </a:r>
            <a:r>
              <a:rPr sz="1140" b="0" i="0">
                <a:solidFill>
                  <a:srgbClr val="1E3A5F"/>
                </a:solidFill>
                <a:latin typeface="Segoe UI"/>
              </a:rPr>
              <a:t>mô hình TinyML, năng lượng/thời gian dùng pin và kích thước thiết bị.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>
                <a:solidFill>
                  <a:srgbClr val="0A2540"/>
                </a:solidFill>
                <a:latin typeface="Segoe UI"/>
              </a:rPr>
              <a:t>▸  Đa dạng thiết bị: </a:t>
            </a:r>
            <a:r>
              <a:rPr sz="1140" b="0" i="0">
                <a:solidFill>
                  <a:srgbClr val="1E3A5F"/>
                </a:solidFill>
                <a:latin typeface="Segoe UI"/>
              </a:rPr>
              <a:t>trang bị hệ thống trên kính AI, đồng hồ thông minh, quần áo thông minh…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>
                <a:solidFill>
                  <a:srgbClr val="0A2540"/>
                </a:solidFill>
                <a:latin typeface="Segoe UI"/>
              </a:rPr>
              <a:t>▸  Cảm biến &amp; kết nối: </a:t>
            </a:r>
            <a:r>
              <a:rPr sz="1140" b="0" i="0">
                <a:solidFill>
                  <a:srgbClr val="1E3A5F"/>
                </a:solidFill>
                <a:latin typeface="Segoe UI"/>
              </a:rPr>
              <a:t>PPG MAX30102 (nhịp tim, SpO2); 4G LTE / NB-IoT + GPS ngoài trời; vỏ in 3D IP65.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>
                <a:solidFill>
                  <a:srgbClr val="0A2540"/>
                </a:solidFill>
                <a:latin typeface="Segoe UI"/>
              </a:rPr>
              <a:t>▸  Cầu nối Camera: </a:t>
            </a:r>
            <a:r>
              <a:rPr sz="1140" b="0" i="0">
                <a:solidFill>
                  <a:srgbClr val="1E3A5F"/>
                </a:solidFill>
                <a:latin typeface="Segoe UI"/>
              </a:rPr>
              <a:t>chuyển Relay/Telegram sang tác vụ FreeRTOS riêng để gói lặp UDP/BLE không bị hoãn.</a:t>
            </a:r>
          </a:p>
          <a:p>
            <a:pPr>
              <a:lnSpc>
                <a:spcPct val="118000"/>
              </a:lnSpc>
              <a:spcBef>
                <a:spcPts val="200"/>
              </a:spcBef>
              <a:spcAft>
                <a:spcPts val="400"/>
              </a:spcAft>
            </a:pPr>
            <a:r>
              <a:rPr sz="1160" b="1" i="0">
                <a:solidFill>
                  <a:srgbClr val="0A2540"/>
                </a:solidFill>
                <a:latin typeface="Segoe UI"/>
              </a:rPr>
              <a:t>▸  Nền tảng di động: </a:t>
            </a:r>
            <a:r>
              <a:rPr sz="1140" b="0" i="0">
                <a:solidFill>
                  <a:srgbClr val="1E3A5F"/>
                </a:solidFill>
                <a:latin typeface="Segoe UI"/>
              </a:rPr>
              <a:t>multicast lock trên Android khi tắt màn hình; APNs cho iOS khi có tài khoản trả phí.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50">
        <p:push/>
      </p:transition>
    </mc:Choice>
    <mc:Fallback xmlns="">
      <p:transition spd="slow">
        <p:push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3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6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9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12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65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18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71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0" grpId="0" animBg="1"/>
      <p:bldP spid="11" grpId="0" animBg="1"/>
      <p:bldP spid="12" grpId="0" animBg="1"/>
      <p:bldP spid="13" grpId="0"/>
      <p:bldP spid="14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434840" cy="68580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434840" y="0"/>
            <a:ext cx="146304" cy="4114800"/>
          </a:xfrm>
          <a:prstGeom prst="rect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434840" y="4114800"/>
            <a:ext cx="146304" cy="2743200"/>
          </a:xfrm>
          <a:prstGeom prst="rect">
            <a:avLst/>
          </a:prstGeom>
          <a:solidFill>
            <a:srgbClr val="29B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94360" y="658368"/>
            <a:ext cx="594360" cy="54864"/>
          </a:xfrm>
          <a:prstGeom prst="rect">
            <a:avLst/>
          </a:prstGeom>
          <a:solidFill>
            <a:srgbClr val="29B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841248"/>
            <a:ext cx="3474720" cy="51206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i="0">
                <a:solidFill>
                  <a:srgbClr val="29B6F6"/>
                </a:solidFill>
                <a:latin typeface="Segoe UI"/>
              </a:rPr>
              <a:t>TRƯỜNG ĐH CNTT &amp; TRUYỀN THÔNG
NHÓM 1 • LỚP VMBD-K23A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83080"/>
            <a:ext cx="3520440" cy="142936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 dirty="0">
                <a:solidFill>
                  <a:srgbClr val="FFFFFF"/>
                </a:solidFill>
                <a:latin typeface="Segoe UI"/>
              </a:rPr>
              <a:t>XIN TRÂN TRỌNG
CẢM ƠN QUÝ THẦY CÔ!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703320"/>
            <a:ext cx="3520440" cy="527709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 dirty="0" err="1">
                <a:solidFill>
                  <a:srgbClr val="EBF4FF"/>
                </a:solidFill>
                <a:latin typeface="Segoe UI"/>
              </a:rPr>
              <a:t>Nhóm</a:t>
            </a:r>
            <a:r>
              <a:rPr sz="1250" b="0" i="0" dirty="0">
                <a:solidFill>
                  <a:srgbClr val="EBF4FF"/>
                </a:solidFill>
                <a:latin typeface="Segoe UI"/>
              </a:rPr>
              <a:t> </a:t>
            </a:r>
            <a:r>
              <a:rPr sz="1250" b="0" i="0" dirty="0" err="1">
                <a:solidFill>
                  <a:srgbClr val="EBF4FF"/>
                </a:solidFill>
                <a:latin typeface="Segoe UI"/>
              </a:rPr>
              <a:t>rất</a:t>
            </a:r>
            <a:r>
              <a:rPr sz="1250" b="0" i="0" dirty="0">
                <a:solidFill>
                  <a:srgbClr val="EBF4FF"/>
                </a:solidFill>
                <a:latin typeface="Segoe UI"/>
              </a:rPr>
              <a:t> </a:t>
            </a:r>
            <a:r>
              <a:rPr sz="1250" b="0" i="0" dirty="0" err="1">
                <a:solidFill>
                  <a:srgbClr val="EBF4FF"/>
                </a:solidFill>
                <a:latin typeface="Segoe UI"/>
              </a:rPr>
              <a:t>mong</a:t>
            </a:r>
            <a:r>
              <a:rPr sz="1250" b="0" i="0" dirty="0">
                <a:solidFill>
                  <a:srgbClr val="EBF4FF"/>
                </a:solidFill>
                <a:latin typeface="Segoe UI"/>
              </a:rPr>
              <a:t> </a:t>
            </a:r>
            <a:r>
              <a:rPr sz="1250" b="0" i="0" dirty="0" err="1">
                <a:solidFill>
                  <a:srgbClr val="EBF4FF"/>
                </a:solidFill>
                <a:latin typeface="Segoe UI"/>
              </a:rPr>
              <a:t>nhận</a:t>
            </a:r>
            <a:r>
              <a:rPr sz="1250" b="0" i="0" dirty="0">
                <a:solidFill>
                  <a:srgbClr val="EBF4FF"/>
                </a:solidFill>
                <a:latin typeface="Segoe UI"/>
              </a:rPr>
              <a:t> </a:t>
            </a:r>
            <a:r>
              <a:rPr sz="1250" b="0" i="0" dirty="0" err="1">
                <a:solidFill>
                  <a:srgbClr val="EBF4FF"/>
                </a:solidFill>
                <a:latin typeface="Segoe UI"/>
              </a:rPr>
              <a:t>được</a:t>
            </a:r>
            <a:r>
              <a:rPr sz="1250" b="0" i="0" dirty="0">
                <a:solidFill>
                  <a:srgbClr val="EBF4FF"/>
                </a:solidFill>
                <a:latin typeface="Segoe UI"/>
              </a:rPr>
              <a:t> </a:t>
            </a:r>
            <a:r>
              <a:rPr sz="1250" b="0" i="0" dirty="0" err="1">
                <a:solidFill>
                  <a:srgbClr val="EBF4FF"/>
                </a:solidFill>
                <a:latin typeface="Segoe UI"/>
              </a:rPr>
              <a:t>sự</a:t>
            </a:r>
            <a:r>
              <a:rPr sz="1250" b="0" i="0" dirty="0">
                <a:solidFill>
                  <a:srgbClr val="EBF4FF"/>
                </a:solidFill>
                <a:latin typeface="Segoe UI"/>
              </a:rPr>
              <a:t> </a:t>
            </a:r>
            <a:r>
              <a:rPr sz="1250" b="0" i="0" dirty="0" err="1">
                <a:solidFill>
                  <a:srgbClr val="EBF4FF"/>
                </a:solidFill>
                <a:latin typeface="Segoe UI"/>
              </a:rPr>
              <a:t>nhận</a:t>
            </a:r>
            <a:r>
              <a:rPr sz="1250" b="0" i="0" dirty="0">
                <a:solidFill>
                  <a:srgbClr val="EBF4FF"/>
                </a:solidFill>
                <a:latin typeface="Segoe UI"/>
              </a:rPr>
              <a:t> </a:t>
            </a:r>
            <a:r>
              <a:rPr sz="1250" b="0" i="0" dirty="0" err="1">
                <a:solidFill>
                  <a:srgbClr val="EBF4FF"/>
                </a:solidFill>
                <a:latin typeface="Segoe UI"/>
              </a:rPr>
              <a:t>xét</a:t>
            </a:r>
            <a:r>
              <a:rPr sz="1250" b="0" i="0" dirty="0">
                <a:solidFill>
                  <a:srgbClr val="EBF4FF"/>
                </a:solidFill>
                <a:latin typeface="Segoe UI"/>
              </a:rPr>
              <a:t>, </a:t>
            </a:r>
            <a:r>
              <a:rPr sz="1250" b="0" i="0" dirty="0" err="1">
                <a:solidFill>
                  <a:srgbClr val="EBF4FF"/>
                </a:solidFill>
                <a:latin typeface="Segoe UI"/>
              </a:rPr>
              <a:t>góp</a:t>
            </a:r>
            <a:r>
              <a:rPr sz="1250" b="0" i="0" dirty="0">
                <a:solidFill>
                  <a:srgbClr val="EBF4FF"/>
                </a:solidFill>
                <a:latin typeface="Segoe UI"/>
              </a:rPr>
              <a:t> ý </a:t>
            </a:r>
            <a:r>
              <a:rPr sz="1250" b="0" i="0" dirty="0" err="1">
                <a:solidFill>
                  <a:srgbClr val="EBF4FF"/>
                </a:solidFill>
                <a:latin typeface="Segoe UI"/>
              </a:rPr>
              <a:t>và</a:t>
            </a:r>
            <a:r>
              <a:rPr sz="1250" b="0" i="0" dirty="0">
                <a:solidFill>
                  <a:srgbClr val="EBF4FF"/>
                </a:solidFill>
                <a:latin typeface="Segoe UI"/>
              </a:rPr>
              <a:t> </a:t>
            </a:r>
            <a:r>
              <a:rPr sz="1250" b="0" i="0" dirty="0" err="1">
                <a:solidFill>
                  <a:srgbClr val="EBF4FF"/>
                </a:solidFill>
                <a:latin typeface="Segoe UI"/>
              </a:rPr>
              <a:t>câu</a:t>
            </a:r>
            <a:r>
              <a:rPr sz="1250" b="0" i="0" dirty="0">
                <a:solidFill>
                  <a:srgbClr val="EBF4FF"/>
                </a:solidFill>
                <a:latin typeface="Segoe UI"/>
              </a:rPr>
              <a:t> </a:t>
            </a:r>
            <a:r>
              <a:rPr sz="1250" b="0" i="0" dirty="0" err="1">
                <a:solidFill>
                  <a:srgbClr val="EBF4FF"/>
                </a:solidFill>
                <a:latin typeface="Segoe UI"/>
              </a:rPr>
              <a:t>hỏi</a:t>
            </a:r>
            <a:r>
              <a:rPr sz="1250" b="0" i="0" dirty="0">
                <a:solidFill>
                  <a:srgbClr val="EBF4FF"/>
                </a:solidFill>
                <a:latin typeface="Segoe UI"/>
              </a:rPr>
              <a:t> </a:t>
            </a:r>
            <a:r>
              <a:rPr sz="1250" b="0" i="0" dirty="0" err="1">
                <a:solidFill>
                  <a:srgbClr val="EBF4FF"/>
                </a:solidFill>
                <a:latin typeface="Segoe UI"/>
              </a:rPr>
              <a:t>thảo</a:t>
            </a:r>
            <a:r>
              <a:rPr sz="1250" b="0" i="0" dirty="0">
                <a:solidFill>
                  <a:srgbClr val="EBF4FF"/>
                </a:solidFill>
                <a:latin typeface="Segoe UI"/>
              </a:rPr>
              <a:t> </a:t>
            </a:r>
            <a:r>
              <a:rPr sz="1250" b="0" i="0" dirty="0" err="1">
                <a:solidFill>
                  <a:srgbClr val="EBF4FF"/>
                </a:solidFill>
                <a:latin typeface="Segoe UI"/>
              </a:rPr>
              <a:t>luận</a:t>
            </a:r>
            <a:r>
              <a:rPr sz="1250" b="0" i="0" dirty="0">
                <a:solidFill>
                  <a:srgbClr val="EBF4FF"/>
                </a:solidFill>
                <a:latin typeface="Segoe UI"/>
              </a:rPr>
              <a:t> </a:t>
            </a:r>
            <a:r>
              <a:rPr sz="1250" b="0" i="0" dirty="0" err="1">
                <a:solidFill>
                  <a:srgbClr val="EBF4FF"/>
                </a:solidFill>
                <a:latin typeface="Segoe UI"/>
              </a:rPr>
              <a:t>từ</a:t>
            </a:r>
            <a:r>
              <a:rPr sz="1250" b="0" i="0" dirty="0">
                <a:solidFill>
                  <a:srgbClr val="EBF4FF"/>
                </a:solidFill>
                <a:latin typeface="Segoe UI"/>
              </a:rPr>
              <a:t> </a:t>
            </a:r>
            <a:r>
              <a:rPr lang="en-US" sz="1250" b="0" i="0" dirty="0" err="1">
                <a:solidFill>
                  <a:srgbClr val="EBF4FF"/>
                </a:solidFill>
                <a:latin typeface="Segoe UI"/>
              </a:rPr>
              <a:t>thầy</a:t>
            </a:r>
            <a:r>
              <a:rPr lang="en-US" sz="1250" b="0" i="0" dirty="0">
                <a:solidFill>
                  <a:srgbClr val="EBF4FF"/>
                </a:solidFill>
                <a:latin typeface="Segoe UI"/>
              </a:rPr>
              <a:t>/</a:t>
            </a:r>
            <a:r>
              <a:rPr lang="en-US" sz="1250" b="0" i="0" dirty="0" err="1">
                <a:solidFill>
                  <a:srgbClr val="EBF4FF"/>
                </a:solidFill>
                <a:latin typeface="Segoe UI"/>
              </a:rPr>
              <a:t>cô</a:t>
            </a:r>
            <a:r>
              <a:rPr sz="1250" b="0" i="0" dirty="0">
                <a:solidFill>
                  <a:srgbClr val="EBF4FF"/>
                </a:solidFill>
                <a:latin typeface="Segoe UI"/>
              </a:rPr>
              <a:t>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5010912"/>
            <a:ext cx="3291840" cy="13716"/>
          </a:xfrm>
          <a:prstGeom prst="rect">
            <a:avLst/>
          </a:prstGeom>
          <a:solidFill>
            <a:srgbClr val="2D5F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94360" y="5230368"/>
            <a:ext cx="3520440" cy="7772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>
                <a:solidFill>
                  <a:srgbClr val="29B6F6"/>
                </a:solidFill>
                <a:latin typeface="Segoe UI"/>
              </a:rPr>
              <a:t>HỎI &amp; ĐÁP (Q &amp; A)
TRÌNH DIỄN TRỰC TIẾP (LIVE DEMO)</a:t>
            </a:r>
          </a:p>
        </p:txBody>
      </p:sp>
      <p:pic>
        <p:nvPicPr>
          <p:cNvPr id="12" name="Picture 1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329184"/>
            <a:ext cx="749808" cy="7498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029200" y="530352"/>
            <a:ext cx="5852160" cy="4572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1" i="0">
                <a:solidFill>
                  <a:srgbClr val="0A2540"/>
                </a:solidFill>
                <a:latin typeface="Segoe UI"/>
              </a:rPr>
              <a:t>TỔNG KẾT ĐÓNG GÓP CỐT LÕI CỦA ĐỀ TÀI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0" y="1133856"/>
            <a:ext cx="6720840" cy="13716"/>
          </a:xfrm>
          <a:prstGeom prst="rect">
            <a:avLst/>
          </a:prstGeom>
          <a:solidFill>
            <a:srgbClr val="D2E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5029200" y="1481328"/>
            <a:ext cx="329184" cy="329184"/>
          </a:xfrm>
          <a:prstGeom prst="ellipse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68112" y="1463040"/>
            <a:ext cx="6144768" cy="1417320"/>
          </a:xfrm>
          <a:prstGeom prst="rect">
            <a:avLst/>
          </a:prstGeom>
          <a:noFill/>
        </p:spPr>
        <p:txBody>
          <a:bodyPr wrap="square" lIns="0" tIns="0" rIns="18288" bIns="0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80" b="1" i="0">
                <a:solidFill>
                  <a:srgbClr val="0A2540"/>
                </a:solidFill>
                <a:latin typeface="Segoe UI"/>
              </a:rPr>
              <a:t>Thiết kế hoàn chỉnh Phần cứng &amp; Mạch in PCB 2 lớp (60 × 50 mm)</a:t>
            </a:r>
          </a:p>
          <a:p>
            <a:pPr>
              <a:lnSpc>
                <a:spcPct val="118000"/>
              </a:lnSpc>
            </a:pPr>
            <a:r>
              <a:rPr sz="1120" b="0" i="0">
                <a:solidFill>
                  <a:srgbClr val="1E3A5F"/>
                </a:solidFill>
                <a:latin typeface="Segoe UI"/>
              </a:rPr>
              <a:t>Hoàn thiện từ sơ đồ nguyên lý đến mạch in PCB 2 lớp trên KiCad 10 đạt chuẩn DRC/ERC = 0 lỗi cho ESP32-S3 SuperMini, MPU6050, TTP223, còi S8050, đo pin VSW trước diode 1N5817 và chế độ ngủ sâu Deep Sleep (~8 µA).</a:t>
            </a:r>
          </a:p>
        </p:txBody>
      </p:sp>
      <p:sp>
        <p:nvSpPr>
          <p:cNvPr id="17" name="Oval 16"/>
          <p:cNvSpPr/>
          <p:nvPr/>
        </p:nvSpPr>
        <p:spPr>
          <a:xfrm>
            <a:off x="5029200" y="3081528"/>
            <a:ext cx="329184" cy="329184"/>
          </a:xfrm>
          <a:prstGeom prst="ellipse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68112" y="3063240"/>
            <a:ext cx="6144768" cy="1417320"/>
          </a:xfrm>
          <a:prstGeom prst="rect">
            <a:avLst/>
          </a:prstGeom>
          <a:noFill/>
        </p:spPr>
        <p:txBody>
          <a:bodyPr wrap="square" lIns="0" tIns="0" rIns="18288" bIns="0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80" b="1" i="0">
                <a:solidFill>
                  <a:srgbClr val="0A2540"/>
                </a:solidFill>
                <a:latin typeface="Segoe UI"/>
              </a:rPr>
              <a:t>Thuật toán IoT đa phương thức chống báo động giả hiệu quả</a:t>
            </a:r>
          </a:p>
          <a:p>
            <a:pPr>
              <a:lnSpc>
                <a:spcPct val="118000"/>
              </a:lnSpc>
            </a:pPr>
            <a:r>
              <a:rPr sz="1120" b="0" i="0">
                <a:solidFill>
                  <a:srgbClr val="1E3A5F"/>
                </a:solidFill>
                <a:latin typeface="Segoe UI"/>
              </a:rPr>
              <a:t>Kết hợp hiệu chuẩn tư thế 3 chiều Rodrigues, máy trạng thái xác nhận ngã 4 bước + mạng nơ-ron TinyML MLP (677 tham số), bộ giám sát bất động kéo dài (InactivityMonitor) và nhánh Camera AI CanMV K230 (YOLOv5n + IoU Tracker).</a:t>
            </a:r>
          </a:p>
        </p:txBody>
      </p:sp>
      <p:sp>
        <p:nvSpPr>
          <p:cNvPr id="19" name="Oval 18"/>
          <p:cNvSpPr/>
          <p:nvPr/>
        </p:nvSpPr>
        <p:spPr>
          <a:xfrm>
            <a:off x="5029200" y="4681727"/>
            <a:ext cx="329184" cy="329184"/>
          </a:xfrm>
          <a:prstGeom prst="ellipse">
            <a:avLst/>
          </a:prstGeom>
          <a:solidFill>
            <a:srgbClr val="0D47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68112" y="4663440"/>
            <a:ext cx="6144768" cy="1417320"/>
          </a:xfrm>
          <a:prstGeom prst="rect">
            <a:avLst/>
          </a:prstGeom>
          <a:noFill/>
        </p:spPr>
        <p:txBody>
          <a:bodyPr wrap="square" lIns="0" tIns="0" rIns="18288" bIns="0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80" b="1" i="0">
                <a:solidFill>
                  <a:srgbClr val="0A2540"/>
                </a:solidFill>
                <a:latin typeface="Segoe UI"/>
              </a:rPr>
              <a:t>Cảnh báo đa kênh Thời gian vàng &amp; Ứng dụng di động</a:t>
            </a:r>
          </a:p>
          <a:p>
            <a:pPr>
              <a:lnSpc>
                <a:spcPct val="118000"/>
              </a:lnSpc>
            </a:pPr>
            <a:r>
              <a:rPr sz="1120" b="0" i="0">
                <a:solidFill>
                  <a:srgbClr val="1E3A5F"/>
                </a:solidFill>
                <a:latin typeface="Segoe UI"/>
              </a:rPr>
              <a:t>PSRAM tlsCalloc + TlsGate; đường truyền 5 lớp (UDP, BLE không chặn, thiết lập kết nối trước, Fast-Flush) và ứng dụng Flutter Android/iOS hợp nhất cảnh báo đa nguồn; 12/12 kịch bản T01–T12 đạt, 82 kiểm thử ứng dụng PASS.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50">
        <p:wheel spokes="1"/>
      </p:transition>
    </mc:Choice>
    <mc:Fallback xmlns="">
      <p:transition spd="slow">
        <p:wheel spokes="1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3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6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9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12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65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18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71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  <p:bldP spid="10" grpId="0" animBg="1"/>
      <p:bldP spid="11" grpId="0"/>
      <p:bldP spid="13" grpId="0"/>
      <p:bldP spid="14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55</TotalTime>
  <Words>4660</Words>
  <Application>Microsoft Office PowerPoint</Application>
  <PresentationFormat>Widescreen</PresentationFormat>
  <Paragraphs>334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Calibri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Administrator</cp:lastModifiedBy>
  <cp:revision>5</cp:revision>
  <dcterms:created xsi:type="dcterms:W3CDTF">2013-01-27T09:14:16Z</dcterms:created>
  <dcterms:modified xsi:type="dcterms:W3CDTF">2026-10-21T04:33:54Z</dcterms:modified>
  <cp:category/>
</cp:coreProperties>
</file>