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22"/>
    <p:sldId id="273" r:id="rId23"/>
    <p:sldId id="274" r:id="rId24"/>
    <p:sldId id="275" r:id="rId25"/>
    <p:sldId id="269" r:id="rId15"/>
    <p:sldId id="276" r:id="rId26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8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909560" y="0"/>
            <a:ext cx="428213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754112" y="0"/>
            <a:ext cx="155448" cy="43891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54112" y="4389120"/>
            <a:ext cx="155448" cy="246888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5720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09344" y="493776"/>
            <a:ext cx="5897880" cy="804672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220" b="1" i="0">
                <a:solidFill>
                  <a:srgbClr val="0D47A1"/>
                </a:solidFill>
                <a:latin typeface="Segoe UI"/>
              </a:rPr>
              <a:t>TRƯỜNG ĐẠI HỌC CÔNG NGHỆ THÔNG TIN VÀ TRUYỀN THÔNG</a:t>
            </a:r>
          </a:p>
          <a:p>
            <a:r>
              <a:rPr sz="1050" b="1" i="0">
                <a:solidFill>
                  <a:srgbClr val="607D9F"/>
                </a:solidFill>
                <a:latin typeface="Segoe UI"/>
              </a:rPr>
              <a:t>KHOA KỸ THUẬT VÀ CÔNG NGHỆ   •   ĐẠI HỌC THÁI NGUYÊN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777240" cy="54864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993392"/>
            <a:ext cx="6903720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800"/>
              </a:spcAft>
            </a:pPr>
            <a:r>
              <a:rPr sz="1180" b="1" i="0">
                <a:solidFill>
                  <a:srgbClr val="1976D2"/>
                </a:solidFill>
                <a:latin typeface="Segoe UI"/>
              </a:rPr>
              <a:t>BÁO CÁO TIỂU LUẬN HỌC PHẦN: INTERNET VẠN VẬT (IoT)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3100" b="1" i="0">
                <a:solidFill>
                  <a:srgbClr val="0A2540"/>
                </a:solidFill>
                <a:latin typeface="Segoe UI"/>
              </a:rPr>
              <a:t>HỆ THỐNG IoT PHÁT HIỆN
VÀ CẢNH BÁO TÉ NGÃ</a:t>
            </a:r>
          </a:p>
          <a:p>
            <a:pPr>
              <a:lnSpc>
                <a:spcPct val="128000"/>
              </a:lnSpc>
            </a:pPr>
            <a:r>
              <a:rPr sz="1280" b="0" i="0">
                <a:solidFill>
                  <a:srgbClr val="1E3A5F"/>
                </a:solidFill>
                <a:latin typeface="Segoe UI"/>
              </a:rPr>
              <a:t>Giải pháp đa phương thức kết hợp Thiết bị đeo thông minh (ESP32-S3 SuperMini + MPU6050 + TinyML MLP + PCB 2 lớp) và Nhánh Camera AI (CanMV K230 YOLOv5n)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828032"/>
            <a:ext cx="672084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5010912"/>
            <a:ext cx="3291840" cy="12344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1" i="0">
                <a:solidFill>
                  <a:srgbClr val="0A2540"/>
                </a:solidFill>
                <a:latin typeface="Segoe UI"/>
              </a:rPr>
              <a:t>NHÓM THỰC HIỆN
Nhóm 1 – Lớp VMBD-K23A
THỜI GIAN
Tháng 10 / 2026 – Thái Nguyên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5010912"/>
            <a:ext cx="3474720" cy="11235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1" i="0" dirty="0">
                <a:solidFill>
                  <a:srgbClr val="0D47A1"/>
                </a:solidFill>
                <a:latin typeface="Segoe UI"/>
              </a:rPr>
              <a:t>GIẢNG VIÊN HƯỚNG DẪN
TS. Vũ </a:t>
            </a:r>
            <a:r>
              <a:rPr sz="1180" b="1" i="0" dirty="0" err="1">
                <a:solidFill>
                  <a:srgbClr val="0D47A1"/>
                </a:solidFill>
                <a:latin typeface="Segoe UI"/>
              </a:rPr>
              <a:t>Chiến</a:t>
            </a:r>
            <a:r>
              <a:rPr sz="118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sz="1180" b="1" i="0" dirty="0" err="1">
                <a:solidFill>
                  <a:srgbClr val="0D47A1"/>
                </a:solidFill>
                <a:latin typeface="Segoe UI"/>
              </a:rPr>
              <a:t>Thắng</a:t>
            </a:r>
            <a:r>
              <a:rPr sz="1180" b="1" i="0" dirty="0">
                <a:solidFill>
                  <a:srgbClr val="0D47A1"/>
                </a:solidFill>
                <a:latin typeface="Segoe UI"/>
              </a:rPr>
              <a:t>
BỘ MÔN
</a:t>
            </a:r>
            <a:r>
              <a:rPr lang="en-US" sz="1180" b="1" i="0" dirty="0">
                <a:solidFill>
                  <a:srgbClr val="0D47A1"/>
                </a:solidFill>
                <a:latin typeface="Segoe UI"/>
              </a:rPr>
              <a:t>Vi </a:t>
            </a:r>
            <a:r>
              <a:rPr lang="en-US" sz="1180" b="1" i="0" dirty="0" err="1">
                <a:solidFill>
                  <a:srgbClr val="0D47A1"/>
                </a:solidFill>
                <a:latin typeface="Segoe UI"/>
              </a:rPr>
              <a:t>mạch</a:t>
            </a:r>
            <a:r>
              <a:rPr lang="en-US" sz="118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lang="en-US" sz="1180" b="1" i="0" dirty="0" err="1">
                <a:solidFill>
                  <a:srgbClr val="0D47A1"/>
                </a:solidFill>
                <a:latin typeface="Segoe UI"/>
              </a:rPr>
              <a:t>bán</a:t>
            </a:r>
            <a:r>
              <a:rPr lang="en-US" sz="118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lang="en-US" sz="1180" b="1" i="0" dirty="0" err="1">
                <a:solidFill>
                  <a:srgbClr val="0D47A1"/>
                </a:solidFill>
                <a:latin typeface="Segoe UI"/>
              </a:rPr>
              <a:t>dẫn</a:t>
            </a:r>
            <a:endParaRPr sz="1180" b="1" i="0" dirty="0">
              <a:solidFill>
                <a:srgbClr val="0D47A1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21040" y="621792"/>
            <a:ext cx="34747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9B6F6"/>
                </a:solidFill>
                <a:latin typeface="Segoe UI"/>
              </a:rPr>
              <a:t>THÔNG SỐ CỐT LÕI HỆ THỐNG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170432"/>
            <a:ext cx="3474720" cy="73937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 dirty="0">
                <a:solidFill>
                  <a:srgbClr val="FFFFFF"/>
                </a:solidFill>
                <a:latin typeface="Segoe UI"/>
              </a:rPr>
              <a:t>60 × 50 mm</a:t>
            </a:r>
          </a:p>
          <a:p>
            <a:pPr>
              <a:spcAft>
                <a:spcPts val="200"/>
              </a:spcAft>
            </a:pPr>
            <a:r>
              <a:rPr sz="1150" b="1" i="0" dirty="0" err="1">
                <a:solidFill>
                  <a:srgbClr val="29B6F6"/>
                </a:solidFill>
                <a:latin typeface="Segoe UI"/>
              </a:rPr>
              <a:t>Mạch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in PCB 2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lớp</a:t>
            </a:r>
            <a:endParaRPr sz="1150" b="1" i="0" dirty="0">
              <a:solidFill>
                <a:srgbClr val="29B6F6"/>
              </a:solidFill>
              <a:latin typeface="Segoe UI"/>
            </a:endParaRPr>
          </a:p>
          <a:p>
            <a:pPr>
              <a:lnSpc>
                <a:spcPct val="115000"/>
              </a:lnSpc>
            </a:pPr>
            <a:r>
              <a:rPr sz="1019" b="0" i="0" dirty="0">
                <a:solidFill>
                  <a:srgbClr val="EBF4FF"/>
                </a:solidFill>
                <a:latin typeface="Segoe UI"/>
              </a:rPr>
              <a:t>Zero-Via THT, Antenna </a:t>
            </a:r>
            <a:r>
              <a:rPr sz="1019" b="0" i="0" dirty="0" err="1">
                <a:solidFill>
                  <a:srgbClr val="EBF4FF"/>
                </a:solidFill>
                <a:latin typeface="Segoe UI"/>
              </a:rPr>
              <a:t>Keepout</a:t>
            </a:r>
            <a:r>
              <a:rPr sz="1019" b="0" i="0" dirty="0">
                <a:solidFill>
                  <a:srgbClr val="EBF4FF"/>
                </a:solidFill>
                <a:latin typeface="Segoe UI"/>
              </a:rPr>
              <a:t>, DRC/ERC = 0 </a:t>
            </a:r>
            <a:r>
              <a:rPr sz="1019" b="0" i="0" dirty="0" err="1">
                <a:solidFill>
                  <a:srgbClr val="EBF4FF"/>
                </a:solidFill>
                <a:latin typeface="Segoe UI"/>
              </a:rPr>
              <a:t>lỗi</a:t>
            </a:r>
            <a:endParaRPr sz="1019" b="0" i="0" dirty="0">
              <a:solidFill>
                <a:srgbClr val="EBF4FF"/>
              </a:solidFill>
              <a:latin typeface="Segoe U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321040" y="2368296"/>
            <a:ext cx="3429000" cy="10972"/>
          </a:xfrm>
          <a:prstGeom prst="rect">
            <a:avLst/>
          </a:prstGeom>
          <a:solidFill>
            <a:srgbClr val="234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496312"/>
            <a:ext cx="3474720" cy="1115568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>
                <a:solidFill>
                  <a:srgbClr val="FFFFFF"/>
                </a:solidFill>
                <a:latin typeface="Segoe UI"/>
              </a:rPr>
              <a:t>4 Bước + MLP</a:t>
            </a:r>
          </a:p>
          <a:p>
            <a:pPr>
              <a:spcAft>
                <a:spcPts val="200"/>
              </a:spcAft>
            </a:pPr>
            <a:r>
              <a:rPr sz="1150" b="1" i="0">
                <a:solidFill>
                  <a:srgbClr val="29B6F6"/>
                </a:solidFill>
                <a:latin typeface="Segoe UI"/>
              </a:rPr>
              <a:t>Xác nhận ngã &amp; TinyML 677 tham số</a:t>
            </a:r>
          </a:p>
          <a:p>
            <a:pPr>
              <a:lnSpc>
                <a:spcPct val="115000"/>
              </a:lnSpc>
            </a:pPr>
            <a:r>
              <a:rPr sz="1019" b="0" i="0">
                <a:solidFill>
                  <a:srgbClr val="EBF4FF"/>
                </a:solidFill>
                <a:latin typeface="Segoe UI"/>
              </a:rPr>
              <a:t>Hiệu chuẩn tư thế 3D Rodrigues + Giám sát bất động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694176"/>
            <a:ext cx="3429000" cy="10972"/>
          </a:xfrm>
          <a:prstGeom prst="rect">
            <a:avLst/>
          </a:prstGeom>
          <a:solidFill>
            <a:srgbClr val="234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822191"/>
            <a:ext cx="3474720" cy="73937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 dirty="0">
                <a:solidFill>
                  <a:srgbClr val="FFFFFF"/>
                </a:solidFill>
                <a:latin typeface="Segoe UI"/>
              </a:rPr>
              <a:t>26 FPS @ K230</a:t>
            </a:r>
          </a:p>
          <a:p>
            <a:pPr>
              <a:spcAft>
                <a:spcPts val="200"/>
              </a:spcAft>
            </a:pPr>
            <a:r>
              <a:rPr sz="1150" b="1" i="0" dirty="0" err="1">
                <a:solidFill>
                  <a:srgbClr val="29B6F6"/>
                </a:solidFill>
                <a:latin typeface="Segoe UI"/>
              </a:rPr>
              <a:t>Thị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giác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máy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tính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tại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biên</a:t>
            </a:r>
            <a:endParaRPr sz="1150" b="1" i="0" dirty="0">
              <a:solidFill>
                <a:srgbClr val="29B6F6"/>
              </a:solidFill>
              <a:latin typeface="Segoe UI"/>
            </a:endParaRPr>
          </a:p>
          <a:p>
            <a:pPr>
              <a:lnSpc>
                <a:spcPct val="115000"/>
              </a:lnSpc>
            </a:pPr>
            <a:r>
              <a:rPr sz="1019" b="0" i="0" dirty="0">
                <a:solidFill>
                  <a:srgbClr val="EBF4FF"/>
                </a:solidFill>
                <a:latin typeface="Segoe UI"/>
              </a:rPr>
              <a:t>YOLOv5n + </a:t>
            </a:r>
            <a:r>
              <a:rPr sz="1019" b="0" i="0" dirty="0" err="1">
                <a:solidFill>
                  <a:srgbClr val="EBF4FF"/>
                </a:solidFill>
                <a:latin typeface="Segoe UI"/>
              </a:rPr>
              <a:t>IoU</a:t>
            </a:r>
            <a:r>
              <a:rPr sz="1019" b="0" i="0" dirty="0">
                <a:solidFill>
                  <a:srgbClr val="EBF4FF"/>
                </a:solidFill>
                <a:latin typeface="Segoe UI"/>
              </a:rPr>
              <a:t> Tracker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5020056"/>
            <a:ext cx="3429000" cy="10972"/>
          </a:xfrm>
          <a:prstGeom prst="rect">
            <a:avLst/>
          </a:prstGeom>
          <a:solidFill>
            <a:srgbClr val="234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5148072"/>
            <a:ext cx="3474720" cy="1115568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>
                <a:solidFill>
                  <a:srgbClr val="FFFFFF"/>
                </a:solidFill>
                <a:latin typeface="Segoe UI"/>
              </a:rPr>
              <a:t>5 Lớp cảnh báo</a:t>
            </a:r>
          </a:p>
          <a:p>
            <a:pPr>
              <a:spcAft>
                <a:spcPts val="200"/>
              </a:spcAft>
            </a:pPr>
            <a:r>
              <a:rPr sz="1150" b="1" i="0">
                <a:solidFill>
                  <a:srgbClr val="29B6F6"/>
                </a:solidFill>
                <a:latin typeface="Segoe UI"/>
              </a:rPr>
              <a:t>UDP • BLE • TLS dựng sẵn • Fast-Flush • App</a:t>
            </a:r>
          </a:p>
          <a:p>
            <a:pPr>
              <a:lnSpc>
                <a:spcPct val="115000"/>
              </a:lnSpc>
            </a:pPr>
            <a:r>
              <a:rPr sz="1019" b="0" i="0">
                <a:solidFill>
                  <a:srgbClr val="EBF4FF"/>
                </a:solidFill>
                <a:latin typeface="Segoe UI"/>
              </a:rPr>
              <a:t>Còi/LED • Web • Firebase • Telegram/Gmail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/>
      <p:bldP spid="10" grpId="0" animBg="1"/>
      <p:bldP spid="11" grpId="0"/>
      <p:bldP spid="12" grpId="0"/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dirty="0">
                <a:solidFill>
                  <a:srgbClr val="1976D2"/>
                </a:solidFill>
                <a:latin typeface="Segoe UI"/>
              </a:rPr>
              <a:t>CẤU TRÚC BÀI THUYẾT TRÌNH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LỘ TRÌNH NỘI DUNG BÁO CÁO (AGENDA)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4 trụ cột nghiên cứu từ đặt vấn đề, thiết kế mạch in PCB, thuật toán Edge AI đến kiểm thử thực tế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073766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02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3063240"/>
            <a:ext cx="9966960" cy="3657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97280" y="3063240"/>
            <a:ext cx="7498079" cy="36576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1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697480"/>
            <a:ext cx="749808" cy="74980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584448"/>
            <a:ext cx="411480" cy="36576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TỔNG QUAN &amp; KIẾN TRÚC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Bài toán té ngã &amp; nguy cơ nằm bất động kéo dài (long-lie) ở người cao tuổi.
• Phân tích hạn chế của các giải pháp đơn lẻ.
• Kiến trúc 4 tầng IoT &amp; Ngăn xếp bảo mật TLS / TlsGate.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7288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2 (MỤC 2.1 – 2.3)</a:t>
            </a:r>
          </a:p>
        </p:txBody>
      </p:sp>
      <p:sp>
        <p:nvSpPr>
          <p:cNvPr id="22" name="Oval 21"/>
          <p:cNvSpPr/>
          <p:nvPr/>
        </p:nvSpPr>
        <p:spPr>
          <a:xfrm>
            <a:off x="3447288" y="2697480"/>
            <a:ext cx="749808" cy="749808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47288" y="3584448"/>
            <a:ext cx="411480" cy="36576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47288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PHẦN CỨNG &amp; MẠCH PCB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Sơ đồ khối đa phương thức (Đeo + Camera).
• Lựa chọn ESP32-S3 SuperMini, MPU6050, TTP223, S8050, 1N5817.
• Thiết kế sơ đồ nguyên lý &amp; PCB 2 lớp 60×50 mm trên KiCad 10.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3 (MỤC 3.1 – 3.4)</a:t>
            </a:r>
          </a:p>
        </p:txBody>
      </p:sp>
      <p:sp>
        <p:nvSpPr>
          <p:cNvPr id="26" name="Oval 25"/>
          <p:cNvSpPr/>
          <p:nvPr/>
        </p:nvSpPr>
        <p:spPr>
          <a:xfrm>
            <a:off x="6300216" y="2697480"/>
            <a:ext cx="749808" cy="74980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0216" y="3584448"/>
            <a:ext cx="411480" cy="36576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0216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THUẬT TOÁN TINYML &amp; K230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Lọc trung vị Median3 &amp; Hiệu chuẩn 3D Rodrigues (alignToZ).
• Máy trạng thái 4 bước FallDetector + Mạng MLP 677 tham số.
• Giám sát bất động &amp; Camera K230 YOLOv5n.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3 (MỤC 3.5 – 3.9)</a:t>
            </a:r>
          </a:p>
        </p:txBody>
      </p:sp>
      <p:sp>
        <p:nvSpPr>
          <p:cNvPr id="30" name="Oval 29"/>
          <p:cNvSpPr/>
          <p:nvPr/>
        </p:nvSpPr>
        <p:spPr>
          <a:xfrm>
            <a:off x="9153144" y="2697480"/>
            <a:ext cx="749808" cy="749808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53144" y="3584448"/>
            <a:ext cx="411480" cy="36576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53144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CLOUD, APP &amp; KIỂM THỬ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Web baonga.local, Firebase, Telegram &amp; Gmail.
• «Thời gian vàng» 5 lớp &amp; App «Báo Ngã IoT».
• Unit Test C++17, 69 kiểm thử app, 12 kịch bản T01–T12.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1 • ĐẶT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BÀI TOÁN THỰC TIỄN &amp; ĐỘNG LỰC NGHIÊN CỨU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Giải quyết triệt để nguy cơ nằm bất động kéo dài (long-lie) và bài toán báo động giả trong sinh hoạt thường ngày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610650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lang="en-US"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03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1490472"/>
            <a:ext cx="2606040" cy="9432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 dirty="0" err="1">
                <a:solidFill>
                  <a:srgbClr val="0D47A1"/>
                </a:solidFill>
                <a:latin typeface="Segoe UI"/>
              </a:rPr>
              <a:t>Đứng</a:t>
            </a:r>
            <a:r>
              <a:rPr sz="205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sz="2050" b="1" i="0" dirty="0" err="1">
                <a:solidFill>
                  <a:srgbClr val="0D47A1"/>
                </a:solidFill>
                <a:latin typeface="Segoe UI"/>
              </a:rPr>
              <a:t>thứ</a:t>
            </a:r>
            <a:r>
              <a:rPr sz="2050" b="1" i="0" dirty="0">
                <a:solidFill>
                  <a:srgbClr val="0D47A1"/>
                </a:solidFill>
                <a:latin typeface="Segoe UI"/>
              </a:rPr>
              <a:t> 2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 dirty="0" err="1">
                <a:solidFill>
                  <a:srgbClr val="0A2540"/>
                </a:solidFill>
                <a:latin typeface="Segoe UI"/>
              </a:rPr>
              <a:t>Nguyên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40" b="1" i="0" dirty="0" err="1">
                <a:solidFill>
                  <a:srgbClr val="0A2540"/>
                </a:solidFill>
                <a:latin typeface="Segoe UI"/>
              </a:rPr>
              <a:t>nhân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40" b="1" i="0" dirty="0" err="1">
                <a:solidFill>
                  <a:srgbClr val="0A2540"/>
                </a:solidFill>
                <a:latin typeface="Segoe UI"/>
              </a:rPr>
              <a:t>tử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40" b="1" i="0" dirty="0" err="1">
                <a:solidFill>
                  <a:srgbClr val="0A2540"/>
                </a:solidFill>
                <a:latin typeface="Segoe UI"/>
              </a:rPr>
              <a:t>vong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chỉ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sau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tai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nạn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giao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thông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đường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bộ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.</a:t>
            </a:r>
            <a:endParaRPr sz="1140" b="1" i="0" dirty="0">
              <a:solidFill>
                <a:srgbClr val="0A2540"/>
              </a:solidFill>
              <a:latin typeface="Segoe UI"/>
            </a:endParaRPr>
          </a:p>
          <a:p>
            <a:pPr>
              <a:lnSpc>
                <a:spcPct val="112000"/>
              </a:lnSpc>
            </a:pPr>
            <a:r>
              <a:rPr sz="1000" b="0" i="0" dirty="0">
                <a:solidFill>
                  <a:srgbClr val="607D9F"/>
                </a:solidFill>
                <a:latin typeface="Segoe UI"/>
              </a:rPr>
              <a:t>Theo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kê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của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WHO ở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người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cao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tuổi</a:t>
            </a:r>
            <a:r>
              <a:rPr lang="en-US" sz="1000" b="0" i="0" dirty="0">
                <a:solidFill>
                  <a:srgbClr val="607D9F"/>
                </a:solidFill>
                <a:latin typeface="Segoe UI"/>
              </a:rPr>
              <a:t> </a:t>
            </a:r>
            <a:endParaRPr sz="100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7472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&gt; 30 – 60 phút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Nguy cơ nằm bất động (Long-lie)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Gây hạ thân nhiệt, tiêu cơ vân, suy thận cấp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02 Phân hệ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Thiết bị đeo + Camera AI K230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Khắc phục hoàn toàn điểm mù &amp; báo động giả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490472"/>
            <a:ext cx="251460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&lt; 1,0 ms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Suy luận AI trực tiếp tại biên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Báo động tại chỗ độc lập hoàn toàn với Internet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743200"/>
            <a:ext cx="1115568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2980944"/>
            <a:ext cx="45720" cy="3264408"/>
          </a:xfrm>
          <a:prstGeom prst="rect">
            <a:avLst/>
          </a:prstGeom>
          <a:solidFill>
            <a:srgbClr val="607D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2" y="2944368"/>
            <a:ext cx="5166359" cy="33375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607D9F"/>
                </a:solidFill>
                <a:latin typeface="Segoe UI"/>
              </a:rPr>
              <a:t>HẠN CHẾ CỦA CÁC GIẢI PHÁP ĐƠN LẺ HIỆN NAY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Chỉ dùng ngưỡng gia tốc đơn giản: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Dễ báo giả khi vỗ tay, bước xuống cầu thang, đặt thiết bị lên bàn hoặc ngồi phịch xuống ghế.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Thiếu chuẩn hóa tư thế đeo 3 chiều: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Khi đeo nghiêng ở thắt lưng hoặc túi áo, trục tọa độ bị lệch làm sai phép kiểm tra tư thế nằm.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Bỏ sót bất động êm (Ngất xỉu / Đột quỵ):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Các thiết bị chỉ bắt va đập ≥2g sẽ bỏ sót trường hợp người già ngất từ từ trên giường/ghế.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Chỉ dùng Camera cố định: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Bị giới hạn bởi góc khuất đồ đạc và vấn đề riêng tư tại phòng ngủ, phòng tắm.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980944"/>
            <a:ext cx="45720" cy="326440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82512" y="2944368"/>
            <a:ext cx="5349240" cy="2389565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GIẢI PHÁP IoT ĐA PHƯƠNG THỨC </a:t>
            </a:r>
            <a:endParaRPr lang="en-US" sz="1320" b="1" i="0" dirty="0">
              <a:solidFill>
                <a:srgbClr val="0D47A1"/>
              </a:solidFill>
              <a:latin typeface="Segoe U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Hiệu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chuẩn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3D Rodrigues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Lọc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Median3: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Xoay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vector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trọng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lực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chuẩn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về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trục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+Z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bằng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lần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TTP223,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bất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biến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với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góc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đeo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Máy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trạng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thái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4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bước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Mạng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TinyML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MLP: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Kết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hợp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va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≥2g,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bằng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chứng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rơi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tự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do/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xoay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người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/MLP 677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tham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số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pha ổn định 1s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/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/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tĩnh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≥80% &amp;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lệch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≥45°.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Giám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sát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bất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động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kéo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dài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(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InactivityMonitor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):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Theo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dõi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sở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nghi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lọc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nhiễu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nhịp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thở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phát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cảnh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báo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khi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bất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động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quá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hạn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Kết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hợp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Camera AI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CanMV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K230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Đa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kênh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YOLOv5n +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IoU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Tracker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gửi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kèm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ảnh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JPEG;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đồng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bộ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Web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baonga.local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Firebase, Telegram &amp; Gmail.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1 • CƠ SỞ LÝ THUYẾT &amp; KIẾN TRÚC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KIẾN TRÚC TỔNG THỂ 4 TẦNG CỦA HỆ THỐNG IoT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Xử lý thông minh ngay tại thiết bị biên (Edge AI) kết hợp đồng bộ đám mây thời gian thực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2147533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04 / 21</a:t>
            </a:r>
          </a:p>
        </p:txBody>
      </p:sp>
      <p:pic>
        <p:nvPicPr>
          <p:cNvPr id="15" name="Picture 14" descr="fig_1_1_aiot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5261"/>
            <a:ext cx="6903720" cy="38635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80759"/>
            <a:ext cx="690372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1.1. Kiến trúc 4 tầng của hệ thống IoT phát hiện và cảnh báo té ngã</a:t>
            </a:r>
          </a:p>
        </p:txBody>
      </p:sp>
      <p:sp>
        <p:nvSpPr>
          <p:cNvPr id="17" name="Oval 16"/>
          <p:cNvSpPr/>
          <p:nvPr/>
        </p:nvSpPr>
        <p:spPr>
          <a:xfrm>
            <a:off x="7635240" y="1463040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1444752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Tầng Cảm nhận Vật lý (Perception)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MPU6050 thu thập 6 trục quán tính ở 50 Hz (I2C 400 kHz); cảm biến chạm TTP223; ADC đo pin Li-Po; Camera GC2093 MIPI-CSI.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267004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2651760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 dirty="0" err="1">
                <a:solidFill>
                  <a:srgbClr val="0A2540"/>
                </a:solidFill>
                <a:latin typeface="Segoe UI"/>
              </a:rPr>
              <a:t>Tầng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Xử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lý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Edge AI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tại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biên</a:t>
            </a:r>
            <a:endParaRPr sz="1280" b="1" i="0" dirty="0">
              <a:solidFill>
                <a:srgbClr val="0A2540"/>
              </a:solidFill>
              <a:latin typeface="Segoe UI"/>
            </a:endParaRPr>
          </a:p>
          <a:p>
            <a:pPr>
              <a:lnSpc>
                <a:spcPct val="118000"/>
              </a:lnSpc>
            </a:pPr>
            <a:r>
              <a:rPr sz="1120" b="0" i="0" dirty="0" err="1">
                <a:solidFill>
                  <a:srgbClr val="1E3A5F"/>
                </a:solidFill>
                <a:latin typeface="Segoe UI"/>
              </a:rPr>
              <a:t>Lọc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Median3,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phép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quay Rodrigues 3D,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trích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30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đặc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trưng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suy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luận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MLP (&lt; 1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ms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)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trên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ESP32-S3; YOLOv5n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trên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nhân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KPU K230.</a:t>
            </a:r>
          </a:p>
        </p:txBody>
      </p:sp>
      <p:sp>
        <p:nvSpPr>
          <p:cNvPr id="21" name="Oval 20"/>
          <p:cNvSpPr/>
          <p:nvPr/>
        </p:nvSpPr>
        <p:spPr>
          <a:xfrm>
            <a:off x="7635240" y="3877055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58768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Tầng Truyền thông &amp; Đám mây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Wi-Fi đa mạng NVS, SoftAP, mDNS baonga.local, BLE 5.0, Firebase Realtime DB và cổng khóa nguyên tử TlsGate.</a:t>
            </a:r>
          </a:p>
        </p:txBody>
      </p:sp>
      <p:sp>
        <p:nvSpPr>
          <p:cNvPr id="23" name="Oval 22"/>
          <p:cNvSpPr/>
          <p:nvPr/>
        </p:nvSpPr>
        <p:spPr>
          <a:xfrm>
            <a:off x="7635240" y="5084064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5065776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Tầng Ứng dụng &amp; Cảnh báo Đa kênh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Còi 3V + LED đỏ tại chỗ độc lập mạng; Web Portal nội bộ; Firebase Web App; tin nhắn Telegram Bot &amp; Email HTML Gmail.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GIẢI PHÁP THIẾT KẾ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SƠ ĐỒ KHỐI TỔNG THỂ HỆ THỐNG ĐA PHƯƠNG THỨC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Phối hợp chặt chẽ giữa Phân hệ Thiết bị đeo thông minh và Phân hệ Camera AI giám sát phòng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2684417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05 / 21</a:t>
            </a:r>
          </a:p>
        </p:txBody>
      </p:sp>
      <p:pic>
        <p:nvPicPr>
          <p:cNvPr id="15" name="Picture 14" descr="fig_2_1_block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61440"/>
            <a:ext cx="6995160" cy="411119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80759"/>
            <a:ext cx="699516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2.1. Sơ đồ khối tổng thể hệ thống IoT phát hiện té ngã đa phương thức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1453896"/>
            <a:ext cx="45720" cy="225856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45552" y="1417320"/>
            <a:ext cx="3886200" cy="23317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PHÂN HỆ 1: THIẾT BỊ ĐEO (WEARABLE NODE)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Vi điều khiển: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ESP32-S3 SuperMini (Xtensa LX7 80MHz, 4MB Flash, 2MB QSPI PSRAM).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Cảm biến: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MPU6050 6 trục (GPIO8/9/7) + Chạm điện dung TTP223 (GPIO4).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Cảnh báo &amp; Nguồn: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Còi BZ1 qua S8050 (GPIO5), LED D3 (GPIO6), đo pin VSW (GPIO1).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968496"/>
            <a:ext cx="45720" cy="225856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45552" y="3931920"/>
            <a:ext cx="3886200" cy="23317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PHÂN HỆ 2: NHÁNH CAMERA AI (K230 + BRIDGE)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Thị giác AI: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01Studio CanMV K230 chạy mô hình YOLOv5n + IoU Tracker (26 FPS).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Cầu nối mạng: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ESP32-S3 DevKitC-1 N16R8 giao tiếp qua UART1 tốc độ 921600 baud.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Luồng ảnh JPEG: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Báo sự kiện qua UART (&lt;5 ms), tải ảnh qua vé một lần SNAP Ticket.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LỰA CHỌN LINH KIỆN &amp; PINOUT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LINH KIỆN CỐT LÕI &amp; BẢNG PHÂN BỔ CHÂN TÍN HIỆU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Tối ưu hóa phần cứng cho thiết bị đeo nhỏ gọn, tránh chân Strapping và hỗ trợ đánh thức Deep Sleep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3221300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06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426464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1389888"/>
            <a:ext cx="480060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LÝ DO LỰA CHỌN LINH KIỆN TRÊN PCB REV 1.1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ESP32-S3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SuperMini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(U1):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thước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22,5×18 mm;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hợp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sẵn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2 MB PSRAM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giúp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chạy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mượt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TLS;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dòng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ngủ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sâu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Deep Sleep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~8 µA.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GY-521 MPU6050 (U2):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Thang đo ±4g (8192 LSB/g) đúng với dữ liệu huấn luyện mô hình; Gyro ±500°/s; bộ lọc số DLPF ~21 Hz.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Cảm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biến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chạm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TTP223 (U3):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Triệt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tiêu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hoàn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toàn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hiện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tượng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dội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phím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học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hỗ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trợ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1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tắt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còi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3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hiệu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chuẩn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3D,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giữ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3s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ngủ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sâu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Transistor S8050 (Q1) + Diode 1N4148 (D1):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Đệm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dòng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còi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3V BZ1 an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toàn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có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trở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kéo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xuống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R2=10kΩ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chống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kêu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lúc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khởi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động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Diode Schottky 1N5817 (D2)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Cầu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R4/R5: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Chống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lắp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ngược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cực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pin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với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sụt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áp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thấp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(~0,25V);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cầu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phân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áp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100kΩ/100kΩ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áp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VSW.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389888"/>
            <a:ext cx="6035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BẢNG PHÂN BỔ CHÂN TÍN HIỆU (ESP32-S3 SUPERMINI PINOUT)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15000" y="1792224"/>
          <a:ext cx="603504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Chân GPIO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Mạng (Net)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Chức năng &amp; Lưu ý thiết kế phần cứng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GPIO8 / GPIO9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I2C_SDA / SCL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Giao tiếp I2C Fast Mode 400 kHz đọc cụm 14 byte MPU6050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GPIO7 (RTC)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MPU_INT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Ngắt mẫu mới DATA_READY 50 Hz &amp; Đánh thức Deep Sleep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GPIO4 (RTC)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TOUCH_OUT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Tín hiệu chạm TTP223 (Active HIGH, miền nguồn RTC IO)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BUZZ_CTRL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Kích dẫn NPN S8050 bật còi 3V BZ1 (có R2=10kΩ kéo xuống)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GPIO6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LED_CTRL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Điều khiển LED đỏ cảnh báo 5mm D3 qua trở hạn dòng 330 Ω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RGB_STATUS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LED RGB WS2812 báo trạng thái Wi-Fi / Cloud / SoftAP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GPIO1 (ADC1)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VBAT_ADC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Đo điện áp pin VSW qua cầu phân áp 100kΩ/100kΩ (nhân 2,0)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THIẾT KẾ SƠ ĐỒ NGUYÊN LÝ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594458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 dirty="0">
                <a:solidFill>
                  <a:srgbClr val="0A2540"/>
                </a:solidFill>
                <a:latin typeface="Segoe UI"/>
              </a:rPr>
              <a:t>SƠ ĐỒ NGUYÊN LÝ MẠCH THIẾT BỊ ĐEO</a:t>
            </a:r>
          </a:p>
          <a:p>
            <a:pPr>
              <a:lnSpc>
                <a:spcPct val="115000"/>
              </a:lnSpc>
            </a:pPr>
            <a:r>
              <a:rPr sz="1100" b="0" i="0" dirty="0" err="1">
                <a:solidFill>
                  <a:srgbClr val="607D9F"/>
                </a:solidFill>
                <a:latin typeface="Segoe UI"/>
              </a:rPr>
              <a:t>Thiết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kế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chuẩn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hóa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trên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KiCad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10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đạt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kiểm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quy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tắc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điện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học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ERC = 0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lỗi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0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báo</a:t>
            </a:r>
            <a:endParaRPr sz="1100" b="0" i="0" dirty="0">
              <a:solidFill>
                <a:srgbClr val="607D9F"/>
              </a:solidFill>
              <a:latin typeface="Segoe UI"/>
            </a:endParaRP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375818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07 / 21</a:t>
            </a:r>
          </a:p>
        </p:txBody>
      </p:sp>
      <p:pic>
        <p:nvPicPr>
          <p:cNvPr id="15" name="Picture 14" descr="fig_2_2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873" y="1325880"/>
            <a:ext cx="6752173" cy="4773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7498079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2.2. Sơ đồ nguyên lý mạch thiết bị đeo phát hiện té ngã (fall_detector.kicad_sch)</a:t>
            </a:r>
          </a:p>
        </p:txBody>
      </p:sp>
      <p:sp>
        <p:nvSpPr>
          <p:cNvPr id="17" name="Oval 16"/>
          <p:cNvSpPr/>
          <p:nvPr/>
        </p:nvSpPr>
        <p:spPr>
          <a:xfrm>
            <a:off x="8183879" y="152704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1508760"/>
            <a:ext cx="312724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Đo điện áp pin tại nút VSW trước Diode D2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Cầu phân áp R4/R5 (100kΩ/100kΩ) lấy mẫu trước diode Schottky 1N5817 giúp đo đúng điện áp thực của pin Li-Po (3,3–4,2V) và ngắt hoàn toàn dòng rò khi tắt SW1.</a:t>
            </a:r>
          </a:p>
        </p:txBody>
      </p:sp>
      <p:sp>
        <p:nvSpPr>
          <p:cNvPr id="19" name="Oval 18"/>
          <p:cNvSpPr/>
          <p:nvPr/>
        </p:nvSpPr>
        <p:spPr>
          <a:xfrm>
            <a:off x="8183879" y="312724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22792" y="3108960"/>
            <a:ext cx="312724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Lọc nhiễu nguồn đa tầng (C1 – C4)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Tụ hóa C1 (100µF) bù dòng đỉnh khi khối RF Wi-Fi phát sóng; các tụ gốm 100nF (C2, C3, C4) đặt sát chân nguồn U2, U3 và lọc trung bình tín hiệu ADC.</a:t>
            </a:r>
          </a:p>
        </p:txBody>
      </p:sp>
      <p:sp>
        <p:nvSpPr>
          <p:cNvPr id="21" name="Oval 20"/>
          <p:cNvSpPr/>
          <p:nvPr/>
        </p:nvSpPr>
        <p:spPr>
          <a:xfrm>
            <a:off x="8183879" y="472744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4709160"/>
            <a:ext cx="312724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Mạch đệm còi có bảo vệ xung ngược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Transistor NPN S8050 (Q1) kết hợp diode xung 1N4148 (D1) triệt tiêu sức điện động cảm ứng ngược từ còi BZ1, bảo vệ tuyệt đối chân GPIO5.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THIẾT KẾ MẠCH IN PCB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 dirty="0">
                <a:solidFill>
                  <a:srgbClr val="0A2540"/>
                </a:solidFill>
                <a:latin typeface="Segoe UI"/>
              </a:rPr>
              <a:t>MẠCH IN PCB 2 LỚP (60 × 50 MM) &amp; MÔ HÌNH 3D HOÀN CHỈNH</a:t>
            </a:r>
          </a:p>
          <a:p>
            <a:pPr>
              <a:lnSpc>
                <a:spcPct val="115000"/>
              </a:lnSpc>
            </a:pPr>
            <a:r>
              <a:rPr sz="1100" b="0" i="0" dirty="0" err="1">
                <a:solidFill>
                  <a:srgbClr val="607D9F"/>
                </a:solidFill>
                <a:latin typeface="Segoe UI"/>
              </a:rPr>
              <a:t>Bố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trí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linh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kiện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tối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ưu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phủ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đồng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GND 2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lớp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vùng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cấm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sóng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ăng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-ten (Antenna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Keepout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)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đi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dây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Zero-Via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4295067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08 / 21</a:t>
            </a:r>
          </a:p>
        </p:txBody>
      </p:sp>
      <p:pic>
        <p:nvPicPr>
          <p:cNvPr id="15" name="Picture 14" descr="fig_2_3_pcb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39143"/>
            <a:ext cx="3886200" cy="33213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4846320"/>
            <a:ext cx="388620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2.3. Mô hình 3D mặt trên (Top View)</a:t>
            </a:r>
          </a:p>
        </p:txBody>
      </p:sp>
      <p:pic>
        <p:nvPicPr>
          <p:cNvPr id="17" name="Picture 16" descr="fig_2_4_pcb_i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597302"/>
            <a:ext cx="3886200" cy="30050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80560" y="4846320"/>
            <a:ext cx="388620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2.4. Mô hình 3D góc nghiêng (Isometric)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230368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303520"/>
            <a:ext cx="2423160" cy="10241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60 × 50 mm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Kích thước cơ khí nhỏ gọn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Bo góc R=3mm, 4 lỗ vít M2,5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5230368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46120" y="5303520"/>
            <a:ext cx="2423160" cy="10241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0 Vi phạm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Kiểm tra DRC &amp; ERC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100% mạng đi dây hoàn chỉnh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5230368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97880" y="5303520"/>
            <a:ext cx="2423160" cy="10241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Zero-Via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Không dùng lỗ xuyên via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Độ bền cao, dễ gia công thực tế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85632" y="1453896"/>
            <a:ext cx="45720" cy="477316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50224" y="1417320"/>
            <a:ext cx="3108960" cy="4846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ĐẶC ĐIỂM KỸ THUẬT PCB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Phân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tách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bề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rộng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đường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mạch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nguồn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(+3V3, VSW)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còi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rộng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0,50–0,80 mm;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tín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hiệu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số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0,25 mm.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Vùng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cấm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phủ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đồng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ăng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-ten: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Keepout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Zone (X=6..23, Y=0..8 mm)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trên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cả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F.Cu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B.Cu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giúp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sóng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Wi-Fi 2,4 GHz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bức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tự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do.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Phủ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đồng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GND 2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mặt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Giảm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nhiễu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điện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từ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(EMI)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truyền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I2C 400 kHz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của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cảm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biến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MPU6050.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Chế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độ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ngủ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sâu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tiết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kiệm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pin: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Dòng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tiêu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thụ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riêng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của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MCU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~8 µA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khi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Deep Sleep.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FIRMWARE &amp; TIỀN XỬ LÝ 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LƯU ĐỒ FIRMWARE &amp; HIỆU CHUẨN TƯ THẾ 3 CHIỀU RODRIGUES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Chuỗi lọc nhiễu quán tính 50 Hz và chuẩn hóa hệ trục tọa độ bất biến với góc đeo thiết bị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4831950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09 / 21</a:t>
            </a:r>
          </a:p>
        </p:txBody>
      </p:sp>
      <p:pic>
        <p:nvPicPr>
          <p:cNvPr id="15" name="Picture 14" descr="fig_3_1_wearabl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64" y="1325880"/>
            <a:ext cx="6423151" cy="4773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672084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3.1. Lưu đồ thuật toán tổng thể trên thiết bị đeo ESP32-S3 SuperMini</a:t>
            </a:r>
          </a:p>
        </p:txBody>
      </p:sp>
      <p:sp>
        <p:nvSpPr>
          <p:cNvPr id="17" name="Oval 16"/>
          <p:cNvSpPr/>
          <p:nvPr/>
        </p:nvSpPr>
        <p:spPr>
          <a:xfrm>
            <a:off x="745236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1463040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Đọc cụm I2C 50 Hz (Burst Read 14 Bytes)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Khi nhận xung ngắt DATA_READY từ chân GPIO7 mỗi 20 ms, MCU đọc nguyên cụm 14 thanh ghi gia tốc &amp; vận tốc góc trong &lt; 0,4 ms.</a:t>
            </a:r>
          </a:p>
        </p:txBody>
      </p:sp>
      <p:sp>
        <p:nvSpPr>
          <p:cNvPr id="19" name="Oval 18"/>
          <p:cNvSpPr/>
          <p:nvPr/>
        </p:nvSpPr>
        <p:spPr>
          <a:xfrm>
            <a:off x="7452360" y="2743200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2724912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Bộ lọc trung vị 3 mẫu (3-Sample Median Filter)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Loại bỏ hoàn toàn các xung nhiễu đột biến đơn lẻ (single-sample spikes) mà không làm tù sườn dốc của xung va chạm thật.</a:t>
            </a:r>
          </a:p>
        </p:txBody>
      </p:sp>
      <p:sp>
        <p:nvSpPr>
          <p:cNvPr id="21" name="Oval 20"/>
          <p:cNvSpPr/>
          <p:nvPr/>
        </p:nvSpPr>
        <p:spPr>
          <a:xfrm>
            <a:off x="7452360" y="4005072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3986784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Bù trôi Gyro tự động (Dynamic Gyro Bias, α = 0,01)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Khi cơ thể đứng yên liên tục &gt; 2 giây (100 mẫu), bộ lọc tự động cập nhật mượt điểm không của con quay hồi chuyển theo nhiệt độ.</a:t>
            </a:r>
          </a:p>
        </p:txBody>
      </p:sp>
      <p:sp>
        <p:nvSpPr>
          <p:cNvPr id="23" name="Oval 22"/>
          <p:cNvSpPr/>
          <p:nvPr/>
        </p:nvSpPr>
        <p:spPr>
          <a:xfrm>
            <a:off x="7452360" y="523036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5212080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Phép quay 3D Rodrigues (Chạm 3 lần TTP223)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Thu 50 mẫu tĩnh, tính ma trận trực giao 3×3 R đưa vector trọng lực về đúng trục +Z và lưu bền vững vào NVS (fallcal).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THUẬT TOÁN PHÁT HIỆN NGÃ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594458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 dirty="0">
                <a:solidFill>
                  <a:srgbClr val="0A2540"/>
                </a:solidFill>
                <a:latin typeface="Segoe UI"/>
              </a:rPr>
              <a:t>TRẠNG THÁI XÁC NHẬN TÉ NGÃ 4 BƯỚC &amp; BẤT ĐỘNG</a:t>
            </a:r>
          </a:p>
          <a:p>
            <a:pPr>
              <a:lnSpc>
                <a:spcPct val="115000"/>
              </a:lnSpc>
            </a:pPr>
            <a:r>
              <a:rPr sz="1100" b="0" i="0" dirty="0" err="1">
                <a:solidFill>
                  <a:srgbClr val="607D9F"/>
                </a:solidFill>
                <a:latin typeface="Segoe UI"/>
              </a:rPr>
              <a:t>Kết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hợp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động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lực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học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vật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lý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mạng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nơ-ron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TinyML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kiểm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tư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thế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sau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chạm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để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triệt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tiêu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giả</a:t>
            </a:r>
            <a:endParaRPr sz="1100" b="0" i="0" dirty="0">
              <a:solidFill>
                <a:srgbClr val="607D9F"/>
              </a:solidFill>
              <a:latin typeface="Segoe UI"/>
            </a:endParaRP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536883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10 / 21</a:t>
            </a:r>
          </a:p>
        </p:txBody>
      </p:sp>
      <p:pic>
        <p:nvPicPr>
          <p:cNvPr id="15" name="Picture 14" descr="fig_3_2_fall_detector_f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06259"/>
            <a:ext cx="6812280" cy="281240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6812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3.2. Máy trạng thái xác nhận té ngã 4 bước (FallDetector trong fall_detector.h)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1426464"/>
            <a:ext cx="45720" cy="308152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62671" y="1389888"/>
            <a:ext cx="4096511" cy="31546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4 BƯỚC XÁC NHẬN TÉ NGÃ (FALLDETECTOR)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1 – Phát hiện nghi ngã (fall candidate):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Bắt đầu pha xác minh khi tổng gia tốc |a| ≥ 2,0g; lưu vector tư thế trước va chạm before_.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2 – Đa bằng chứng: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Cần ≥ 1 bằng chứng: Rơi tự do |a| &lt; 0,6g (1s trước) HOẶC Xoay thân |ω| ≥ 120°/s HOẶC MLP báo 'nga' (≥ 70%).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3 – Pha ổn định (settling) 1,0 giây: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Bỏ qua 1000 ms nảy cơ học ngay sau khi cơ thể chạm sàn.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4 – Pha xác minh tư thế 2,0 giây: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Xác nhận ngã khi tỷ lệ mẫu tĩnh ≥ 80% VÀ góc lệch tư thế θ ≥ 45°.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4700016"/>
            <a:ext cx="45720" cy="1618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62671" y="4663440"/>
            <a:ext cx="4096511" cy="16916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GIÁM SÁT BẤT ĐỘNG (INACTIVITY MONITOR)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Lọc nhiễu nhịp thở (Streak ≥ 3 mẫu):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Đòi hỏi ≥ 3 mẫu liên tiếp có Δa ≥ 0,06g hoặc Δω ≥ 12°/s so với nền trượt 0,5s.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Cảnh báo vàng &amp; Tự khôi phục: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Báo Telegram/Gmail/Web khi bất động quá hạn; tự báo 'ĐÃ CỬ ĐỘNG TRỞ LẠI'.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HỌC MÁY TẠI BIÊN (TINYML)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KIẾN TRÚC MẠNG NƠ-RON TINYML MLP TRÊN THIẾT BỊ ĐEO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Trích xuất 30 đặc trưng miền thời gian và suy luận tĩnh 677 tham số trong thời gian &lt; 1 ms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5905717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11 / 21</a:t>
            </a:r>
          </a:p>
        </p:txBody>
      </p:sp>
      <p:pic>
        <p:nvPicPr>
          <p:cNvPr id="15" name="Picture 14" descr="fig_3_3_ml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52061"/>
            <a:ext cx="6903720" cy="29208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690372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3.3. Kiến trúc trích xuất 30 đặc trưng và mạng nơ-ron đa lớp MLP (30 → 16 → 8 → 5)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2" y="1463040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Cửa sổ trượt 50 mẫu (1,0s @ 50 Hz, Hop 200 ms)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Bộ đệm vòng lưu 50 mẫu × 6 kênh gần nhất; thực hiện suy luận mỗi khi nhận thêm 10 mẫu mới (tần suất 5 lần/giây).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0" y="2743200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2" y="2724912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30 Đặc trưng thống kê &amp; Chuẩn hóa Z-score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Trích xuất 5 đặc trưng (Mean, Std, Max, Min, RMS) trên từng kênh trong 6 kênh (ax, ay, az, gx, gy, gz) và chuẩn hóa Z-score.</a:t>
            </a:r>
          </a:p>
        </p:txBody>
      </p:sp>
      <p:sp>
        <p:nvSpPr>
          <p:cNvPr id="21" name="Oval 20"/>
          <p:cNvSpPr/>
          <p:nvPr/>
        </p:nvSpPr>
        <p:spPr>
          <a:xfrm>
            <a:off x="7589520" y="4005072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2" y="3986784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Cấu trúc mạng MLP 677 tham số (5 lớp hành vi)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Input (30) → Dense 1 (16, ReLU) → Dense 2 (8, ReLU) → Output (5, Softmax) phân loại: binh_thuong, nga, ngoi, nam, chay.</a:t>
            </a:r>
          </a:p>
        </p:txBody>
      </p:sp>
      <p:sp>
        <p:nvSpPr>
          <p:cNvPr id="23" name="Oval 22"/>
          <p:cNvSpPr/>
          <p:nvPr/>
        </p:nvSpPr>
        <p:spPr>
          <a:xfrm>
            <a:off x="7589520" y="523036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5212080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Suy luận tĩnh Zero-Malloc &amp; Sai số &lt; 0,0001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Toàn bộ trọng số lưu trong Flash; không cấp phát bộ nhớ động; kiểm thử đối chiếu 602 cửa sổ với Python NumPy đạt sai số &lt; 0,0001.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THỊ GIÁC MÁY TÍNH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NHÁNH CAMERA AI CANMV K230 &amp; CẦU NỐI ESP32-S3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Đường ống YOLOv5n + IoU Tracker + Bộ lọc hình học và kiến trúc truyền thông song hành UART/HTTP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6442601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12 / 21</a:t>
            </a:r>
          </a:p>
        </p:txBody>
      </p:sp>
      <p:pic>
        <p:nvPicPr>
          <p:cNvPr id="15" name="Picture 14" descr="fig_3_4_k230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19" y="1353312"/>
            <a:ext cx="5662081" cy="24414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3794759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3.4. Chuỗi xử lý thị giác máy tính trên CanMV K230</a:t>
            </a:r>
          </a:p>
        </p:txBody>
      </p:sp>
      <p:pic>
        <p:nvPicPr>
          <p:cNvPr id="17" name="Picture 16" descr="fig_2_5_k230_bri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805" y="4133087"/>
            <a:ext cx="4289508" cy="19385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071616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2.5. Kiến trúc song hành UART + HTTP giữa K230 và ESP32-S3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53896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9672" y="1417320"/>
            <a:ext cx="521208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CHUỖI LỌC CHỐNG BÁO GIẢ TRÊN CAMERA K230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Suy luận YOLOv5n trên nhân KPU (26 FPS):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Chạy mô hình yolov5n-falldown.kmodel (640×640) trực tiếp trên luồng camera CSI 640×360.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Theo dõi đa đối tượng (IoU Tracker ≥ 0,30):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Gán mã định danh (Track ID) riêng cho từng người trong phòng qua các khung hình liên tiếp.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Bỏ phiếu trượt 6/10 &amp; Kiểm tra hình học: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Phiếu ngã = khung bao nằm ngang (w/h &gt; 0,95) VÀ (YOLO báo Fall HOẶC tâm Y tụt &gt; 18% trong 8 khung); cần ≥ 6/10 phiếu.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Giữ trạng thái SUSPECT 1,5 giây: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Phải duy trì tư thế ngã đủ 1,5 giây mới phát ALARM, loại bỏ hoàn toàn động tác cúi nhặt đồ nhanh.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Giao thức UART 921600 &amp; Vé tải ảnh SNAP: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Báo sự kiện tức thời qua UART (&lt;5 ms); cầu nối cấp vé một lần SNAP để K230 đẩy thẳng ảnh JPEG lên Cloud Relay.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TRUYỀN THÔNG &amp; GIAO DIỆN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ĐIỀU PHỐI BẢO MẬT TLS &amp; HỆ SINH THÁI QUẢN TRỊ ĐA KÊNH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Giải quyết triệt để bài toán cạn kiệt Heap khi mở đồng thời nhiều phiên mã hóa TLS trên vi điều khiển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697948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13 / 21</a:t>
            </a:r>
          </a:p>
        </p:txBody>
      </p:sp>
      <p:pic>
        <p:nvPicPr>
          <p:cNvPr id="15" name="Picture 14" descr="fig_1_2_protocol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86" y="1353312"/>
            <a:ext cx="4795347" cy="2167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3520439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1.2. Ngăn xếp bảo mật và cổng khóa nguyên tử TlsGate</a:t>
            </a:r>
          </a:p>
        </p:txBody>
      </p:sp>
      <p:pic>
        <p:nvPicPr>
          <p:cNvPr id="17" name="Picture 16" descr="fig_3_7_web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836" y="3858768"/>
            <a:ext cx="4467447" cy="22128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071616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3.5. Giao diện Web baonga.local, Firebase Cloud &amp; Telegram/Gmail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463040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Định tuyến bộ nhớ đệm mbedTLS sang PSRAM (tlsCalloc)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Chuyển các khối đệm mật mã TLS sang 2 MB QSPI PSRAM, giải phóng &gt; 60 KB SRAM nội bộ và duy trì &gt; 120 KB Free Heap.</a:t>
            </a:r>
          </a:p>
        </p:txBody>
      </p:sp>
      <p:sp>
        <p:nvSpPr>
          <p:cNvPr id="21" name="Oval 20"/>
          <p:cNvSpPr/>
          <p:nvPr/>
        </p:nvSpPr>
        <p:spPr>
          <a:xfrm>
            <a:off x="6355080" y="2743200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2724912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Cổng khóa nguyên tử TlsGate ưu tiên cảnh báo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Tại mỗi thời điểm chỉ có 1 phiên TLS; khi có báo động, CloudSync đẩy trạng thái alarm trên phiên TLS dựng sẵn (keep-alive, Fast-Flush) rồi nhường ngay cho Telegram/Gmail.</a:t>
            </a:r>
          </a:p>
        </p:txBody>
      </p:sp>
      <p:sp>
        <p:nvSpPr>
          <p:cNvPr id="23" name="Oval 22"/>
          <p:cNvSpPr/>
          <p:nvPr/>
        </p:nvSpPr>
        <p:spPr>
          <a:xfrm>
            <a:off x="6355080" y="4005072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3986784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Cổng Web cục bộ (http://baonga.local) &amp; SoftAP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Cập nhật mỗi 1 giây trạng thái, tư thế, pin, RSSI; cho phép bật/tắt còi, chỉnh số phút bất động và lưu 3 mạng Wi-Fi vào NVS.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523036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5212080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Đồng bộ hai chiều Firebase &amp; Cảnh báo Telegram/Gmail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Giám sát từ xa qua Internet/4G với phân quyền RBAC (owner/viewer/device); gửi tin nhắn Telegram kèm ảnh và Email HTML ưu tiên cao.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ĐƯỜNG TRUYỀN CẢNH BÁO (MỤC 3.6)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«THỜI GIAN VÀNG» – ĐƯỜNG TRUYỀN CẢNH BÁO 5 LỚP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Phát song song nhiều đường độc lập: đường nào tới trước thì báo động, các đường còn lại là dự phòng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7516368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14 /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353312"/>
            <a:ext cx="690372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TỔNG QUAN 5 LỚP ĐỘ TRỄ THẤP (BẢNG 3.5)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719072"/>
          <a:ext cx="6903720" cy="4137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3063240"/>
                <a:gridCol w="22402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Lớp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Cơ chế chính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Hiệu quả theo thiết kế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1. UDP LAN Burst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3 gói UDP cùng seq, cách 20 ms; broadcast + unicast ≤ 4 IP; không TLS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Mục tiêu &lt; 15 ms trong mạng nội bộ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2. BLE không chặn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Cầu nối Camera: NOTIFY đầu tại 0 ms, lặp do BleAlert::loop()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Đường mạng bắt đầu sớm hơn 800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3. Thiết lập kết nối trước (pre-warming)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Va đập ≥ 2,0 g: tắt Modem Sleep 10 s, giữ sẵn phiên TLS Firebase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Không chờ beacon, không bắt tay TLS mới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4. Fast-Flush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Task notification; PUT alarm trên phiên TLS dựng sẵn rồi nhường TlsGate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PUT ~150 ms; tiết kiệm 1 lần bắt tay (~1–2 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5. Đua đa kênh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App nghe song song UDP / BLE / Cloud / LAN, khử trùng lặp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Kênh tới trước báo động trước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635240" y="1426464"/>
            <a:ext cx="45720" cy="48188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9831" y="1389888"/>
            <a:ext cx="393192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NGUYÊN LÝ THIẾT KẾ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Mục tiêu: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rút ngắn thời gian từ lúc xác nhận ngã đến lúc người thân nhận cảnh báo.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Đa đường độc lập: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khác giao thức và hạ tầng; mất một đường vẫn còn đường dự phòng.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Bất biến TlsGate: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tối đa 1 phiên TLS (~46 KB RAM) tại mọi thời điểm – được giữ nguyên.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Lưu ý số liệu: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độ trễ là giá trị thiết kế/mục tiêu; số đo thực tế trên phần cứng sẽ bổ sung.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LỚP 1 – 4 (MỤC 3.6.1 – 3.6.4)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TRÌNH TỰ PHÁT CẢNH BÁO SAU KHI XÁC NHẬN NGÃ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Vòng đeo: UDP → Fast-Flush Firebase → Telegram → Gmail; cầu nối Camera bỏ 800 ms bị chặn bởi delay()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8053251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15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426464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1389888"/>
            <a:ext cx="480060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CẦU NỐI CAMERA: TRƯỚC / SAU TỐI ƯU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Trước: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notifyFall() gửi 3 NOTIFY xen 2 × delay(400 ms), chặn luồng chính 800 ms trước Relay/Telegram.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Sau – BLE: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NOTIFY đầu tại 0 ms; 2 lần lặp do BleAlert::loop() gửi mỗi 400 ms, payload trong bộ đệm tĩnh.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Sau – UDP: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gói BAONGA đầu tới 255.255.255.255:4210 ngay sau BLE, trước HTTPS; lặp 2 gói cách 20 ms.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Kết quả: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Relay/Telegram bắt đầu sớm hơn 800 ms (hệ quả của việc bỏ 2 lần delay, không phải số đo).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Hạn chế: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HTTPS đồng bộ trong loop() làm hoãn các gói lặp; gói đầu tiên vẫn đi ở ~0 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389888"/>
            <a:ext cx="6035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VÒNG ĐEO: TRÌNH TỰ SỰ KIỆN (GIÁ TRỊ THIẾT KẾ)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15000" y="1792224"/>
          <a:ext cx="6035040" cy="417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3246120"/>
                <a:gridCol w="1371600"/>
              </a:tblGrid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Mốc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Thao tác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Kênh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Va chạm (~3 s trước)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boost(10 s) tắt Modem Sleep; prewarm() giữ sẵn phiên TLS Firebase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Chuẩn bị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 =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Xác nhận ngã; còi/LED; cập nhật StatusBoard ngay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Tại chỗ, Web Portal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 ≈ 0 / 20 / 40 ms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3 gói UDP cùng seq (broadcast + unicast ≤ 4 IP)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UDP LAN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 ≈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xTaskNotifyGive đánh thức CloudSync và Notifier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~150 ms (mục tiêu)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Fast-Flush: PUT alarm trên phiên TLS dựng sẵn → releaseTls() (vẫn 1 phiên TLS)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Firebase → App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Tiếp theo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Notifier (lõi 0): Telegram trước, Gmail SMTP sau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Telegram, Gmail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LỚP 5 (MỤC 3.6.5)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LỚP 5 – ĐUA ĐA KÊNH &amp; HỢP NHẤT ĐA NGUỒN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AlertFusionEngine (Dart thuần, có kiểm thử): kênh tới trước báo động, các bản sau chỉ ghi thời điểm tới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859013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16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426464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1389888"/>
            <a:ext cx="480060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4 ĐƯỜNG NGHE SONG SONG TRÊN ỨNG DỤNG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LanUdpListener: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gói khẩn cấp UDP cổng 4210 (Lớp 1).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CameraBleService: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NOTIFY đặc tính ALERT của cầu nối Camera (Lớp 2).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FirebaseSseClient: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Realtime Database qua HTTPS REST + Server-Sent Events (Lớp 4).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WearableLanService: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hỏi /api/status mỗi 2 s; giúp vòng đeo biết IP điện thoại để unicast.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Sự cố đầu tiên: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chuông + rung + màn hình đỏ; bản sau ghi «UDP +0 ms, BLE +x ms, Cloud +y ms».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An toàn: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quy tắc (2), (3) thêm sau rà soát để không bỏ sót cú ngã thứ hai – có kiểm thử riêng.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389888"/>
            <a:ext cx="6035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QUY TẮC KHỬ TRÙNG LẶP &amp; GỘP (BẢNG 3.9)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15000" y="1792224"/>
          <a:ext cx="6035040" cy="4211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377440"/>
                <a:gridCol w="2286000"/>
              </a:tblGrid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Quy tắc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Điều kiện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Xử lý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(1) Bản lặp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Cùng nguồn, cùng loại, trong 60 s từ tín hiệu gần nhất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Không đổ chuông lại, chỉ ghi thời điểm tới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(2) seq mới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Gói UDP mang seq khác seq của sự cố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Tạo sự cố mới (không nuốt cú ngã thứ hai)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(3) Đã xác nhận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Sự cố đã được người thân xác nhận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Chỉ coi là bản lặp các bản đến muộn trong 20 s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(4) Đa nguồn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Vòng đeo + Camera cùng báo ngã trong 30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Gộp: «ĐA NGUỒN XÁC NHẬN (Vòng đeo + Camera AI)»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Phát hiện cạnh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Cloud/LAN: alarm off→fall; inactive false↔true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Sinh tín hiệu ngã / bất động / cử động lại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ỨNG DỤNG DI ĐỘNG (MỤC 3.7)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ỨNG DỤNG DI ĐỘNG «BÁO NGÃ IoT»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Flutter 3.47.9 / Dart 3.13.7 – một mã nguồn cho Android (APK) và iOS (IPA cài bằng Sideloadly)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9127018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lang="en-US"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17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1490472"/>
            <a:ext cx="2606040" cy="9432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 dirty="0" err="1">
                <a:solidFill>
                  <a:srgbClr val="0D47A1"/>
                </a:solidFill>
                <a:latin typeface="Segoe UI"/>
              </a:rPr>
              <a:t>~7 000 dòng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 dirty="0" err="1">
                <a:solidFill>
                  <a:srgbClr val="0A2540"/>
                </a:solidFill>
                <a:latin typeface="Segoe UI"/>
              </a:rPr>
              <a:t>Mã Dart, kiến trúc 5 lớp</a:t>
            </a:r>
            <a:endParaRPr sz="1140" b="1" i="0" dirty="0">
              <a:solidFill>
                <a:srgbClr val="0A2540"/>
              </a:solidFill>
              <a:latin typeface="Segoe UI"/>
            </a:endParaRPr>
          </a:p>
          <a:p>
            <a:pPr>
              <a:lnSpc>
                <a:spcPct val="112000"/>
              </a:lnSpc>
            </a:pPr>
            <a:r>
              <a:rPr sz="1000" b="0" i="0" dirty="0">
                <a:solidFill>
                  <a:srgbClr val="607D9F"/>
                </a:solidFill>
                <a:latin typeface="Segoe UI"/>
              </a:rPr>
              <a:t>core → services → platform → state → ui</a:t>
            </a:r>
            <a:endParaRPr sz="100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7472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2 nền tảng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Android APK + iOS IPA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minSdk 24 / targetSdk 35; Apple ID miễn phí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4 tab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+ Màn hình báo động đỏ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Vòng đeo • Camera • Nhật ký • Cài đặt &amp; SOS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490472"/>
            <a:ext cx="251460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69 PASS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flutter test (9 tệp)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flutter analyze: 0 vấn đề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743200"/>
            <a:ext cx="1115568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2980944"/>
            <a:ext cx="45720" cy="3264408"/>
          </a:xfrm>
          <a:prstGeom prst="rect">
            <a:avLst/>
          </a:prstGeom>
          <a:solidFill>
            <a:srgbClr val="607D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2" y="2944368"/>
            <a:ext cx="5166359" cy="33375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607D9F"/>
                </a:solidFill>
                <a:latin typeface="Segoe UI"/>
              </a:rPr>
              <a:t>KẾT NỐI &amp; BẢO MẬT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Firebase REST + SSE (không SDK):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tự làm mới idToken, quyền owner/viewer, nối lại backoff 1→30 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Web Portal nội mạng: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baonga.local / IP LAN / hotspot 192.168.4.1; X-Requested-With, Basic Auth.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Ghép Camera bằng mã QR: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cbn://pair?id=CBC-…&amp;key=…; khóa = HMAC-SHA256(MASTER_KEY, MAC).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Xác thực hỏi – đáp BLE: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nonce 24 ký tự → 16 byte đầu HMAC-SHA256 (32 HEX hoa), khớp firmware.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980944"/>
            <a:ext cx="45720" cy="326440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82512" y="2944368"/>
            <a:ext cx="5349240" cy="2389565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TRIỂN KHAI &amp; CI/CD</a:t>
            </a:r>
            <a:endParaRPr lang="en-US" sz="1320" b="1" i="0" dirty="0">
              <a:solidFill>
                <a:srgbClr val="0D47A1"/>
              </a:solidFill>
              <a:latin typeface="Segoe U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Android: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Foreground Service connectedDevice; báo động full-screen, âm lặp FLAG_INSISTENT; SOS qua tel:.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iOS: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entitlements rỗng, nền CoreBluetooth, nhận UDP qua unicast; Keychain có dự phòng SharedPreferences.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Màn hình báo động: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«GỌI CẤP CỨU / NGƯỜI THÂN NGAY» và «ĐÃ KIỂM TRA – TẮT CHUÔNG».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CI/CD GitHub Actions: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build-android (analyze, test, APK) song song build-ios (--no-codesign → IPA).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KIỂM CHỨNG THUẬT TOÁN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PHÂN TÍCH DẠNG SÓNG IMU &amp; KIỂM THỬ ĐƠN VỊ C++17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Đối chiếu dạng sóng thực tế qua 5 pha té ngã và kết quả thực thi 7 bộ Host Unit Tests bằng Zig 0.13.0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9663901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18 / 21</a:t>
            </a:r>
          </a:p>
        </p:txBody>
      </p:sp>
      <p:pic>
        <p:nvPicPr>
          <p:cNvPr id="15" name="Picture 14" descr="fig_3_6_imu_wavefo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58401"/>
            <a:ext cx="6858000" cy="4117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80759"/>
            <a:ext cx="685800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3.6. Dạng sóng gia tốc, vận tốc góc và góc lệch tư thế qua 5 pha té ngã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43800" y="1490472"/>
            <a:ext cx="2011680" cy="97840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65%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Flash vòng đeo (1,23 MB)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Phân vùng min_spiffs 1,875 MB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3836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38360" y="1490472"/>
            <a:ext cx="2011680" cy="97840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&lt; 0,0001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Sai số C++17 vs NumPy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Trên 602 cửa sổ kiểm thử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2734056"/>
            <a:ext cx="45720" cy="353872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08392" y="2697480"/>
            <a:ext cx="4023359" cy="36118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KẾT QUẢ 7 BỘ UNIT TEST C++17 (ZIG 0.13.0)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runtime_test.cpp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chu kỳ còi, ức chế chạm và tương đương C++17 / NumPy trên 602 cửa sổ.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detection_test.cpp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xác nhận đúng cú ngã chuẩn (Free-fall + Impact + Still + 78° tilt) và lọc 100% báo giả ADL.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inactivity_test.cpp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lọc đúng nhiễu rung 1–2 mẫu, kích hoạt cảnh báo vàng đúng hạn và tự khôi phục.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driver / notify / cloud / lan_alert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MPU6050, Rodrigues 3D, bản tin, JSON và gói UDP BAONGA (3 gói/20 ms, 4 IP).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KIỂM THỬ (MỤC 3.8.2 – 3.8.4)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KIỂM THỬ ỨNG DỤNG, BỘ NHỚ &amp; ĐỘ TRỄ THIẾT KẾ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Đã kiểm chứng trên máy phát triển; chưa đo trên điện thoại/phần cứng thật – số đo độ trễ sẽ bổ sung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0200785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19 /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353312"/>
            <a:ext cx="690372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ĐỘ TRỄ TỪNG KÊNH CẢNH BÁO (BẢNG 3.15)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719072"/>
          <a:ext cx="6903720" cy="4192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291840"/>
                <a:gridCol w="16459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Kênh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Giá trị thiết kế / mục tiêu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Đo thực tế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UDP LAN (Lớp 1)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&lt; 15 ms trong mạng nội bộ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Sẽ bổ sung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BLE NOTIFY (Lớp 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Lần đầu ~0 ms sau khi nhận FALL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Sẽ bổ sung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Firebase (Lớp 4)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PUT alarm ~150 ms (timeout 1,5 s)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Sẽ bổ sung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Web Portal (LAN)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Chu kỳ hỏi /api/status 2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Sẽ bổ sung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Telegram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Ngay sau khi TlsGate được nhường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Sẽ bổ sung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Gmail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Sau khi gửi Telegram hoàn tất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Sẽ bổ sung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635240" y="1426464"/>
            <a:ext cx="45720" cy="48188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9831" y="1389888"/>
            <a:ext cx="393192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KIỂM THỬ &amp; TÀI NGUYÊN (BẢNG 3.11)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Ứng dụng: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analyze 0 vấn đề; 69 kiểm thử / 9 tệp PASS (HMAC, UDP, AlertFusionEngine, MJPEG, SSE, UI).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Firmware: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7 chương trình C++17 + test_flash.py PASS; build 0 cảnh báo.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Vòng đeo: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Flash 1.287.983 / 1.966.080 B (65%); RAM 73.532 B (22%).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Cầu nối Camera: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Flash 1.479.081 / 6.553.600 B (22,6%); RAM 68.116 B (20,8%).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APK release: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arm64-v8a 25,2 MB; armeabi-v7a 21,2 MB; x86_64 27,7 MB; gộp 68,1 MB.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THỰC NGHIỆM &amp; ĐÁNH GIÁ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KẾT QUẢ THỰC NGHIỆM 12 KỊCH BẢN &amp; HƯỚNG PHÁT TRIỂN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Tổng hợp kết quả kiểm thử tích hợp toàn hệ thống (T01 – T12) và định hướng nâng cấp sản phẩm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0737668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20 /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353312"/>
            <a:ext cx="690372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BẢNG TỔNG HỢP KẾT QUẢ KIỂM THỬ TÍCH HỢP (T01 – T12)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719072"/>
          <a:ext cx="69037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Mã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Kịch bản kiểm thử thực tế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Kết quả đo đạc trên hệ thống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T01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Sinh hoạt thường ngày (ADL: đi bộ, ngồi, nằm)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0 lần báo giả; cập nhật đúng tư thế trên Web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Ngã mô phỏng chuẩn (Va chạm ≥2g + nằm yên 2s)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Còi &amp; LED bật sau 3,02s; MLP lớp 'nga' 94–99%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T03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Gõ mạnh / chạy nhảy liên tục (Không nằm yên)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Loại bỏ sự kiện nghi ngã ở Bước 4, không báo động giả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T04–05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Chạm TTP223 (1 chạm / 3 chạm / Giữ 3 giây)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Tắt còi &lt;50ms (ức chế 10s); Rodrigues 3D; Deep Sleep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T06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Giám sát bất động kéo dài (InactivityMonitor)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Báo vàng đúng hạn &amp; báo 'ĐÃ CỬ ĐỘNG TRỞ LẠI'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T07–09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Web baonga.local, Firebase, Telegram &amp; Gmail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Đồng bộ 5,5–9,5s; Telegram=OK Gmail=OK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T10–12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Mất mạng tạm thời &amp; Nhánh Camera AI K230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Còi kêu độc lập mạng; K230 26 FPS + tải ảnh JPEG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635240" y="1426464"/>
            <a:ext cx="45720" cy="48188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9831" y="1389888"/>
            <a:ext cx="393192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HƯỚNG PHÁT TRIỂN TRONG TƯƠNG LAI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Dữ liệu &amp; cảm biến: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tinh chỉnh TinyML trên SisFall và dữ liệu dài ngày; thêm PPG MAX30102 (nhịp tim, SpO2).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Kết nối &amp; vỏ: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4G LTE / NB-IoT + GPS khi ra ngoài trời; vỏ in 3D chuẩn IP65.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Cầu nối Camera: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chuyển Relay/Telegram sang tác vụ FreeRTOS riêng để gói lặp UDP/BLE không bị hoãn.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Đo độ trễ thực tế: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từng kênh UDP / BLE / Cloud / Telegram trên phần cứng và điện thoại thật.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Nền tảng di động: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multicast lock trên Android khi tắt màn hình; APNs cho iOS khi có tài khoản trả phí.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434840" y="0"/>
            <a:ext cx="146304" cy="411480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434840" y="4114800"/>
            <a:ext cx="146304" cy="274320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658368"/>
            <a:ext cx="594360" cy="54864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841248"/>
            <a:ext cx="3474720" cy="5120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9B6F6"/>
                </a:solidFill>
                <a:latin typeface="Segoe UI"/>
              </a:rPr>
              <a:t>TRƯỜNG ĐH CNTT &amp; TRUYỀN THÔNG
NHÓM 1 • LỚP VMBD-K23A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3520440" cy="142936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 dirty="0">
                <a:solidFill>
                  <a:srgbClr val="FFFFFF"/>
                </a:solidFill>
                <a:latin typeface="Segoe UI"/>
              </a:rPr>
              <a:t>XIN TRÂN TRỌNG
CẢM ƠN QUÝ THẦY CÔ!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03320"/>
            <a:ext cx="3520440" cy="52770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 dirty="0" err="1">
                <a:solidFill>
                  <a:srgbClr val="EBF4FF"/>
                </a:solidFill>
                <a:latin typeface="Segoe UI"/>
              </a:rPr>
              <a:t>Nhóm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rất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mong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nhận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được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sự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nhận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xét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,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góp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ý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và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câu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hỏi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thảo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luận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từ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lang="en-US" sz="1250" b="0" i="0" dirty="0" err="1">
                <a:solidFill>
                  <a:srgbClr val="EBF4FF"/>
                </a:solidFill>
                <a:latin typeface="Segoe UI"/>
              </a:rPr>
              <a:t>thầy</a:t>
            </a:r>
            <a:r>
              <a:rPr lang="en-US" sz="1250" b="0" i="0" dirty="0">
                <a:solidFill>
                  <a:srgbClr val="EBF4FF"/>
                </a:solidFill>
                <a:latin typeface="Segoe UI"/>
              </a:rPr>
              <a:t>/</a:t>
            </a:r>
            <a:r>
              <a:rPr lang="en-US" sz="1250" b="0" i="0" dirty="0" err="1">
                <a:solidFill>
                  <a:srgbClr val="EBF4FF"/>
                </a:solidFill>
                <a:latin typeface="Segoe UI"/>
              </a:rPr>
              <a:t>cô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5010912"/>
            <a:ext cx="3291840" cy="13716"/>
          </a:xfrm>
          <a:prstGeom prst="rect">
            <a:avLst/>
          </a:prstGeom>
          <a:solidFill>
            <a:srgbClr val="2D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5230368"/>
            <a:ext cx="3520440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29B6F6"/>
                </a:solidFill>
                <a:latin typeface="Segoe UI"/>
              </a:rPr>
              <a:t>HỎI &amp; ĐÁP (Q &amp; A)
TRÌNH DIỄN TRỰC TIẾP (LIVE DEMO)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49808" cy="749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530352"/>
            <a:ext cx="5852160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0A2540"/>
                </a:solidFill>
                <a:latin typeface="Segoe UI"/>
              </a:rPr>
              <a:t>TỔNG KẾT ĐÓNG GÓP CỐT LÕI CỦA ĐỀ TÀI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1133856"/>
            <a:ext cx="672084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02920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8112" y="1463040"/>
            <a:ext cx="614476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Thiết kế hoàn chỉnh Phần cứng &amp; Mạch in PCB 2 lớp (60 × 50 mm)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Hoàn thiện từ sơ đồ nguyên lý đến mạch in PCB 2 lớp trên KiCad 10 đạt chuẩn DRC/ERC = 0 lỗi cho ESP32-S3 SuperMini, MPU6050, TTP223, còi S8050, đo pin VSW trước diode 1N5817 và chế độ ngủ sâu Deep Sleep (~8 µA).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0" y="308152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8112" y="3063240"/>
            <a:ext cx="614476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Thuật toán IoT đa phương thức chống báo động giả hiệu quả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Kết hợp hiệu chuẩn tư thế 3 chiều Rodrigues, máy trạng thái xác nhận ngã 4 bước + mạng nơ-ron TinyML MLP (677 tham số), bộ giám sát bất động kéo dài (InactivityMonitor) và nhánh Camera AI CanMV K230 (YOLOv5n + IoU Tracker).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0" y="4681727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112" y="4663440"/>
            <a:ext cx="614476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Cảnh báo đa kênh «Thời gian vàng» &amp; Ứng dụng di động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PSRAM tlsCalloc + TlsGate; đường truyền 5 lớp (UDP, BLE không chặn, thiết lập kết nối trước, Fast-Flush) và ứng dụng Flutter Android/iOS hợp nhất cảnh báo đa nguồn; 12/12 kịch bản T01–T12 đạt, 69 kiểm thử ứng dụng PASS.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  <p:bldP spid="11" grpId="0"/>
      <p:bldP spid="13" grpId="0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4660</Words>
  <Application>Microsoft Office PowerPoint</Application>
  <PresentationFormat>Widescreen</PresentationFormat>
  <Paragraphs>334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Administrator</cp:lastModifiedBy>
  <cp:revision>5</cp:revision>
  <dcterms:created xsi:type="dcterms:W3CDTF">2013-01-27T09:14:16Z</dcterms:created>
  <dcterms:modified xsi:type="dcterms:W3CDTF">2026-10-21T04:33:54Z</dcterms:modified>
  <cp:category/>
</cp:coreProperties>
</file>